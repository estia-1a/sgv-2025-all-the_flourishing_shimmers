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4"/>
  </p:sldMasterIdLst>
  <p:notesMasterIdLst>
    <p:notesMasterId r:id="rId23"/>
  </p:notesMasterIdLst>
  <p:handoutMasterIdLst>
    <p:handoutMasterId r:id="rId24"/>
  </p:handoutMasterIdLst>
  <p:sldIdLst>
    <p:sldId id="487" r:id="rId5"/>
    <p:sldId id="306" r:id="rId6"/>
    <p:sldId id="297" r:id="rId7"/>
    <p:sldId id="298" r:id="rId8"/>
    <p:sldId id="308" r:id="rId9"/>
    <p:sldId id="310" r:id="rId10"/>
    <p:sldId id="449" r:id="rId11"/>
    <p:sldId id="452" r:id="rId12"/>
    <p:sldId id="453" r:id="rId13"/>
    <p:sldId id="340" r:id="rId14"/>
    <p:sldId id="338" r:id="rId15"/>
    <p:sldId id="299" r:id="rId16"/>
    <p:sldId id="300" r:id="rId17"/>
    <p:sldId id="485" r:id="rId18"/>
    <p:sldId id="302" r:id="rId19"/>
    <p:sldId id="303" r:id="rId20"/>
    <p:sldId id="304" r:id="rId21"/>
    <p:sldId id="457" r:id="rId22"/>
  </p:sldIdLst>
  <p:sldSz cx="9144000" cy="6858000" type="screen4x3"/>
  <p:notesSz cx="6669088" cy="99187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AE0C34DB-2368-460C-B0DC-2E49D0138813}">
          <p14:sldIdLst>
            <p14:sldId id="487"/>
            <p14:sldId id="306"/>
            <p14:sldId id="297"/>
            <p14:sldId id="298"/>
            <p14:sldId id="308"/>
            <p14:sldId id="310"/>
            <p14:sldId id="449"/>
            <p14:sldId id="452"/>
            <p14:sldId id="453"/>
            <p14:sldId id="340"/>
            <p14:sldId id="338"/>
          </p14:sldIdLst>
        </p14:section>
        <p14:section name="Quantité économique de commande" id="{E1D975C1-6542-B14E-A998-DB6D57BAAAF6}">
          <p14:sldIdLst>
            <p14:sldId id="299"/>
            <p14:sldId id="300"/>
            <p14:sldId id="485"/>
            <p14:sldId id="302"/>
            <p14:sldId id="303"/>
            <p14:sldId id="304"/>
            <p14:sldId id="45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lleneuve" initials="V"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9933"/>
    <a:srgbClr val="7F7F7F"/>
    <a:srgbClr val="FF9933"/>
    <a:srgbClr val="1F5FA0"/>
    <a:srgbClr val="008000"/>
    <a:srgbClr val="FFEECD"/>
    <a:srgbClr val="CCFFFF"/>
    <a:srgbClr val="FF6600"/>
    <a:srgbClr val="FFCC99"/>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9F6899-D873-445A-8C1A-32F0C8CCD3A6}" v="2" dt="2024-10-24T07:53:40.87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Style moyen 4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Éric VILLENEUVE" userId="83ca46e9-d26e-4114-932c-dce9d3d84629" providerId="ADAL" clId="{849F6899-D873-445A-8C1A-32F0C8CCD3A6}"/>
    <pc:docChg chg="undo custSel modSld">
      <pc:chgData name="Éric VILLENEUVE" userId="83ca46e9-d26e-4114-932c-dce9d3d84629" providerId="ADAL" clId="{849F6899-D873-445A-8C1A-32F0C8CCD3A6}" dt="2024-10-24T07:53:40.877" v="1" actId="1076"/>
      <pc:docMkLst>
        <pc:docMk/>
      </pc:docMkLst>
      <pc:sldChg chg="modSp mod">
        <pc:chgData name="Éric VILLENEUVE" userId="83ca46e9-d26e-4114-932c-dce9d3d84629" providerId="ADAL" clId="{849F6899-D873-445A-8C1A-32F0C8CCD3A6}" dt="2024-10-24T07:53:40.877" v="1" actId="1076"/>
        <pc:sldMkLst>
          <pc:docMk/>
          <pc:sldMk cId="4185574780" sldId="304"/>
        </pc:sldMkLst>
        <pc:graphicFrameChg chg="mod">
          <ac:chgData name="Éric VILLENEUVE" userId="83ca46e9-d26e-4114-932c-dce9d3d84629" providerId="ADAL" clId="{849F6899-D873-445A-8C1A-32F0C8CCD3A6}" dt="2024-10-24T07:53:40.877" v="1" actId="1076"/>
          <ac:graphicFrameMkLst>
            <pc:docMk/>
            <pc:sldMk cId="4185574780" sldId="304"/>
            <ac:graphicFrameMk id="4" creationId="{8A078E60-0F33-E47B-6742-65E3362D57C2}"/>
          </ac:graphicFrameMkLst>
        </pc:graphicFrameChg>
      </pc:sldChg>
    </pc:docChg>
  </pc:docChgLst>
  <pc:docChgLst>
    <pc:chgData name="Laura LAGUNA SALVADO" userId="f97e6014-c42b-47fa-9627-bdbb0670246c" providerId="ADAL" clId="{BEFA912A-5FA8-4811-8F5D-83B85C076805}"/>
    <pc:docChg chg="undo custSel delSld modSld delSection modSection">
      <pc:chgData name="Laura LAGUNA SALVADO" userId="f97e6014-c42b-47fa-9627-bdbb0670246c" providerId="ADAL" clId="{BEFA912A-5FA8-4811-8F5D-83B85C076805}" dt="2023-10-23T16:04:05.145" v="235" actId="478"/>
      <pc:docMkLst>
        <pc:docMk/>
      </pc:docMkLst>
      <pc:sldChg chg="del">
        <pc:chgData name="Laura LAGUNA SALVADO" userId="f97e6014-c42b-47fa-9627-bdbb0670246c" providerId="ADAL" clId="{BEFA912A-5FA8-4811-8F5D-83B85C076805}" dt="2023-10-20T13:08:39.141" v="88" actId="47"/>
        <pc:sldMkLst>
          <pc:docMk/>
          <pc:sldMk cId="1519969872" sldId="290"/>
        </pc:sldMkLst>
      </pc:sldChg>
      <pc:sldChg chg="del">
        <pc:chgData name="Laura LAGUNA SALVADO" userId="f97e6014-c42b-47fa-9627-bdbb0670246c" providerId="ADAL" clId="{BEFA912A-5FA8-4811-8F5D-83B85C076805}" dt="2023-10-20T13:08:43.653" v="90" actId="47"/>
        <pc:sldMkLst>
          <pc:docMk/>
          <pc:sldMk cId="2246069479" sldId="291"/>
        </pc:sldMkLst>
      </pc:sldChg>
      <pc:sldChg chg="del">
        <pc:chgData name="Laura LAGUNA SALVADO" userId="f97e6014-c42b-47fa-9627-bdbb0670246c" providerId="ADAL" clId="{BEFA912A-5FA8-4811-8F5D-83B85C076805}" dt="2023-10-20T13:08:46.634" v="94" actId="47"/>
        <pc:sldMkLst>
          <pc:docMk/>
          <pc:sldMk cId="1186845165" sldId="292"/>
        </pc:sldMkLst>
      </pc:sldChg>
      <pc:sldChg chg="del">
        <pc:chgData name="Laura LAGUNA SALVADO" userId="f97e6014-c42b-47fa-9627-bdbb0670246c" providerId="ADAL" clId="{BEFA912A-5FA8-4811-8F5D-83B85C076805}" dt="2023-10-20T13:08:50.981" v="98" actId="47"/>
        <pc:sldMkLst>
          <pc:docMk/>
          <pc:sldMk cId="9675518" sldId="294"/>
        </pc:sldMkLst>
      </pc:sldChg>
      <pc:sldChg chg="addSp modSp mod modAnim">
        <pc:chgData name="Laura LAGUNA SALVADO" userId="f97e6014-c42b-47fa-9627-bdbb0670246c" providerId="ADAL" clId="{BEFA912A-5FA8-4811-8F5D-83B85C076805}" dt="2023-10-20T12:50:17.641" v="64" actId="1076"/>
        <pc:sldMkLst>
          <pc:docMk/>
          <pc:sldMk cId="4249264787" sldId="298"/>
        </pc:sldMkLst>
        <pc:spChg chg="add mod">
          <ac:chgData name="Laura LAGUNA SALVADO" userId="f97e6014-c42b-47fa-9627-bdbb0670246c" providerId="ADAL" clId="{BEFA912A-5FA8-4811-8F5D-83B85C076805}" dt="2023-10-20T12:50:17.641" v="64" actId="1076"/>
          <ac:spMkLst>
            <pc:docMk/>
            <pc:sldMk cId="4249264787" sldId="298"/>
            <ac:spMk id="3" creationId="{33F9E27A-A665-D97E-2A19-E2A9FFB21515}"/>
          </ac:spMkLst>
        </pc:spChg>
        <pc:spChg chg="mod">
          <ac:chgData name="Laura LAGUNA SALVADO" userId="f97e6014-c42b-47fa-9627-bdbb0670246c" providerId="ADAL" clId="{BEFA912A-5FA8-4811-8F5D-83B85C076805}" dt="2023-10-20T12:50:13.008" v="63" actId="1036"/>
          <ac:spMkLst>
            <pc:docMk/>
            <pc:sldMk cId="4249264787" sldId="298"/>
            <ac:spMk id="6"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7"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9"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11"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15"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18"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26"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29"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31"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32"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33" creationId="{00000000-0000-0000-0000-000000000000}"/>
          </ac:spMkLst>
        </pc:spChg>
        <pc:spChg chg="mod">
          <ac:chgData name="Laura LAGUNA SALVADO" userId="f97e6014-c42b-47fa-9627-bdbb0670246c" providerId="ADAL" clId="{BEFA912A-5FA8-4811-8F5D-83B85C076805}" dt="2023-10-20T12:50:13.008" v="63" actId="1036"/>
          <ac:spMkLst>
            <pc:docMk/>
            <pc:sldMk cId="4249264787" sldId="298"/>
            <ac:spMk id="34" creationId="{00000000-0000-0000-0000-000000000000}"/>
          </ac:spMkLst>
        </pc:spChg>
        <pc:cxnChg chg="mod">
          <ac:chgData name="Laura LAGUNA SALVADO" userId="f97e6014-c42b-47fa-9627-bdbb0670246c" providerId="ADAL" clId="{BEFA912A-5FA8-4811-8F5D-83B85C076805}" dt="2023-10-20T12:50:13.008" v="63" actId="1036"/>
          <ac:cxnSpMkLst>
            <pc:docMk/>
            <pc:sldMk cId="4249264787" sldId="298"/>
            <ac:cxnSpMk id="8" creationId="{00000000-0000-0000-0000-000000000000}"/>
          </ac:cxnSpMkLst>
        </pc:cxnChg>
        <pc:cxnChg chg="mod">
          <ac:chgData name="Laura LAGUNA SALVADO" userId="f97e6014-c42b-47fa-9627-bdbb0670246c" providerId="ADAL" clId="{BEFA912A-5FA8-4811-8F5D-83B85C076805}" dt="2023-10-20T12:50:13.008" v="63" actId="1036"/>
          <ac:cxnSpMkLst>
            <pc:docMk/>
            <pc:sldMk cId="4249264787" sldId="298"/>
            <ac:cxnSpMk id="10" creationId="{00000000-0000-0000-0000-000000000000}"/>
          </ac:cxnSpMkLst>
        </pc:cxnChg>
        <pc:cxnChg chg="mod">
          <ac:chgData name="Laura LAGUNA SALVADO" userId="f97e6014-c42b-47fa-9627-bdbb0670246c" providerId="ADAL" clId="{BEFA912A-5FA8-4811-8F5D-83B85C076805}" dt="2023-10-20T12:50:13.008" v="63" actId="1036"/>
          <ac:cxnSpMkLst>
            <pc:docMk/>
            <pc:sldMk cId="4249264787" sldId="298"/>
            <ac:cxnSpMk id="12" creationId="{00000000-0000-0000-0000-000000000000}"/>
          </ac:cxnSpMkLst>
        </pc:cxnChg>
        <pc:cxnChg chg="mod">
          <ac:chgData name="Laura LAGUNA SALVADO" userId="f97e6014-c42b-47fa-9627-bdbb0670246c" providerId="ADAL" clId="{BEFA912A-5FA8-4811-8F5D-83B85C076805}" dt="2023-10-20T12:50:13.008" v="63" actId="1036"/>
          <ac:cxnSpMkLst>
            <pc:docMk/>
            <pc:sldMk cId="4249264787" sldId="298"/>
            <ac:cxnSpMk id="16" creationId="{00000000-0000-0000-0000-000000000000}"/>
          </ac:cxnSpMkLst>
        </pc:cxnChg>
        <pc:cxnChg chg="mod">
          <ac:chgData name="Laura LAGUNA SALVADO" userId="f97e6014-c42b-47fa-9627-bdbb0670246c" providerId="ADAL" clId="{BEFA912A-5FA8-4811-8F5D-83B85C076805}" dt="2023-10-20T12:50:13.008" v="63" actId="1036"/>
          <ac:cxnSpMkLst>
            <pc:docMk/>
            <pc:sldMk cId="4249264787" sldId="298"/>
            <ac:cxnSpMk id="20" creationId="{00000000-0000-0000-0000-000000000000}"/>
          </ac:cxnSpMkLst>
        </pc:cxnChg>
        <pc:cxnChg chg="mod">
          <ac:chgData name="Laura LAGUNA SALVADO" userId="f97e6014-c42b-47fa-9627-bdbb0670246c" providerId="ADAL" clId="{BEFA912A-5FA8-4811-8F5D-83B85C076805}" dt="2023-10-20T12:50:13.008" v="63" actId="1036"/>
          <ac:cxnSpMkLst>
            <pc:docMk/>
            <pc:sldMk cId="4249264787" sldId="298"/>
            <ac:cxnSpMk id="23" creationId="{00000000-0000-0000-0000-000000000000}"/>
          </ac:cxnSpMkLst>
        </pc:cxnChg>
        <pc:cxnChg chg="mod">
          <ac:chgData name="Laura LAGUNA SALVADO" userId="f97e6014-c42b-47fa-9627-bdbb0670246c" providerId="ADAL" clId="{BEFA912A-5FA8-4811-8F5D-83B85C076805}" dt="2023-10-20T12:50:13.008" v="63" actId="1036"/>
          <ac:cxnSpMkLst>
            <pc:docMk/>
            <pc:sldMk cId="4249264787" sldId="298"/>
            <ac:cxnSpMk id="28" creationId="{00000000-0000-0000-0000-000000000000}"/>
          </ac:cxnSpMkLst>
        </pc:cxnChg>
      </pc:sldChg>
      <pc:sldChg chg="addSp delSp modSp mod delAnim modAnim">
        <pc:chgData name="Laura LAGUNA SALVADO" userId="f97e6014-c42b-47fa-9627-bdbb0670246c" providerId="ADAL" clId="{BEFA912A-5FA8-4811-8F5D-83B85C076805}" dt="2023-10-23T16:04:05.145" v="235" actId="478"/>
        <pc:sldMkLst>
          <pc:docMk/>
          <pc:sldMk cId="188921837" sldId="303"/>
        </pc:sldMkLst>
        <pc:spChg chg="mod">
          <ac:chgData name="Laura LAGUNA SALVADO" userId="f97e6014-c42b-47fa-9627-bdbb0670246c" providerId="ADAL" clId="{BEFA912A-5FA8-4811-8F5D-83B85C076805}" dt="2023-10-20T13:13:07.822" v="191" actId="1076"/>
          <ac:spMkLst>
            <pc:docMk/>
            <pc:sldMk cId="188921837" sldId="303"/>
            <ac:spMk id="5" creationId="{00000000-0000-0000-0000-000000000000}"/>
          </ac:spMkLst>
        </pc:spChg>
        <pc:spChg chg="add del mod ord">
          <ac:chgData name="Laura LAGUNA SALVADO" userId="f97e6014-c42b-47fa-9627-bdbb0670246c" providerId="ADAL" clId="{BEFA912A-5FA8-4811-8F5D-83B85C076805}" dt="2023-10-23T16:04:05.145" v="235" actId="478"/>
          <ac:spMkLst>
            <pc:docMk/>
            <pc:sldMk cId="188921837" sldId="303"/>
            <ac:spMk id="6" creationId="{BB28D860-56B1-E13C-1344-A94120F4F2D7}"/>
          </ac:spMkLst>
        </pc:spChg>
        <pc:graphicFrameChg chg="mod">
          <ac:chgData name="Laura LAGUNA SALVADO" userId="f97e6014-c42b-47fa-9627-bdbb0670246c" providerId="ADAL" clId="{BEFA912A-5FA8-4811-8F5D-83B85C076805}" dt="2023-10-20T13:13:13.351" v="192" actId="1076"/>
          <ac:graphicFrameMkLst>
            <pc:docMk/>
            <pc:sldMk cId="188921837" sldId="303"/>
            <ac:graphicFrameMk id="12" creationId="{00000000-0000-0000-0000-000000000000}"/>
          </ac:graphicFrameMkLst>
        </pc:graphicFrameChg>
      </pc:sldChg>
      <pc:sldChg chg="addSp modSp mod">
        <pc:chgData name="Laura LAGUNA SALVADO" userId="f97e6014-c42b-47fa-9627-bdbb0670246c" providerId="ADAL" clId="{BEFA912A-5FA8-4811-8F5D-83B85C076805}" dt="2023-10-20T13:12:22.792" v="189" actId="113"/>
        <pc:sldMkLst>
          <pc:docMk/>
          <pc:sldMk cId="4185574780" sldId="304"/>
        </pc:sldMkLst>
        <pc:spChg chg="add mod">
          <ac:chgData name="Laura LAGUNA SALVADO" userId="f97e6014-c42b-47fa-9627-bdbb0670246c" providerId="ADAL" clId="{BEFA912A-5FA8-4811-8F5D-83B85C076805}" dt="2023-10-20T13:12:22.792" v="189" actId="113"/>
          <ac:spMkLst>
            <pc:docMk/>
            <pc:sldMk cId="4185574780" sldId="304"/>
            <ac:spMk id="2" creationId="{A9D269AA-EB34-7145-C35E-3F99C9DC40B5}"/>
          </ac:spMkLst>
        </pc:spChg>
        <pc:spChg chg="mod">
          <ac:chgData name="Laura LAGUNA SALVADO" userId="f97e6014-c42b-47fa-9627-bdbb0670246c" providerId="ADAL" clId="{BEFA912A-5FA8-4811-8F5D-83B85C076805}" dt="2023-10-20T13:12:16.396" v="188" actId="113"/>
          <ac:spMkLst>
            <pc:docMk/>
            <pc:sldMk cId="4185574780" sldId="304"/>
            <ac:spMk id="49154" creationId="{00000000-0000-0000-0000-000000000000}"/>
          </ac:spMkLst>
        </pc:spChg>
        <pc:graphicFrameChg chg="add mod">
          <ac:chgData name="Laura LAGUNA SALVADO" userId="f97e6014-c42b-47fa-9627-bdbb0670246c" providerId="ADAL" clId="{BEFA912A-5FA8-4811-8F5D-83B85C076805}" dt="2023-10-20T13:12:01.037" v="183" actId="1076"/>
          <ac:graphicFrameMkLst>
            <pc:docMk/>
            <pc:sldMk cId="4185574780" sldId="304"/>
            <ac:graphicFrameMk id="3" creationId="{18079C27-7E76-00B7-E48A-1BD3B96D4D80}"/>
          </ac:graphicFrameMkLst>
        </pc:graphicFrameChg>
        <pc:graphicFrameChg chg="add mod">
          <ac:chgData name="Laura LAGUNA SALVADO" userId="f97e6014-c42b-47fa-9627-bdbb0670246c" providerId="ADAL" clId="{BEFA912A-5FA8-4811-8F5D-83B85C076805}" dt="2023-10-20T13:11:56.998" v="182" actId="14100"/>
          <ac:graphicFrameMkLst>
            <pc:docMk/>
            <pc:sldMk cId="4185574780" sldId="304"/>
            <ac:graphicFrameMk id="4" creationId="{8A078E60-0F33-E47B-6742-65E3362D57C2}"/>
          </ac:graphicFrameMkLst>
        </pc:graphicFrameChg>
        <pc:graphicFrameChg chg="mod">
          <ac:chgData name="Laura LAGUNA SALVADO" userId="f97e6014-c42b-47fa-9627-bdbb0670246c" providerId="ADAL" clId="{BEFA912A-5FA8-4811-8F5D-83B85C076805}" dt="2023-10-20T13:10:33.966" v="168" actId="1076"/>
          <ac:graphicFrameMkLst>
            <pc:docMk/>
            <pc:sldMk cId="4185574780" sldId="304"/>
            <ac:graphicFrameMk id="49155" creationId="{00000000-0000-0000-0000-000000000000}"/>
          </ac:graphicFrameMkLst>
        </pc:graphicFrameChg>
        <pc:graphicFrameChg chg="mod">
          <ac:chgData name="Laura LAGUNA SALVADO" userId="f97e6014-c42b-47fa-9627-bdbb0670246c" providerId="ADAL" clId="{BEFA912A-5FA8-4811-8F5D-83B85C076805}" dt="2023-10-20T13:10:40.909" v="171" actId="1076"/>
          <ac:graphicFrameMkLst>
            <pc:docMk/>
            <pc:sldMk cId="4185574780" sldId="304"/>
            <ac:graphicFrameMk id="49156" creationId="{00000000-0000-0000-0000-000000000000}"/>
          </ac:graphicFrameMkLst>
        </pc:graphicFrameChg>
        <pc:cxnChg chg="add mod">
          <ac:chgData name="Laura LAGUNA SALVADO" userId="f97e6014-c42b-47fa-9627-bdbb0670246c" providerId="ADAL" clId="{BEFA912A-5FA8-4811-8F5D-83B85C076805}" dt="2023-10-20T13:12:07.871" v="187" actId="1038"/>
          <ac:cxnSpMkLst>
            <pc:docMk/>
            <pc:sldMk cId="4185574780" sldId="304"/>
            <ac:cxnSpMk id="7" creationId="{2DFB31BF-D90C-FF3B-915B-0936340DD3F2}"/>
          </ac:cxnSpMkLst>
        </pc:cxnChg>
      </pc:sldChg>
      <pc:sldChg chg="del">
        <pc:chgData name="Laura LAGUNA SALVADO" userId="f97e6014-c42b-47fa-9627-bdbb0670246c" providerId="ADAL" clId="{BEFA912A-5FA8-4811-8F5D-83B85C076805}" dt="2023-10-20T12:51:46.004" v="81" actId="47"/>
        <pc:sldMkLst>
          <pc:docMk/>
          <pc:sldMk cId="2887148182" sldId="305"/>
        </pc:sldMkLst>
      </pc:sldChg>
      <pc:sldChg chg="del">
        <pc:chgData name="Laura LAGUNA SALVADO" userId="f97e6014-c42b-47fa-9627-bdbb0670246c" providerId="ADAL" clId="{BEFA912A-5FA8-4811-8F5D-83B85C076805}" dt="2023-10-20T12:50:21.569" v="65" actId="47"/>
        <pc:sldMkLst>
          <pc:docMk/>
          <pc:sldMk cId="1027524054" sldId="307"/>
        </pc:sldMkLst>
      </pc:sldChg>
      <pc:sldChg chg="addSp modSp mod">
        <pc:chgData name="Laura LAGUNA SALVADO" userId="f97e6014-c42b-47fa-9627-bdbb0670246c" providerId="ADAL" clId="{BEFA912A-5FA8-4811-8F5D-83B85C076805}" dt="2023-10-20T12:51:26.551" v="79" actId="20577"/>
        <pc:sldMkLst>
          <pc:docMk/>
          <pc:sldMk cId="1244312573" sldId="310"/>
        </pc:sldMkLst>
        <pc:spChg chg="mod">
          <ac:chgData name="Laura LAGUNA SALVADO" userId="f97e6014-c42b-47fa-9627-bdbb0670246c" providerId="ADAL" clId="{BEFA912A-5FA8-4811-8F5D-83B85C076805}" dt="2023-10-20T12:51:26.551" v="79" actId="20577"/>
          <ac:spMkLst>
            <pc:docMk/>
            <pc:sldMk cId="1244312573" sldId="310"/>
            <ac:spMk id="2" creationId="{1F261443-002F-4155-AE6D-F8B13D13C51C}"/>
          </ac:spMkLst>
        </pc:spChg>
        <pc:spChg chg="mod">
          <ac:chgData name="Laura LAGUNA SALVADO" userId="f97e6014-c42b-47fa-9627-bdbb0670246c" providerId="ADAL" clId="{BEFA912A-5FA8-4811-8F5D-83B85C076805}" dt="2023-10-20T12:51:18.940" v="75" actId="14100"/>
          <ac:spMkLst>
            <pc:docMk/>
            <pc:sldMk cId="1244312573" sldId="310"/>
            <ac:spMk id="4" creationId="{E71BF590-F1C3-493B-B4D0-021BCA880AA2}"/>
          </ac:spMkLst>
        </pc:spChg>
        <pc:spChg chg="add mod">
          <ac:chgData name="Laura LAGUNA SALVADO" userId="f97e6014-c42b-47fa-9627-bdbb0670246c" providerId="ADAL" clId="{BEFA912A-5FA8-4811-8F5D-83B85C076805}" dt="2023-10-20T12:51:09.462" v="73" actId="27636"/>
          <ac:spMkLst>
            <pc:docMk/>
            <pc:sldMk cId="1244312573" sldId="310"/>
            <ac:spMk id="5" creationId="{D11F5F71-1DD4-333A-DFF2-23F6E37456B0}"/>
          </ac:spMkLst>
        </pc:spChg>
      </pc:sldChg>
      <pc:sldChg chg="addSp delSp modSp del mod">
        <pc:chgData name="Laura LAGUNA SALVADO" userId="f97e6014-c42b-47fa-9627-bdbb0670246c" providerId="ADAL" clId="{BEFA912A-5FA8-4811-8F5D-83B85C076805}" dt="2023-10-20T12:51:29.113" v="80" actId="47"/>
        <pc:sldMkLst>
          <pc:docMk/>
          <pc:sldMk cId="4096838342" sldId="311"/>
        </pc:sldMkLst>
        <pc:spChg chg="del">
          <ac:chgData name="Laura LAGUNA SALVADO" userId="f97e6014-c42b-47fa-9627-bdbb0670246c" providerId="ADAL" clId="{BEFA912A-5FA8-4811-8F5D-83B85C076805}" dt="2023-10-20T12:50:52.042" v="66" actId="21"/>
          <ac:spMkLst>
            <pc:docMk/>
            <pc:sldMk cId="4096838342" sldId="311"/>
            <ac:spMk id="4" creationId="{E71BF590-F1C3-493B-B4D0-021BCA880AA2}"/>
          </ac:spMkLst>
        </pc:spChg>
        <pc:spChg chg="add mod">
          <ac:chgData name="Laura LAGUNA SALVADO" userId="f97e6014-c42b-47fa-9627-bdbb0670246c" providerId="ADAL" clId="{BEFA912A-5FA8-4811-8F5D-83B85C076805}" dt="2023-10-20T12:50:52.042" v="66" actId="21"/>
          <ac:spMkLst>
            <pc:docMk/>
            <pc:sldMk cId="4096838342" sldId="311"/>
            <ac:spMk id="6" creationId="{6DFAD3A2-09D4-FBD3-007B-3B743122D3D7}"/>
          </ac:spMkLst>
        </pc:spChg>
      </pc:sldChg>
      <pc:sldChg chg="del">
        <pc:chgData name="Laura LAGUNA SALVADO" userId="f97e6014-c42b-47fa-9627-bdbb0670246c" providerId="ADAL" clId="{BEFA912A-5FA8-4811-8F5D-83B85C076805}" dt="2023-10-20T12:52:35.292" v="86" actId="47"/>
        <pc:sldMkLst>
          <pc:docMk/>
          <pc:sldMk cId="2637754177" sldId="312"/>
        </pc:sldMkLst>
      </pc:sldChg>
      <pc:sldChg chg="del">
        <pc:chgData name="Laura LAGUNA SALVADO" userId="f97e6014-c42b-47fa-9627-bdbb0670246c" providerId="ADAL" clId="{BEFA912A-5FA8-4811-8F5D-83B85C076805}" dt="2023-10-20T13:08:49.233" v="96" actId="47"/>
        <pc:sldMkLst>
          <pc:docMk/>
          <pc:sldMk cId="2857628348" sldId="327"/>
        </pc:sldMkLst>
      </pc:sldChg>
      <pc:sldChg chg="del">
        <pc:chgData name="Laura LAGUNA SALVADO" userId="f97e6014-c42b-47fa-9627-bdbb0670246c" providerId="ADAL" clId="{BEFA912A-5FA8-4811-8F5D-83B85C076805}" dt="2023-10-23T16:02:44.959" v="230" actId="47"/>
        <pc:sldMkLst>
          <pc:docMk/>
          <pc:sldMk cId="1918396901" sldId="337"/>
        </pc:sldMkLst>
      </pc:sldChg>
      <pc:sldChg chg="del">
        <pc:chgData name="Laura LAGUNA SALVADO" userId="f97e6014-c42b-47fa-9627-bdbb0670246c" providerId="ADAL" clId="{BEFA912A-5FA8-4811-8F5D-83B85C076805}" dt="2023-10-20T12:52:42.972" v="87" actId="47"/>
        <pc:sldMkLst>
          <pc:docMk/>
          <pc:sldMk cId="3536304244" sldId="339"/>
        </pc:sldMkLst>
      </pc:sldChg>
      <pc:sldChg chg="modSp mod">
        <pc:chgData name="Laura LAGUNA SALVADO" userId="f97e6014-c42b-47fa-9627-bdbb0670246c" providerId="ADAL" clId="{BEFA912A-5FA8-4811-8F5D-83B85C076805}" dt="2023-10-20T13:20:06.311" v="228" actId="1036"/>
        <pc:sldMkLst>
          <pc:docMk/>
          <pc:sldMk cId="2340176792" sldId="340"/>
        </pc:sldMkLst>
        <pc:spChg chg="mod">
          <ac:chgData name="Laura LAGUNA SALVADO" userId="f97e6014-c42b-47fa-9627-bdbb0670246c" providerId="ADAL" clId="{BEFA912A-5FA8-4811-8F5D-83B85C076805}" dt="2023-10-20T13:20:06.311" v="228" actId="1036"/>
          <ac:spMkLst>
            <pc:docMk/>
            <pc:sldMk cId="2340176792" sldId="340"/>
            <ac:spMk id="4" creationId="{00E505C7-BC75-4DCF-A4CD-6A9AF661A260}"/>
          </ac:spMkLst>
        </pc:spChg>
      </pc:sldChg>
      <pc:sldChg chg="del">
        <pc:chgData name="Laura LAGUNA SALVADO" userId="f97e6014-c42b-47fa-9627-bdbb0670246c" providerId="ADAL" clId="{BEFA912A-5FA8-4811-8F5D-83B85C076805}" dt="2023-10-23T16:03:18.499" v="232" actId="47"/>
        <pc:sldMkLst>
          <pc:docMk/>
          <pc:sldMk cId="2785523405" sldId="341"/>
        </pc:sldMkLst>
      </pc:sldChg>
      <pc:sldChg chg="del">
        <pc:chgData name="Laura LAGUNA SALVADO" userId="f97e6014-c42b-47fa-9627-bdbb0670246c" providerId="ADAL" clId="{BEFA912A-5FA8-4811-8F5D-83B85C076805}" dt="2023-10-23T16:03:15.002" v="231" actId="47"/>
        <pc:sldMkLst>
          <pc:docMk/>
          <pc:sldMk cId="1790427117" sldId="342"/>
        </pc:sldMkLst>
      </pc:sldChg>
      <pc:sldChg chg="del">
        <pc:chgData name="Laura LAGUNA SALVADO" userId="f97e6014-c42b-47fa-9627-bdbb0670246c" providerId="ADAL" clId="{BEFA912A-5FA8-4811-8F5D-83B85C076805}" dt="2023-10-23T16:03:24.710" v="233" actId="47"/>
        <pc:sldMkLst>
          <pc:docMk/>
          <pc:sldMk cId="2468858204" sldId="343"/>
        </pc:sldMkLst>
      </pc:sldChg>
      <pc:sldChg chg="del">
        <pc:chgData name="Laura LAGUNA SALVADO" userId="f97e6014-c42b-47fa-9627-bdbb0670246c" providerId="ADAL" clId="{BEFA912A-5FA8-4811-8F5D-83B85C076805}" dt="2023-10-23T16:02:40.180" v="229" actId="47"/>
        <pc:sldMkLst>
          <pc:docMk/>
          <pc:sldMk cId="1840865859" sldId="344"/>
        </pc:sldMkLst>
      </pc:sldChg>
      <pc:sldChg chg="del">
        <pc:chgData name="Laura LAGUNA SALVADO" userId="f97e6014-c42b-47fa-9627-bdbb0670246c" providerId="ADAL" clId="{BEFA912A-5FA8-4811-8F5D-83B85C076805}" dt="2023-10-20T13:12:26.338" v="190" actId="47"/>
        <pc:sldMkLst>
          <pc:docMk/>
          <pc:sldMk cId="3744576986" sldId="456"/>
        </pc:sldMkLst>
      </pc:sldChg>
      <pc:sldChg chg="del">
        <pc:chgData name="Laura LAGUNA SALVADO" userId="f97e6014-c42b-47fa-9627-bdbb0670246c" providerId="ADAL" clId="{BEFA912A-5FA8-4811-8F5D-83B85C076805}" dt="2023-10-20T13:08:41.506" v="89" actId="47"/>
        <pc:sldMkLst>
          <pc:docMk/>
          <pc:sldMk cId="4008758147" sldId="458"/>
        </pc:sldMkLst>
      </pc:sldChg>
      <pc:sldChg chg="del">
        <pc:chgData name="Laura LAGUNA SALVADO" userId="f97e6014-c42b-47fa-9627-bdbb0670246c" providerId="ADAL" clId="{BEFA912A-5FA8-4811-8F5D-83B85C076805}" dt="2023-10-20T13:08:44.219" v="91" actId="47"/>
        <pc:sldMkLst>
          <pc:docMk/>
          <pc:sldMk cId="3940705154" sldId="459"/>
        </pc:sldMkLst>
      </pc:sldChg>
      <pc:sldChg chg="del">
        <pc:chgData name="Laura LAGUNA SALVADO" userId="f97e6014-c42b-47fa-9627-bdbb0670246c" providerId="ADAL" clId="{BEFA912A-5FA8-4811-8F5D-83B85C076805}" dt="2023-10-20T13:08:45.857" v="92" actId="47"/>
        <pc:sldMkLst>
          <pc:docMk/>
          <pc:sldMk cId="2166340491" sldId="460"/>
        </pc:sldMkLst>
      </pc:sldChg>
      <pc:sldChg chg="del">
        <pc:chgData name="Laura LAGUNA SALVADO" userId="f97e6014-c42b-47fa-9627-bdbb0670246c" providerId="ADAL" clId="{BEFA912A-5FA8-4811-8F5D-83B85C076805}" dt="2023-10-20T13:08:46.269" v="93" actId="47"/>
        <pc:sldMkLst>
          <pc:docMk/>
          <pc:sldMk cId="4007284096" sldId="461"/>
        </pc:sldMkLst>
      </pc:sldChg>
      <pc:sldChg chg="del">
        <pc:chgData name="Laura LAGUNA SALVADO" userId="f97e6014-c42b-47fa-9627-bdbb0670246c" providerId="ADAL" clId="{BEFA912A-5FA8-4811-8F5D-83B85C076805}" dt="2023-10-20T13:08:47.350" v="95" actId="47"/>
        <pc:sldMkLst>
          <pc:docMk/>
          <pc:sldMk cId="2054439048" sldId="462"/>
        </pc:sldMkLst>
      </pc:sldChg>
      <pc:sldChg chg="del">
        <pc:chgData name="Laura LAGUNA SALVADO" userId="f97e6014-c42b-47fa-9627-bdbb0670246c" providerId="ADAL" clId="{BEFA912A-5FA8-4811-8F5D-83B85C076805}" dt="2023-10-20T13:08:50.405" v="97" actId="47"/>
        <pc:sldMkLst>
          <pc:docMk/>
          <pc:sldMk cId="3864274585" sldId="463"/>
        </pc:sldMkLst>
      </pc:sldChg>
      <pc:sldChg chg="del">
        <pc:chgData name="Laura LAGUNA SALVADO" userId="f97e6014-c42b-47fa-9627-bdbb0670246c" providerId="ADAL" clId="{BEFA912A-5FA8-4811-8F5D-83B85C076805}" dt="2023-10-20T13:08:52.447" v="99" actId="47"/>
        <pc:sldMkLst>
          <pc:docMk/>
          <pc:sldMk cId="372404708" sldId="465"/>
        </pc:sldMkLst>
      </pc:sldChg>
      <pc:sldChg chg="modSp mod">
        <pc:chgData name="Laura LAGUNA SALVADO" userId="f97e6014-c42b-47fa-9627-bdbb0670246c" providerId="ADAL" clId="{BEFA912A-5FA8-4811-8F5D-83B85C076805}" dt="2023-10-20T13:19:22.233" v="218" actId="20577"/>
        <pc:sldMkLst>
          <pc:docMk/>
          <pc:sldMk cId="2914839248" sldId="487"/>
        </pc:sldMkLst>
        <pc:spChg chg="mod">
          <ac:chgData name="Laura LAGUNA SALVADO" userId="f97e6014-c42b-47fa-9627-bdbb0670246c" providerId="ADAL" clId="{BEFA912A-5FA8-4811-8F5D-83B85C076805}" dt="2023-10-20T12:51:59.289" v="85" actId="20577"/>
          <ac:spMkLst>
            <pc:docMk/>
            <pc:sldMk cId="2914839248" sldId="487"/>
            <ac:spMk id="2" creationId="{00000000-0000-0000-0000-000000000000}"/>
          </ac:spMkLst>
        </pc:spChg>
        <pc:spChg chg="mod">
          <ac:chgData name="Laura LAGUNA SALVADO" userId="f97e6014-c42b-47fa-9627-bdbb0670246c" providerId="ADAL" clId="{BEFA912A-5FA8-4811-8F5D-83B85C076805}" dt="2023-10-20T13:19:22.233" v="218" actId="20577"/>
          <ac:spMkLst>
            <pc:docMk/>
            <pc:sldMk cId="2914839248" sldId="487"/>
            <ac:spMk id="6" creationId="{00000000-0000-0000-0000-000000000000}"/>
          </ac:spMkLst>
        </pc:spChg>
      </pc:sldChg>
      <pc:sldMasterChg chg="delSldLayout">
        <pc:chgData name="Laura LAGUNA SALVADO" userId="f97e6014-c42b-47fa-9627-bdbb0670246c" providerId="ADAL" clId="{BEFA912A-5FA8-4811-8F5D-83B85C076805}" dt="2023-10-20T13:08:49.233" v="96" actId="47"/>
        <pc:sldMasterMkLst>
          <pc:docMk/>
          <pc:sldMasterMk cId="0" sldId="2147483696"/>
        </pc:sldMasterMkLst>
        <pc:sldLayoutChg chg="del">
          <pc:chgData name="Laura LAGUNA SALVADO" userId="f97e6014-c42b-47fa-9627-bdbb0670246c" providerId="ADAL" clId="{BEFA912A-5FA8-4811-8F5D-83B85C076805}" dt="2023-10-20T13:08:49.233" v="96" actId="47"/>
          <pc:sldLayoutMkLst>
            <pc:docMk/>
            <pc:sldMasterMk cId="0" sldId="2147483696"/>
            <pc:sldLayoutMk cId="247894614" sldId="2147483702"/>
          </pc:sldLayoutMkLst>
        </pc:sldLayoutChg>
      </pc:sldMasterChg>
    </pc:docChg>
  </pc:docChgLst>
  <pc:docChgLst>
    <pc:chgData name="Éric VILLENEUVE" userId="83ca46e9-d26e-4114-932c-dce9d3d84629" providerId="ADAL" clId="{E1F21AE0-9F99-4CB0-B4B4-371773B9155E}"/>
    <pc:docChg chg="delSld modSld modSection">
      <pc:chgData name="Éric VILLENEUVE" userId="83ca46e9-d26e-4114-932c-dce9d3d84629" providerId="ADAL" clId="{E1F21AE0-9F99-4CB0-B4B4-371773B9155E}" dt="2023-10-23T20:27:40.899" v="4" actId="47"/>
      <pc:docMkLst>
        <pc:docMk/>
      </pc:docMkLst>
      <pc:sldChg chg="modSp">
        <pc:chgData name="Éric VILLENEUVE" userId="83ca46e9-d26e-4114-932c-dce9d3d84629" providerId="ADAL" clId="{E1F21AE0-9F99-4CB0-B4B4-371773B9155E}" dt="2023-10-23T20:27:28.149" v="3" actId="20577"/>
        <pc:sldMkLst>
          <pc:docMk/>
          <pc:sldMk cId="141189243" sldId="338"/>
        </pc:sldMkLst>
        <pc:spChg chg="mod">
          <ac:chgData name="Éric VILLENEUVE" userId="83ca46e9-d26e-4114-932c-dce9d3d84629" providerId="ADAL" clId="{E1F21AE0-9F99-4CB0-B4B4-371773B9155E}" dt="2023-10-23T20:27:28.149" v="3" actId="20577"/>
          <ac:spMkLst>
            <pc:docMk/>
            <pc:sldMk cId="141189243" sldId="338"/>
            <ac:spMk id="4" creationId="{3F4CFDE5-062D-409E-9937-160EDCA46915}"/>
          </ac:spMkLst>
        </pc:spChg>
      </pc:sldChg>
      <pc:sldChg chg="del">
        <pc:chgData name="Éric VILLENEUVE" userId="83ca46e9-d26e-4114-932c-dce9d3d84629" providerId="ADAL" clId="{E1F21AE0-9F99-4CB0-B4B4-371773B9155E}" dt="2023-10-23T20:27:40.899" v="4" actId="47"/>
        <pc:sldMkLst>
          <pc:docMk/>
          <pc:sldMk cId="636226147" sldId="34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890137" cy="495397"/>
          </a:xfrm>
          <a:prstGeom prst="rect">
            <a:avLst/>
          </a:prstGeom>
        </p:spPr>
        <p:txBody>
          <a:bodyPr vert="horz" lIns="87499" tIns="43749" rIns="87499" bIns="43749" rtlCol="0"/>
          <a:lstStyle>
            <a:lvl1pPr algn="l">
              <a:defRPr sz="1100"/>
            </a:lvl1pPr>
          </a:lstStyle>
          <a:p>
            <a:endParaRPr lang="fr-FR"/>
          </a:p>
        </p:txBody>
      </p:sp>
      <p:sp>
        <p:nvSpPr>
          <p:cNvPr id="3" name="Espace réservé de la date 2"/>
          <p:cNvSpPr>
            <a:spLocks noGrp="1"/>
          </p:cNvSpPr>
          <p:nvPr>
            <p:ph type="dt" sz="quarter" idx="1"/>
          </p:nvPr>
        </p:nvSpPr>
        <p:spPr>
          <a:xfrm>
            <a:off x="3777461" y="0"/>
            <a:ext cx="2890137" cy="495397"/>
          </a:xfrm>
          <a:prstGeom prst="rect">
            <a:avLst/>
          </a:prstGeom>
        </p:spPr>
        <p:txBody>
          <a:bodyPr vert="horz" lIns="87499" tIns="43749" rIns="87499" bIns="43749" rtlCol="0"/>
          <a:lstStyle>
            <a:lvl1pPr algn="r">
              <a:defRPr sz="1100"/>
            </a:lvl1pPr>
          </a:lstStyle>
          <a:p>
            <a:fld id="{2D504EC7-B448-4E2B-9F93-7CF68A901604}" type="datetimeFigureOut">
              <a:rPr lang="fr-FR" smtClean="0"/>
              <a:t>24/10/2024</a:t>
            </a:fld>
            <a:endParaRPr lang="fr-FR"/>
          </a:p>
        </p:txBody>
      </p:sp>
      <p:sp>
        <p:nvSpPr>
          <p:cNvPr id="4" name="Espace réservé du pied de page 3"/>
          <p:cNvSpPr>
            <a:spLocks noGrp="1"/>
          </p:cNvSpPr>
          <p:nvPr>
            <p:ph type="ftr" sz="quarter" idx="2"/>
          </p:nvPr>
        </p:nvSpPr>
        <p:spPr>
          <a:xfrm>
            <a:off x="0" y="9421765"/>
            <a:ext cx="2890137" cy="495397"/>
          </a:xfrm>
          <a:prstGeom prst="rect">
            <a:avLst/>
          </a:prstGeom>
        </p:spPr>
        <p:txBody>
          <a:bodyPr vert="horz" lIns="87499" tIns="43749" rIns="87499" bIns="43749" rtlCol="0" anchor="b"/>
          <a:lstStyle>
            <a:lvl1pPr algn="l">
              <a:defRPr sz="1100"/>
            </a:lvl1pPr>
          </a:lstStyle>
          <a:p>
            <a:endParaRPr lang="fr-FR"/>
          </a:p>
        </p:txBody>
      </p:sp>
      <p:sp>
        <p:nvSpPr>
          <p:cNvPr id="5" name="Espace réservé du numéro de diapositive 4"/>
          <p:cNvSpPr>
            <a:spLocks noGrp="1"/>
          </p:cNvSpPr>
          <p:nvPr>
            <p:ph type="sldNum" sz="quarter" idx="3"/>
          </p:nvPr>
        </p:nvSpPr>
        <p:spPr>
          <a:xfrm>
            <a:off x="3777461" y="9421765"/>
            <a:ext cx="2890137" cy="495397"/>
          </a:xfrm>
          <a:prstGeom prst="rect">
            <a:avLst/>
          </a:prstGeom>
        </p:spPr>
        <p:txBody>
          <a:bodyPr vert="horz" lIns="87499" tIns="43749" rIns="87499" bIns="43749" rtlCol="0" anchor="b"/>
          <a:lstStyle>
            <a:lvl1pPr algn="r">
              <a:defRPr sz="1100"/>
            </a:lvl1pPr>
          </a:lstStyle>
          <a:p>
            <a:fld id="{7E1C4E2D-8FFB-46C0-A9B5-9BEAE3F20AE6}" type="slidenum">
              <a:rPr lang="fr-FR" smtClean="0"/>
              <a:t>‹#›</a:t>
            </a:fld>
            <a:endParaRPr lang="fr-FR"/>
          </a:p>
        </p:txBody>
      </p:sp>
    </p:spTree>
    <p:extLst>
      <p:ext uri="{BB962C8B-B14F-4D97-AF65-F5344CB8AC3E}">
        <p14:creationId xmlns:p14="http://schemas.microsoft.com/office/powerpoint/2010/main" val="29364051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2889938" cy="495935"/>
          </a:xfrm>
          <a:prstGeom prst="rect">
            <a:avLst/>
          </a:prstGeom>
        </p:spPr>
        <p:txBody>
          <a:bodyPr vert="horz" lIns="94779" tIns="47390" rIns="94779" bIns="47390" rtlCol="0"/>
          <a:lstStyle>
            <a:lvl1pPr algn="l">
              <a:defRPr sz="1200"/>
            </a:lvl1pPr>
          </a:lstStyle>
          <a:p>
            <a:endParaRPr lang="fr-FR"/>
          </a:p>
        </p:txBody>
      </p:sp>
      <p:sp>
        <p:nvSpPr>
          <p:cNvPr id="3" name="Espace réservé de la date 2"/>
          <p:cNvSpPr>
            <a:spLocks noGrp="1"/>
          </p:cNvSpPr>
          <p:nvPr>
            <p:ph type="dt" idx="1"/>
          </p:nvPr>
        </p:nvSpPr>
        <p:spPr>
          <a:xfrm>
            <a:off x="3777607" y="1"/>
            <a:ext cx="2889938" cy="495935"/>
          </a:xfrm>
          <a:prstGeom prst="rect">
            <a:avLst/>
          </a:prstGeom>
        </p:spPr>
        <p:txBody>
          <a:bodyPr vert="horz" lIns="94779" tIns="47390" rIns="94779" bIns="47390" rtlCol="0"/>
          <a:lstStyle>
            <a:lvl1pPr algn="r">
              <a:defRPr sz="1200"/>
            </a:lvl1pPr>
          </a:lstStyle>
          <a:p>
            <a:fld id="{7149BC5B-1B18-4FC1-9B65-DC7ACBF98DDA}" type="datetimeFigureOut">
              <a:rPr lang="fr-FR" smtClean="0"/>
              <a:t>24/10/2024</a:t>
            </a:fld>
            <a:endParaRPr lang="fr-FR"/>
          </a:p>
        </p:txBody>
      </p:sp>
      <p:sp>
        <p:nvSpPr>
          <p:cNvPr id="4" name="Espace réservé de l'image des diapositives 3"/>
          <p:cNvSpPr>
            <a:spLocks noGrp="1" noRot="1" noChangeAspect="1"/>
          </p:cNvSpPr>
          <p:nvPr>
            <p:ph type="sldImg" idx="2"/>
          </p:nvPr>
        </p:nvSpPr>
        <p:spPr>
          <a:xfrm>
            <a:off x="857250" y="744538"/>
            <a:ext cx="4954588" cy="3717925"/>
          </a:xfrm>
          <a:prstGeom prst="rect">
            <a:avLst/>
          </a:prstGeom>
          <a:noFill/>
          <a:ln w="12700">
            <a:solidFill>
              <a:prstClr val="black"/>
            </a:solidFill>
          </a:ln>
        </p:spPr>
        <p:txBody>
          <a:bodyPr vert="horz" lIns="94779" tIns="47390" rIns="94779" bIns="47390" rtlCol="0" anchor="ctr"/>
          <a:lstStyle/>
          <a:p>
            <a:endParaRPr lang="fr-FR"/>
          </a:p>
        </p:txBody>
      </p:sp>
      <p:sp>
        <p:nvSpPr>
          <p:cNvPr id="5" name="Espace réservé des commentaires 4"/>
          <p:cNvSpPr>
            <a:spLocks noGrp="1"/>
          </p:cNvSpPr>
          <p:nvPr>
            <p:ph type="body" sz="quarter" idx="3"/>
          </p:nvPr>
        </p:nvSpPr>
        <p:spPr>
          <a:xfrm>
            <a:off x="666909" y="4711382"/>
            <a:ext cx="5335270" cy="4463415"/>
          </a:xfrm>
          <a:prstGeom prst="rect">
            <a:avLst/>
          </a:prstGeom>
        </p:spPr>
        <p:txBody>
          <a:bodyPr vert="horz" lIns="94779" tIns="47390" rIns="94779" bIns="4739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1044"/>
            <a:ext cx="2889938" cy="495935"/>
          </a:xfrm>
          <a:prstGeom prst="rect">
            <a:avLst/>
          </a:prstGeom>
        </p:spPr>
        <p:txBody>
          <a:bodyPr vert="horz" lIns="94779" tIns="47390" rIns="94779" bIns="4739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777607" y="9421044"/>
            <a:ext cx="2889938" cy="495935"/>
          </a:xfrm>
          <a:prstGeom prst="rect">
            <a:avLst/>
          </a:prstGeom>
        </p:spPr>
        <p:txBody>
          <a:bodyPr vert="horz" lIns="94779" tIns="47390" rIns="94779" bIns="47390" rtlCol="0" anchor="b"/>
          <a:lstStyle>
            <a:lvl1pPr algn="r">
              <a:defRPr sz="1200"/>
            </a:lvl1pPr>
          </a:lstStyle>
          <a:p>
            <a:fld id="{A2E7EF8E-40AC-488C-A24F-2CE20B649342}" type="slidenum">
              <a:rPr lang="fr-FR" smtClean="0"/>
              <a:t>‹#›</a:t>
            </a:fld>
            <a:endParaRPr lang="fr-FR"/>
          </a:p>
        </p:txBody>
      </p:sp>
    </p:spTree>
    <p:extLst>
      <p:ext uri="{BB962C8B-B14F-4D97-AF65-F5344CB8AC3E}">
        <p14:creationId xmlns:p14="http://schemas.microsoft.com/office/powerpoint/2010/main" val="319785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A2E7EF8E-40AC-488C-A24F-2CE20B649342}" type="slidenum">
              <a:rPr lang="fr-FR" smtClean="0"/>
              <a:t>1</a:t>
            </a:fld>
            <a:endParaRPr lang="fr-FR"/>
          </a:p>
        </p:txBody>
      </p:sp>
    </p:spTree>
    <p:extLst>
      <p:ext uri="{BB962C8B-B14F-4D97-AF65-F5344CB8AC3E}">
        <p14:creationId xmlns:p14="http://schemas.microsoft.com/office/powerpoint/2010/main" val="1106453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Ensemble de matières et produits qui appartiennent à une entreprise industrielle </a:t>
            </a:r>
            <a:r>
              <a:rPr lang="fr-FR" b="0" i="0">
                <a:solidFill>
                  <a:srgbClr val="000000"/>
                </a:solidFill>
                <a:effectLst/>
                <a:latin typeface="Verdana" panose="020B0604030504040204" pitchFamily="34" charset="0"/>
              </a:rPr>
              <a:t>et qui sont entreposés dans l'attente de leur utilisation ou de leur vente</a:t>
            </a:r>
            <a:endParaRPr lang="en-GB"/>
          </a:p>
        </p:txBody>
      </p:sp>
      <p:sp>
        <p:nvSpPr>
          <p:cNvPr id="4" name="Espace réservé du numéro de diapositive 3"/>
          <p:cNvSpPr>
            <a:spLocks noGrp="1"/>
          </p:cNvSpPr>
          <p:nvPr>
            <p:ph type="sldNum" sz="quarter" idx="5"/>
          </p:nvPr>
        </p:nvSpPr>
        <p:spPr/>
        <p:txBody>
          <a:bodyPr/>
          <a:lstStyle/>
          <a:p>
            <a:fld id="{A2E7EF8E-40AC-488C-A24F-2CE20B649342}" type="slidenum">
              <a:rPr lang="fr-FR" smtClean="0"/>
              <a:t>2</a:t>
            </a:fld>
            <a:endParaRPr lang="fr-FR"/>
          </a:p>
        </p:txBody>
      </p:sp>
    </p:spTree>
    <p:extLst>
      <p:ext uri="{BB962C8B-B14F-4D97-AF65-F5344CB8AC3E}">
        <p14:creationId xmlns:p14="http://schemas.microsoft.com/office/powerpoint/2010/main" val="1721329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aseline="0"/>
              <a:t>Stock peut jouer 3 rôles :</a:t>
            </a:r>
          </a:p>
          <a:p>
            <a:pPr marL="171450" indent="-171450">
              <a:buFont typeface="Arial"/>
              <a:buChar char="•"/>
            </a:pPr>
            <a:r>
              <a:rPr lang="fr-FR" baseline="0"/>
              <a:t>Faire face à une différence de cadence entre consommation et production. Ex. foie gras, tél mobile : fabrication par anticipation</a:t>
            </a:r>
          </a:p>
          <a:p>
            <a:pPr marL="171450" indent="-171450">
              <a:buFont typeface="Arial"/>
              <a:buChar char="•"/>
            </a:pPr>
            <a:r>
              <a:rPr lang="fr-FR" baseline="0"/>
              <a:t>Servir de protection face à une incertitude : faire du stock pour qu’on puisse piocher dans le stock quand la demande est très importante et on le </a:t>
            </a:r>
            <a:r>
              <a:rPr lang="fr-FR" baseline="0" err="1"/>
              <a:t>recomplète</a:t>
            </a:r>
            <a:r>
              <a:rPr lang="fr-FR" baseline="0"/>
              <a:t> quand la demande baisse</a:t>
            </a:r>
          </a:p>
          <a:p>
            <a:pPr marL="171450" indent="-171450">
              <a:buFont typeface="Arial"/>
              <a:buChar char="•"/>
            </a:pPr>
            <a:r>
              <a:rPr lang="fr-FR" baseline="0"/>
              <a:t>Découplage entre les opérations : permet d’avoir une méthode de GP sur la phase amont du stock et une autre méthode de GP sur la phase aval du stock</a:t>
            </a:r>
          </a:p>
        </p:txBody>
      </p:sp>
      <p:sp>
        <p:nvSpPr>
          <p:cNvPr id="4" name="Espace réservé du numéro de diapositive 3"/>
          <p:cNvSpPr>
            <a:spLocks noGrp="1"/>
          </p:cNvSpPr>
          <p:nvPr>
            <p:ph type="sldNum" sz="quarter" idx="10"/>
          </p:nvPr>
        </p:nvSpPr>
        <p:spPr/>
        <p:txBody>
          <a:bodyPr/>
          <a:lstStyle/>
          <a:p>
            <a:fld id="{F5AC4116-B978-3349-8E3B-80D0BDAB2526}" type="slidenum">
              <a:rPr lang="fr-FR" smtClean="0"/>
              <a:t>3</a:t>
            </a:fld>
            <a:endParaRPr lang="fr-FR"/>
          </a:p>
        </p:txBody>
      </p:sp>
      <p:sp>
        <p:nvSpPr>
          <p:cNvPr id="5" name="Espace réservé de la date 4"/>
          <p:cNvSpPr>
            <a:spLocks noGrp="1"/>
          </p:cNvSpPr>
          <p:nvPr>
            <p:ph type="dt" idx="11"/>
          </p:nvPr>
        </p:nvSpPr>
        <p:spPr/>
        <p:txBody>
          <a:bodyPr/>
          <a:lstStyle/>
          <a:p>
            <a:endParaRPr lang="fr-FR"/>
          </a:p>
        </p:txBody>
      </p:sp>
    </p:spTree>
    <p:extLst>
      <p:ext uri="{BB962C8B-B14F-4D97-AF65-F5344CB8AC3E}">
        <p14:creationId xmlns:p14="http://schemas.microsoft.com/office/powerpoint/2010/main" val="1942947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a:t>On a 4 types de stocks</a:t>
            </a:r>
            <a:r>
              <a:rPr lang="fr-FR" baseline="0"/>
              <a:t> différents dans l’entreprise :</a:t>
            </a:r>
          </a:p>
          <a:p>
            <a:pPr marL="171450" indent="-171450">
              <a:buFontTx/>
              <a:buChar char="-"/>
            </a:pPr>
            <a:r>
              <a:rPr lang="fr-FR" baseline="0"/>
              <a:t>MP : protéger contre retard ou rupture côté fournisseur</a:t>
            </a:r>
          </a:p>
          <a:p>
            <a:pPr marL="171450" indent="-171450">
              <a:buFontTx/>
              <a:buChar char="-"/>
            </a:pPr>
            <a:r>
              <a:rPr lang="fr-FR" baseline="0"/>
              <a:t>PF : protéger face aux fluctuations de la demande</a:t>
            </a:r>
          </a:p>
          <a:p>
            <a:pPr marL="171450" indent="-171450">
              <a:buFontTx/>
              <a:buChar char="-"/>
            </a:pPr>
            <a:r>
              <a:rPr lang="fr-FR" baseline="0"/>
              <a:t>SE : être capable de décomposer la fabrication amont de la fabrication aval des SE</a:t>
            </a:r>
          </a:p>
          <a:p>
            <a:pPr marL="171450" indent="-171450">
              <a:buFontTx/>
              <a:buChar char="-"/>
            </a:pPr>
            <a:r>
              <a:rPr lang="fr-FR" baseline="0"/>
              <a:t>En-cours</a:t>
            </a:r>
          </a:p>
          <a:p>
            <a:pPr marL="171450" indent="-171450">
              <a:buFontTx/>
              <a:buChar char="-"/>
            </a:pPr>
            <a:endParaRPr lang="fr-FR" baseline="0"/>
          </a:p>
          <a:p>
            <a:pPr marL="0" indent="0">
              <a:buFontTx/>
              <a:buNone/>
            </a:pPr>
            <a:r>
              <a:rPr lang="fr-FR" baseline="0"/>
              <a:t>Donc dans une entreprise on va définir des stocks de MP/SE/PF, on va identifier des états de la matière dans ces différents MP/PF et SE. Etat entre MP et SE : en-cours, entre SE et PF : en-cours</a:t>
            </a:r>
          </a:p>
          <a:p>
            <a:pPr marL="0" indent="0">
              <a:buFontTx/>
              <a:buNone/>
            </a:pPr>
            <a:endParaRPr lang="fr-FR" baseline="0"/>
          </a:p>
          <a:p>
            <a:pPr marL="0" indent="0">
              <a:buFontTx/>
              <a:buNone/>
            </a:pPr>
            <a:r>
              <a:rPr lang="fr-FR" baseline="0"/>
              <a:t>Sur les états MP, SE, PF : les produits sont dans un état donné, on peut quantifier les stocks. Par contre dans l’état d’en-cours, on ne sera pas capable de le suivre</a:t>
            </a:r>
            <a:endParaRPr lang="fr-FR"/>
          </a:p>
        </p:txBody>
      </p:sp>
      <p:sp>
        <p:nvSpPr>
          <p:cNvPr id="4" name="Espace réservé du numéro de diapositive 3"/>
          <p:cNvSpPr>
            <a:spLocks noGrp="1"/>
          </p:cNvSpPr>
          <p:nvPr>
            <p:ph type="sldNum" sz="quarter" idx="10"/>
          </p:nvPr>
        </p:nvSpPr>
        <p:spPr/>
        <p:txBody>
          <a:bodyPr/>
          <a:lstStyle/>
          <a:p>
            <a:fld id="{F5AC4116-B978-3349-8E3B-80D0BDAB2526}" type="slidenum">
              <a:rPr lang="fr-FR" smtClean="0"/>
              <a:t>4</a:t>
            </a:fld>
            <a:endParaRPr lang="fr-FR"/>
          </a:p>
        </p:txBody>
      </p:sp>
      <p:sp>
        <p:nvSpPr>
          <p:cNvPr id="5" name="Espace réservé de la date 4"/>
          <p:cNvSpPr>
            <a:spLocks noGrp="1"/>
          </p:cNvSpPr>
          <p:nvPr>
            <p:ph type="dt" idx="11"/>
          </p:nvPr>
        </p:nvSpPr>
        <p:spPr/>
        <p:txBody>
          <a:bodyPr/>
          <a:lstStyle/>
          <a:p>
            <a:endParaRPr lang="fr-FR"/>
          </a:p>
        </p:txBody>
      </p:sp>
    </p:spTree>
    <p:extLst>
      <p:ext uri="{BB962C8B-B14F-4D97-AF65-F5344CB8AC3E}">
        <p14:creationId xmlns:p14="http://schemas.microsoft.com/office/powerpoint/2010/main" val="878953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CA" err="1"/>
              <a:t>L’approche</a:t>
            </a:r>
            <a:r>
              <a:rPr lang="en-CA"/>
              <a:t> </a:t>
            </a:r>
            <a:r>
              <a:rPr lang="en-CA" err="1"/>
              <a:t>préconisée</a:t>
            </a:r>
            <a:r>
              <a:rPr lang="en-CA"/>
              <a:t> par le JAT </a:t>
            </a:r>
            <a:r>
              <a:rPr lang="en-CA" err="1"/>
              <a:t>consiste</a:t>
            </a:r>
            <a:r>
              <a:rPr lang="en-CA"/>
              <a:t> en </a:t>
            </a:r>
            <a:r>
              <a:rPr lang="en-CA" err="1"/>
              <a:t>une</a:t>
            </a:r>
            <a:r>
              <a:rPr lang="en-CA"/>
              <a:t> </a:t>
            </a:r>
            <a:r>
              <a:rPr lang="en-CA" err="1"/>
              <a:t>réduction</a:t>
            </a:r>
            <a:r>
              <a:rPr lang="en-CA"/>
              <a:t> </a:t>
            </a:r>
            <a:r>
              <a:rPr lang="en-CA" b="1"/>
              <a:t>progressive</a:t>
            </a:r>
            <a:r>
              <a:rPr lang="en-CA"/>
              <a:t> des stocks </a:t>
            </a:r>
            <a:r>
              <a:rPr lang="en-CA" err="1"/>
              <a:t>afin</a:t>
            </a:r>
            <a:r>
              <a:rPr lang="en-CA"/>
              <a:t> de faire </a:t>
            </a:r>
            <a:r>
              <a:rPr lang="en-CA" err="1"/>
              <a:t>apparaître</a:t>
            </a:r>
            <a:r>
              <a:rPr lang="en-CA"/>
              <a:t> les </a:t>
            </a:r>
            <a:r>
              <a:rPr lang="en-CA" err="1"/>
              <a:t>problèmes</a:t>
            </a:r>
            <a:r>
              <a:rPr lang="en-CA"/>
              <a:t>, </a:t>
            </a:r>
            <a:r>
              <a:rPr lang="en-CA" err="1"/>
              <a:t>puis</a:t>
            </a:r>
            <a:r>
              <a:rPr lang="en-CA"/>
              <a:t> de les </a:t>
            </a:r>
            <a:r>
              <a:rPr lang="en-CA" err="1"/>
              <a:t>éliminer</a:t>
            </a:r>
            <a:r>
              <a:rPr lang="en-CA"/>
              <a:t> un à un.</a:t>
            </a:r>
            <a:endParaRPr lang="fr-CA"/>
          </a:p>
          <a:p>
            <a:endParaRPr lang="fr-FR"/>
          </a:p>
        </p:txBody>
      </p:sp>
      <p:sp>
        <p:nvSpPr>
          <p:cNvPr id="4" name="Espace réservé du numéro de diapositive 3"/>
          <p:cNvSpPr>
            <a:spLocks noGrp="1"/>
          </p:cNvSpPr>
          <p:nvPr>
            <p:ph type="sldNum" sz="quarter" idx="10"/>
          </p:nvPr>
        </p:nvSpPr>
        <p:spPr/>
        <p:txBody>
          <a:bodyPr/>
          <a:lstStyle/>
          <a:p>
            <a:fld id="{017AB674-5A0E-420C-BC6B-5F35E669EE31}" type="slidenum">
              <a:rPr lang="fr-FR" smtClean="0"/>
              <a:pPr/>
              <a:t>7</a:t>
            </a:fld>
            <a:endParaRPr lang="fr-FR"/>
          </a:p>
        </p:txBody>
      </p:sp>
      <p:sp>
        <p:nvSpPr>
          <p:cNvPr id="5" name="Espace réservé de la date 4"/>
          <p:cNvSpPr>
            <a:spLocks noGrp="1"/>
          </p:cNvSpPr>
          <p:nvPr>
            <p:ph type="dt" idx="11"/>
          </p:nvPr>
        </p:nvSpPr>
        <p:spPr/>
        <p:txBody>
          <a:bodyPr/>
          <a:lstStyle/>
          <a:p>
            <a:endParaRPr lang="fr-FR"/>
          </a:p>
        </p:txBody>
      </p:sp>
    </p:spTree>
    <p:extLst>
      <p:ext uri="{BB962C8B-B14F-4D97-AF65-F5344CB8AC3E}">
        <p14:creationId xmlns:p14="http://schemas.microsoft.com/office/powerpoint/2010/main" val="2217852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CA"/>
              <a:t>Les stocks masquent les problèmes</a:t>
            </a:r>
          </a:p>
          <a:p>
            <a:endParaRPr lang="fr-FR"/>
          </a:p>
        </p:txBody>
      </p:sp>
      <p:sp>
        <p:nvSpPr>
          <p:cNvPr id="4" name="Espace réservé du numéro de diapositive 3"/>
          <p:cNvSpPr>
            <a:spLocks noGrp="1"/>
          </p:cNvSpPr>
          <p:nvPr>
            <p:ph type="sldNum" sz="quarter" idx="10"/>
          </p:nvPr>
        </p:nvSpPr>
        <p:spPr/>
        <p:txBody>
          <a:bodyPr/>
          <a:lstStyle/>
          <a:p>
            <a:fld id="{017AB674-5A0E-420C-BC6B-5F35E669EE31}" type="slidenum">
              <a:rPr lang="fr-FR" smtClean="0"/>
              <a:pPr/>
              <a:t>8</a:t>
            </a:fld>
            <a:endParaRPr lang="fr-FR"/>
          </a:p>
        </p:txBody>
      </p:sp>
      <p:sp>
        <p:nvSpPr>
          <p:cNvPr id="5" name="Espace réservé de la date 4"/>
          <p:cNvSpPr>
            <a:spLocks noGrp="1"/>
          </p:cNvSpPr>
          <p:nvPr>
            <p:ph type="dt" idx="11"/>
          </p:nvPr>
        </p:nvSpPr>
        <p:spPr/>
        <p:txBody>
          <a:bodyPr/>
          <a:lstStyle/>
          <a:p>
            <a:endParaRPr lang="fr-FR"/>
          </a:p>
        </p:txBody>
      </p:sp>
    </p:spTree>
    <p:extLst>
      <p:ext uri="{BB962C8B-B14F-4D97-AF65-F5344CB8AC3E}">
        <p14:creationId xmlns:p14="http://schemas.microsoft.com/office/powerpoint/2010/main" val="2217852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CA"/>
              <a:t>Et</a:t>
            </a:r>
            <a:r>
              <a:rPr lang="fr-CA" baseline="0"/>
              <a:t> on recommence…</a:t>
            </a:r>
            <a:endParaRPr lang="fr-CA"/>
          </a:p>
          <a:p>
            <a:endParaRPr lang="fr-FR"/>
          </a:p>
        </p:txBody>
      </p:sp>
      <p:sp>
        <p:nvSpPr>
          <p:cNvPr id="4" name="Espace réservé du numéro de diapositive 3"/>
          <p:cNvSpPr>
            <a:spLocks noGrp="1"/>
          </p:cNvSpPr>
          <p:nvPr>
            <p:ph type="sldNum" sz="quarter" idx="10"/>
          </p:nvPr>
        </p:nvSpPr>
        <p:spPr/>
        <p:txBody>
          <a:bodyPr/>
          <a:lstStyle/>
          <a:p>
            <a:fld id="{017AB674-5A0E-420C-BC6B-5F35E669EE31}" type="slidenum">
              <a:rPr lang="fr-FR" smtClean="0"/>
              <a:pPr/>
              <a:t>9</a:t>
            </a:fld>
            <a:endParaRPr lang="fr-FR"/>
          </a:p>
        </p:txBody>
      </p:sp>
      <p:sp>
        <p:nvSpPr>
          <p:cNvPr id="5" name="Espace réservé de la date 4"/>
          <p:cNvSpPr>
            <a:spLocks noGrp="1"/>
          </p:cNvSpPr>
          <p:nvPr>
            <p:ph type="dt" idx="11"/>
          </p:nvPr>
        </p:nvSpPr>
        <p:spPr/>
        <p:txBody>
          <a:bodyPr/>
          <a:lstStyle/>
          <a:p>
            <a:endParaRPr lang="fr-FR"/>
          </a:p>
        </p:txBody>
      </p:sp>
    </p:spTree>
    <p:extLst>
      <p:ext uri="{BB962C8B-B14F-4D97-AF65-F5344CB8AC3E}">
        <p14:creationId xmlns:p14="http://schemas.microsoft.com/office/powerpoint/2010/main" val="2217852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A2E7EF8E-40AC-488C-A24F-2CE20B649342}" type="slidenum">
              <a:rPr lang="fr-FR" smtClean="0"/>
              <a:t>11</a:t>
            </a:fld>
            <a:endParaRPr lang="fr-FR"/>
          </a:p>
        </p:txBody>
      </p:sp>
    </p:spTree>
    <p:extLst>
      <p:ext uri="{BB962C8B-B14F-4D97-AF65-F5344CB8AC3E}">
        <p14:creationId xmlns:p14="http://schemas.microsoft.com/office/powerpoint/2010/main" val="407561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a:t>Revient à la question « quand approvisionner » et « combien approvisionner » ?</a:t>
            </a:r>
          </a:p>
          <a:p>
            <a:endParaRPr lang="fr-FR"/>
          </a:p>
          <a:p>
            <a:r>
              <a:rPr lang="fr-FR"/>
              <a:t>Le coût de possession et le coût d’acquisition sont contradictoires.</a:t>
            </a:r>
          </a:p>
          <a:p>
            <a:r>
              <a:rPr lang="fr-FR"/>
              <a:t>Il</a:t>
            </a:r>
            <a:r>
              <a:rPr lang="fr-FR" baseline="0"/>
              <a:t> faut trouver un compromis entre commander peu souvent de grosses quantités (coût d’acquisition mini et coût de possession maxi) et commander souvent de faibles quantités (coût d’acquisition maxi et coût de possession mini).</a:t>
            </a:r>
            <a:endParaRPr lang="fr-FR"/>
          </a:p>
        </p:txBody>
      </p:sp>
      <p:sp>
        <p:nvSpPr>
          <p:cNvPr id="4" name="Espace réservé du numéro de diapositive 3"/>
          <p:cNvSpPr>
            <a:spLocks noGrp="1"/>
          </p:cNvSpPr>
          <p:nvPr>
            <p:ph type="sldNum" sz="quarter" idx="10"/>
          </p:nvPr>
        </p:nvSpPr>
        <p:spPr/>
        <p:txBody>
          <a:bodyPr/>
          <a:lstStyle/>
          <a:p>
            <a:fld id="{28E02E59-E056-894D-865B-9C4B4D69BBDD}" type="slidenum">
              <a:rPr lang="fr-FR" smtClean="0"/>
              <a:t>12</a:t>
            </a:fld>
            <a:endParaRPr lang="fr-FR"/>
          </a:p>
        </p:txBody>
      </p:sp>
    </p:spTree>
    <p:extLst>
      <p:ext uri="{BB962C8B-B14F-4D97-AF65-F5344CB8AC3E}">
        <p14:creationId xmlns:p14="http://schemas.microsoft.com/office/powerpoint/2010/main" val="4133364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a:t>La formule de Wilson</a:t>
            </a:r>
            <a:r>
              <a:rPr lang="fr-FR" baseline="0"/>
              <a:t> permet de trouver le compromis entre le coût d’acquisition et le coût de possession suivant un certain nombre d’hypothèses.</a:t>
            </a:r>
          </a:p>
          <a:p>
            <a:r>
              <a:rPr lang="fr-FR" baseline="0"/>
              <a:t>Ces hypothèses fortes sont :</a:t>
            </a:r>
          </a:p>
          <a:p>
            <a:pPr marL="171450" indent="-171450">
              <a:buFont typeface="Arial"/>
              <a:buChar char="•"/>
            </a:pPr>
            <a:r>
              <a:rPr lang="fr-FR"/>
              <a:t>Coût d’acquisition</a:t>
            </a:r>
            <a:r>
              <a:rPr lang="fr-FR" baseline="0"/>
              <a:t> proportionnel au nombre de commandes,</a:t>
            </a:r>
          </a:p>
          <a:p>
            <a:pPr marL="171450" indent="-171450">
              <a:buFont typeface="Arial"/>
              <a:buChar char="•"/>
            </a:pPr>
            <a:r>
              <a:rPr lang="fr-FR" baseline="0"/>
              <a:t>Coût de possession proportionnel au stock moyen,</a:t>
            </a:r>
          </a:p>
          <a:p>
            <a:pPr marL="171450" indent="-171450">
              <a:buFont typeface="Arial"/>
              <a:buChar char="•"/>
            </a:pPr>
            <a:r>
              <a:rPr lang="fr-FR" baseline="0"/>
              <a:t>Consommation continue (proportionnelle au temps),</a:t>
            </a:r>
          </a:p>
          <a:p>
            <a:pPr marL="171450" indent="-171450">
              <a:buFont typeface="Arial"/>
              <a:buChar char="•"/>
            </a:pPr>
            <a:r>
              <a:rPr lang="fr-FR" baseline="0"/>
              <a:t>Livraisons parfaitement planifiées,</a:t>
            </a:r>
          </a:p>
          <a:p>
            <a:pPr marL="171450" indent="-171450">
              <a:buFont typeface="Arial"/>
              <a:buChar char="•"/>
            </a:pPr>
            <a:r>
              <a:rPr lang="fr-FR" baseline="0"/>
              <a:t>Risques de rupture faible grâce à un dimensionnement suffisant du stock de sécurité,</a:t>
            </a:r>
          </a:p>
          <a:p>
            <a:pPr marL="171450" indent="-171450">
              <a:buFont typeface="Arial"/>
              <a:buChar char="•"/>
            </a:pPr>
            <a:r>
              <a:rPr lang="fr-FR" baseline="0"/>
              <a:t>Demande indépendante : la demande d’un article est considérée comme indépendante de la consommation des autres articles.</a:t>
            </a:r>
          </a:p>
        </p:txBody>
      </p:sp>
      <p:sp>
        <p:nvSpPr>
          <p:cNvPr id="4" name="Espace réservé du numéro de diapositive 3"/>
          <p:cNvSpPr>
            <a:spLocks noGrp="1"/>
          </p:cNvSpPr>
          <p:nvPr>
            <p:ph type="sldNum" sz="quarter" idx="10"/>
          </p:nvPr>
        </p:nvSpPr>
        <p:spPr/>
        <p:txBody>
          <a:bodyPr/>
          <a:lstStyle/>
          <a:p>
            <a:fld id="{28E02E59-E056-894D-865B-9C4B4D69BBDD}" type="slidenum">
              <a:rPr lang="fr-FR" smtClean="0"/>
              <a:t>13</a:t>
            </a:fld>
            <a:endParaRPr lang="fr-FR"/>
          </a:p>
        </p:txBody>
      </p:sp>
    </p:spTree>
    <p:extLst>
      <p:ext uri="{BB962C8B-B14F-4D97-AF65-F5344CB8AC3E}">
        <p14:creationId xmlns:p14="http://schemas.microsoft.com/office/powerpoint/2010/main" val="503262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a:latin typeface="Candara"/>
                <a:cs typeface="Candara"/>
              </a:rPr>
              <a:t>De plus on remarque que le temps</a:t>
            </a:r>
            <a:r>
              <a:rPr lang="fr-FR" baseline="0">
                <a:latin typeface="Candara"/>
                <a:cs typeface="Candara"/>
              </a:rPr>
              <a:t> de reconstitution d’un stock est très court devant le temps de consommation.</a:t>
            </a:r>
          </a:p>
          <a:p>
            <a:endParaRPr lang="fr-FR" baseline="0">
              <a:latin typeface="Candara"/>
              <a:cs typeface="Candara"/>
            </a:endParaRPr>
          </a:p>
          <a:p>
            <a:r>
              <a:rPr lang="fr-FR" baseline="0">
                <a:latin typeface="Candara"/>
                <a:cs typeface="Candara"/>
              </a:rPr>
              <a:t>Cela implique que :</a:t>
            </a:r>
          </a:p>
          <a:p>
            <a:pPr marL="171450" indent="-171450">
              <a:buFont typeface="Arial"/>
              <a:buChar char="•"/>
            </a:pPr>
            <a:r>
              <a:rPr lang="fr-FR" baseline="0">
                <a:latin typeface="Candara"/>
                <a:cs typeface="Candara"/>
              </a:rPr>
              <a:t>Le </a:t>
            </a:r>
            <a:r>
              <a:rPr lang="fr-FR" sz="1200" baseline="0">
                <a:latin typeface="Candara"/>
                <a:cs typeface="Candara"/>
              </a:rPr>
              <a:t>stock évolue en dents de scie entre 0 et Q (quantité reçue à chaque livraison)</a:t>
            </a:r>
          </a:p>
          <a:p>
            <a:pPr marL="171450" indent="-171450">
              <a:buFont typeface="Arial"/>
              <a:buChar char="•"/>
            </a:pPr>
            <a:r>
              <a:rPr lang="fr-FR" sz="1200" baseline="0">
                <a:latin typeface="Candara"/>
                <a:cs typeface="Candara"/>
              </a:rPr>
              <a:t>Le stock moyen est Q/2</a:t>
            </a:r>
          </a:p>
          <a:p>
            <a:pPr marL="171450" indent="-171450">
              <a:buFont typeface="Arial"/>
              <a:buChar char="•"/>
            </a:pPr>
            <a:r>
              <a:rPr lang="fr-FR" sz="1200">
                <a:latin typeface="Candara"/>
                <a:cs typeface="Candara"/>
              </a:rPr>
              <a:t>Coût de possession : proportionnel à Q/2</a:t>
            </a:r>
          </a:p>
          <a:p>
            <a:pPr marL="171450" indent="-171450">
              <a:buFont typeface="Arial"/>
              <a:buChar char="•"/>
            </a:pPr>
            <a:r>
              <a:rPr lang="fr-FR" sz="1200">
                <a:latin typeface="Candara"/>
                <a:cs typeface="Candara"/>
              </a:rPr>
              <a:t>Nombre d</a:t>
            </a:r>
            <a:r>
              <a:rPr lang="ja-JP" altLang="fr-FR" sz="1200">
                <a:latin typeface="Candara"/>
                <a:cs typeface="Candara"/>
              </a:rPr>
              <a:t>’</a:t>
            </a:r>
            <a:r>
              <a:rPr lang="fr-FR" sz="1200">
                <a:latin typeface="Candara"/>
                <a:cs typeface="Candara"/>
              </a:rPr>
              <a:t>acquisition par an : proportionnel à 1/Q (</a:t>
            </a:r>
            <a:r>
              <a:rPr lang="fr-FR" sz="1200" baseline="0">
                <a:latin typeface="Candara"/>
                <a:cs typeface="Candara"/>
              </a:rPr>
              <a:t>Le nombre de livraisons est inversement proportionnel à Q (plus Q est élevé, moins on aura de livraison et inversement))</a:t>
            </a:r>
          </a:p>
          <a:p>
            <a:pPr marL="171450" indent="-171450">
              <a:buFont typeface="Arial"/>
              <a:buChar char="•"/>
            </a:pPr>
            <a:r>
              <a:rPr lang="fr-FR" sz="1200">
                <a:latin typeface="Candara"/>
                <a:cs typeface="Candara"/>
              </a:rPr>
              <a:t>Coût d</a:t>
            </a:r>
            <a:r>
              <a:rPr lang="ja-JP" altLang="fr-FR" sz="1200">
                <a:latin typeface="Candara"/>
                <a:cs typeface="Candara"/>
              </a:rPr>
              <a:t>’</a:t>
            </a:r>
            <a:r>
              <a:rPr lang="fr-FR" sz="1200">
                <a:latin typeface="Candara"/>
                <a:cs typeface="Candara"/>
              </a:rPr>
              <a:t>acquisition : proportionnel à 1/Q</a:t>
            </a:r>
          </a:p>
        </p:txBody>
      </p:sp>
      <p:sp>
        <p:nvSpPr>
          <p:cNvPr id="4" name="Espace réservé du numéro de diapositive 3"/>
          <p:cNvSpPr>
            <a:spLocks noGrp="1"/>
          </p:cNvSpPr>
          <p:nvPr>
            <p:ph type="sldNum" sz="quarter" idx="10"/>
          </p:nvPr>
        </p:nvSpPr>
        <p:spPr/>
        <p:txBody>
          <a:bodyPr/>
          <a:lstStyle/>
          <a:p>
            <a:fld id="{28E02E59-E056-894D-865B-9C4B4D69BBDD}" type="slidenum">
              <a:rPr lang="fr-FR" smtClean="0"/>
              <a:t>14</a:t>
            </a:fld>
            <a:endParaRPr lang="fr-FR"/>
          </a:p>
        </p:txBody>
      </p:sp>
    </p:spTree>
    <p:extLst>
      <p:ext uri="{BB962C8B-B14F-4D97-AF65-F5344CB8AC3E}">
        <p14:creationId xmlns:p14="http://schemas.microsoft.com/office/powerpoint/2010/main" val="1123816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a:t>Stock de roulement = stock qui n’est</a:t>
            </a:r>
            <a:r>
              <a:rPr lang="fr-FR" baseline="0"/>
              <a:t> pas celui de sécurité</a:t>
            </a:r>
            <a:endParaRPr lang="fr-FR"/>
          </a:p>
        </p:txBody>
      </p:sp>
      <p:sp>
        <p:nvSpPr>
          <p:cNvPr id="4" name="Espace réservé du numéro de diapositive 3"/>
          <p:cNvSpPr>
            <a:spLocks noGrp="1"/>
          </p:cNvSpPr>
          <p:nvPr>
            <p:ph type="sldNum" sz="quarter" idx="10"/>
          </p:nvPr>
        </p:nvSpPr>
        <p:spPr/>
        <p:txBody>
          <a:bodyPr/>
          <a:lstStyle/>
          <a:p>
            <a:fld id="{28E02E59-E056-894D-865B-9C4B4D69BBDD}" type="slidenum">
              <a:rPr lang="fr-FR" smtClean="0"/>
              <a:t>15</a:t>
            </a:fld>
            <a:endParaRPr lang="fr-FR"/>
          </a:p>
        </p:txBody>
      </p:sp>
    </p:spTree>
    <p:extLst>
      <p:ext uri="{BB962C8B-B14F-4D97-AF65-F5344CB8AC3E}">
        <p14:creationId xmlns:p14="http://schemas.microsoft.com/office/powerpoint/2010/main" val="4143190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a:t>Ici Z n’est plus le coût total mais le coût d’approvisionnement (le coût d’achat n’est</a:t>
            </a:r>
            <a:r>
              <a:rPr lang="fr-FR" baseline="0"/>
              <a:t> donc pas pris en compte vu que pour l’</a:t>
            </a:r>
            <a:r>
              <a:rPr lang="fr-FR" baseline="0" err="1"/>
              <a:t>appro</a:t>
            </a:r>
            <a:r>
              <a:rPr lang="fr-FR" baseline="0"/>
              <a:t> seuls le coût d’acquisition et le coût de détention nous intéressent)</a:t>
            </a:r>
            <a:endParaRPr lang="fr-FR"/>
          </a:p>
        </p:txBody>
      </p:sp>
      <p:sp>
        <p:nvSpPr>
          <p:cNvPr id="4" name="Espace réservé du numéro de diapositive 3"/>
          <p:cNvSpPr>
            <a:spLocks noGrp="1"/>
          </p:cNvSpPr>
          <p:nvPr>
            <p:ph type="sldNum" sz="quarter" idx="10"/>
          </p:nvPr>
        </p:nvSpPr>
        <p:spPr/>
        <p:txBody>
          <a:bodyPr/>
          <a:lstStyle/>
          <a:p>
            <a:fld id="{28E02E59-E056-894D-865B-9C4B4D69BBDD}" type="slidenum">
              <a:rPr lang="fr-FR" smtClean="0"/>
              <a:t>17</a:t>
            </a:fld>
            <a:endParaRPr lang="fr-FR"/>
          </a:p>
        </p:txBody>
      </p:sp>
    </p:spTree>
    <p:extLst>
      <p:ext uri="{BB962C8B-B14F-4D97-AF65-F5344CB8AC3E}">
        <p14:creationId xmlns:p14="http://schemas.microsoft.com/office/powerpoint/2010/main" val="1869268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a:t>On peut remarquer que les deux formules pour n*</a:t>
            </a:r>
            <a:r>
              <a:rPr lang="fr-FR" baseline="0"/>
              <a:t> et q* sont équivalentes puisque n=S/q</a:t>
            </a:r>
            <a:endParaRPr lang="fr-FR"/>
          </a:p>
          <a:p>
            <a:endParaRPr lang="fr-FR"/>
          </a:p>
          <a:p>
            <a:r>
              <a:rPr lang="fr-FR"/>
              <a:t>Les résultats de ces formules sont à prendre avec</a:t>
            </a:r>
            <a:r>
              <a:rPr lang="fr-FR" baseline="0"/>
              <a:t> prudence vu les hypothèses très restrictives de la formule (pas de rabais, pas de seuil, pas de prise en compte de la nature du produit…).</a:t>
            </a:r>
          </a:p>
          <a:p>
            <a:endParaRPr lang="fr-FR" baseline="0"/>
          </a:p>
          <a:p>
            <a:r>
              <a:rPr lang="fr-FR" baseline="0"/>
              <a:t>Cette formule indique les zones de valeurs dans lesquelles se situer. Une variation de 10% sur q ne conduit qu’à une variation de 0,5% sur le coût (2,5% pour 20% sur q).</a:t>
            </a:r>
          </a:p>
        </p:txBody>
      </p:sp>
      <p:sp>
        <p:nvSpPr>
          <p:cNvPr id="4" name="Espace réservé du numéro de diapositive 3"/>
          <p:cNvSpPr>
            <a:spLocks noGrp="1"/>
          </p:cNvSpPr>
          <p:nvPr>
            <p:ph type="sldNum" sz="quarter" idx="10"/>
          </p:nvPr>
        </p:nvSpPr>
        <p:spPr/>
        <p:txBody>
          <a:bodyPr/>
          <a:lstStyle/>
          <a:p>
            <a:fld id="{28E02E59-E056-894D-865B-9C4B4D69BBDD}" type="slidenum">
              <a:rPr lang="fr-FR" smtClean="0"/>
              <a:t>18</a:t>
            </a:fld>
            <a:endParaRPr lang="fr-FR"/>
          </a:p>
        </p:txBody>
      </p:sp>
    </p:spTree>
    <p:extLst>
      <p:ext uri="{BB962C8B-B14F-4D97-AF65-F5344CB8AC3E}">
        <p14:creationId xmlns:p14="http://schemas.microsoft.com/office/powerpoint/2010/main" val="1010301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Linux Biolinum G" pitchFamily="2" charset="0"/>
              <a:ea typeface="Linux Biolinum G" pitchFamily="2" charset="0"/>
              <a:cs typeface="Linux Biolinum G" pitchFamily="2" charset="0"/>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b="1">
              <a:effectLst>
                <a:outerShdw blurRad="38100" dist="38100" dir="2700000" algn="tl">
                  <a:srgbClr val="000000">
                    <a:alpha val="43137"/>
                  </a:srgbClr>
                </a:outerShdw>
              </a:effectLst>
              <a:latin typeface="Arial Black" panose="020B0A04020102020204" pitchFamily="34" charset="0"/>
              <a:ea typeface="Linux Biolinum G" pitchFamily="2" charset="0"/>
              <a:cs typeface="Linux Biolinum G" pitchFamily="2" charset="0"/>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Linux Biolinum G" pitchFamily="2" charset="0"/>
              <a:ea typeface="Linux Biolinum G" pitchFamily="2" charset="0"/>
              <a:cs typeface="Linux Biolinum G" pitchFamily="2" charset="0"/>
            </a:endParaRPr>
          </a:p>
        </p:txBody>
      </p:sp>
      <p:sp>
        <p:nvSpPr>
          <p:cNvPr id="8" name="Titre 7"/>
          <p:cNvSpPr>
            <a:spLocks noGrp="1"/>
          </p:cNvSpPr>
          <p:nvPr>
            <p:ph type="ctrTitle"/>
          </p:nvPr>
        </p:nvSpPr>
        <p:spPr>
          <a:xfrm>
            <a:off x="2362200" y="4038600"/>
            <a:ext cx="6477000" cy="1828800"/>
          </a:xfrm>
        </p:spPr>
        <p:txBody>
          <a:bodyPr anchor="b"/>
          <a:lstStyle>
            <a:lvl1pPr>
              <a:defRPr cap="all" baseline="0">
                <a:solidFill>
                  <a:schemeClr val="tx1">
                    <a:lumMod val="95000"/>
                  </a:schemeClr>
                </a:solidFill>
                <a:latin typeface="Arial Black" panose="020B0A04020102020204" pitchFamily="34" charset="0"/>
                <a:ea typeface="Arial Black" panose="020B0A04020102020204" pitchFamily="34" charset="0"/>
                <a:cs typeface="Arial Black" panose="020B0A04020102020204" pitchFamily="34" charset="0"/>
              </a:defRPr>
            </a:lvl1pPr>
          </a:lstStyle>
          <a:p>
            <a:r>
              <a:rPr kumimoji="0" lang="fr-FR"/>
              <a:t>Modifiez le style du titre</a:t>
            </a:r>
            <a:endParaRPr kumimoji="0" lang="en-US"/>
          </a:p>
        </p:txBody>
      </p:sp>
      <p:sp>
        <p:nvSpPr>
          <p:cNvPr id="9" name="Sous-titre 8"/>
          <p:cNvSpPr>
            <a:spLocks noGrp="1"/>
          </p:cNvSpPr>
          <p:nvPr>
            <p:ph type="subTitle" idx="1"/>
          </p:nvPr>
        </p:nvSpPr>
        <p:spPr>
          <a:xfrm>
            <a:off x="2362200" y="6050037"/>
            <a:ext cx="6705600" cy="685800"/>
          </a:xfrm>
        </p:spPr>
        <p:txBody>
          <a:bodyPr anchor="ctr">
            <a:noAutofit/>
          </a:bodyPr>
          <a:lstStyle>
            <a:lvl1pPr marL="0" indent="0" algn="l">
              <a:buNone/>
              <a:defRPr sz="2000">
                <a:solidFill>
                  <a:srgbClr val="FFFFFF"/>
                </a:solidFill>
                <a:latin typeface="Arial Black" panose="020B0A04020102020204" pitchFamily="34" charset="0"/>
                <a:ea typeface="Arial Black" panose="020B0A04020102020204" pitchFamily="34" charset="0"/>
                <a:cs typeface="Arial Black" panose="020B0A040201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Modifiez le style des sous-titres du masque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1371600" y="2743200"/>
            <a:ext cx="7123113" cy="1673225"/>
          </a:xfrm>
        </p:spPr>
        <p:txBody>
          <a:bodyPr anchor="t"/>
          <a:lstStyle>
            <a:lvl1pPr marL="0" indent="0">
              <a:buNone/>
              <a:defRPr sz="2800">
                <a:solidFill>
                  <a:schemeClr val="tx2"/>
                </a:solidFill>
                <a:latin typeface="+mn-lt"/>
                <a:ea typeface="Linux Biolinum G" pitchFamily="2" charset="0"/>
                <a:cs typeface="Linux Biolinum G" pitchFamily="2" charset="0"/>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Modifiez les styles du texte du masque</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Linux Biolinum G" pitchFamily="2" charset="0"/>
              <a:ea typeface="Linux Biolinum G" pitchFamily="2" charset="0"/>
              <a:cs typeface="Linux Biolinum G" pitchFamily="2" charset="0"/>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Linux Biolinum G" pitchFamily="2" charset="0"/>
              <a:ea typeface="Linux Biolinum G" pitchFamily="2" charset="0"/>
              <a:cs typeface="Linux Biolinum G" pitchFamily="2" charset="0"/>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Linux Biolinum G" pitchFamily="2" charset="0"/>
              <a:ea typeface="Linux Biolinum G" pitchFamily="2" charset="0"/>
              <a:cs typeface="Linux Biolinum G" pitchFamily="2" charset="0"/>
            </a:endParaRPr>
          </a:p>
        </p:txBody>
      </p:sp>
      <p:sp>
        <p:nvSpPr>
          <p:cNvPr id="2" name="Titre 1"/>
          <p:cNvSpPr>
            <a:spLocks noGrp="1"/>
          </p:cNvSpPr>
          <p:nvPr>
            <p:ph type="title"/>
          </p:nvPr>
        </p:nvSpPr>
        <p:spPr>
          <a:xfrm>
            <a:off x="1371600" y="1600200"/>
            <a:ext cx="7620000" cy="990600"/>
          </a:xfrm>
        </p:spPr>
        <p:txBody>
          <a:bodyPr>
            <a:normAutofit/>
          </a:bodyPr>
          <a:lstStyle>
            <a:lvl1pPr algn="l">
              <a:buNone/>
              <a:defRPr sz="4000" b="1" cap="small" baseline="0">
                <a:solidFill>
                  <a:srgbClr val="FFFFFF"/>
                </a:solidFill>
                <a:effectLst>
                  <a:outerShdw blurRad="38100" dist="38100" dir="2700000" algn="tl">
                    <a:srgbClr val="000000">
                      <a:alpha val="43137"/>
                    </a:srgbClr>
                  </a:outerShdw>
                </a:effectLst>
                <a:latin typeface="Arial Black" panose="020B0A04020102020204" pitchFamily="34" charset="0"/>
                <a:ea typeface="Arial Black" panose="020B0A04020102020204" pitchFamily="34" charset="0"/>
                <a:cs typeface="Arial Black" panose="020B0A04020102020204" pitchFamily="34" charset="0"/>
              </a:defRPr>
            </a:lvl1pPr>
          </a:lstStyle>
          <a:p>
            <a:r>
              <a:rPr kumimoji="0" lang="fr-FR"/>
              <a:t>Modifiez le style du titre</a:t>
            </a:r>
            <a:endParaRPr kumimoji="0" lang="en-US"/>
          </a:p>
        </p:txBody>
      </p:sp>
      <p:sp>
        <p:nvSpPr>
          <p:cNvPr id="13" name="Espace réservé du numéro de diapositive 12"/>
          <p:cNvSpPr>
            <a:spLocks noGrp="1"/>
          </p:cNvSpPr>
          <p:nvPr>
            <p:ph type="sldNum" sz="quarter" idx="11"/>
          </p:nvPr>
        </p:nvSpPr>
        <p:spPr>
          <a:xfrm>
            <a:off x="0" y="1752600"/>
            <a:ext cx="1295400" cy="701676"/>
          </a:xfrm>
        </p:spPr>
        <p:txBody>
          <a:bodyPr>
            <a:noAutofit/>
          </a:bodyPr>
          <a:lstStyle>
            <a:lvl1pPr>
              <a:defRPr sz="2000">
                <a:solidFill>
                  <a:srgbClr val="FFFFFF"/>
                </a:solidFill>
                <a:latin typeface="Arial Black" panose="020B0A04020102020204" pitchFamily="34" charset="0"/>
                <a:ea typeface="Arial Black" panose="020B0A04020102020204" pitchFamily="34" charset="0"/>
                <a:cs typeface="Arial Black" panose="020B0A04020102020204" pitchFamily="34" charset="0"/>
              </a:defRPr>
            </a:lvl1pPr>
          </a:lstStyle>
          <a:p>
            <a:fld id="{BD146C00-CF3E-4938-A2C5-B6969EAD70D4}" type="slidenum">
              <a:rPr lang="fr-FR" smtClean="0"/>
              <a:pPr/>
              <a:t>‹#›</a:t>
            </a:fld>
            <a:endParaRPr lang="fr-FR"/>
          </a:p>
        </p:txBody>
      </p:sp>
      <p:pic>
        <p:nvPicPr>
          <p:cNvPr id="10" name="Picture 2"/>
          <p:cNvPicPr/>
          <p:nvPr userDrawn="1"/>
        </p:nvPicPr>
        <p:blipFill>
          <a:blip r:embed="rId2">
            <a:extLst>
              <a:ext uri="{28A0092B-C50C-407E-A947-70E740481C1C}">
                <a14:useLocalDpi xmlns:a14="http://schemas.microsoft.com/office/drawing/2010/main" val="0"/>
              </a:ext>
            </a:extLst>
          </a:blip>
          <a:srcRect t="8928" b="20416"/>
          <a:stretch>
            <a:fillRect/>
          </a:stretch>
        </p:blipFill>
        <p:spPr bwMode="auto">
          <a:xfrm>
            <a:off x="7316850" y="6137703"/>
            <a:ext cx="1826695" cy="720297"/>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lvl1pPr>
              <a:defRPr sz="3600" b="1" cap="small" baseline="0">
                <a:effectLst>
                  <a:outerShdw blurRad="38100" dist="38100" dir="2700000" algn="tl">
                    <a:srgbClr val="000000">
                      <a:alpha val="43137"/>
                    </a:srgbClr>
                  </a:outerShdw>
                </a:effectLst>
                <a:latin typeface="Arial Black" panose="020B0A04020102020204" pitchFamily="34" charset="0"/>
                <a:ea typeface="Arial Black" panose="020B0A04020102020204" pitchFamily="34" charset="0"/>
                <a:cs typeface="Arial Black" panose="020B0A04020102020204" pitchFamily="34" charset="0"/>
              </a:defRPr>
            </a:lvl1pPr>
          </a:lstStyle>
          <a:p>
            <a:r>
              <a:rPr lang="fr-FR"/>
              <a:t>Modifiez le style du titre</a:t>
            </a:r>
          </a:p>
        </p:txBody>
      </p:sp>
      <p:sp>
        <p:nvSpPr>
          <p:cNvPr id="3" name="Espace réservé du numéro de diapositive 2"/>
          <p:cNvSpPr>
            <a:spLocks noGrp="1"/>
          </p:cNvSpPr>
          <p:nvPr>
            <p:ph type="sldNum" sz="quarter" idx="10"/>
          </p:nvPr>
        </p:nvSpPr>
        <p:spPr>
          <a:xfrm>
            <a:off x="0" y="1297623"/>
            <a:ext cx="533400" cy="244476"/>
          </a:xfrm>
        </p:spPr>
        <p:txBody>
          <a:bodyPr/>
          <a:lstStyle>
            <a:lvl1pPr>
              <a:defRPr sz="1200">
                <a:latin typeface="Arial Black" panose="020B0A04020102020204" pitchFamily="34" charset="0"/>
                <a:ea typeface="Arial Black" panose="020B0A04020102020204" pitchFamily="34" charset="0"/>
                <a:cs typeface="Arial Black" panose="020B0A04020102020204" pitchFamily="34" charset="0"/>
              </a:defRPr>
            </a:lvl1pPr>
          </a:lstStyle>
          <a:p>
            <a:fld id="{BD146C00-CF3E-4938-A2C5-B6969EAD70D4}" type="slidenum">
              <a:rPr lang="fr-FR" smtClean="0"/>
              <a:pPr/>
              <a:t>‹#›</a:t>
            </a:fld>
            <a:endParaRPr lang="fr-FR"/>
          </a:p>
        </p:txBody>
      </p:sp>
      <p:sp>
        <p:nvSpPr>
          <p:cNvPr id="7" name="Espace réservé du texte 6"/>
          <p:cNvSpPr>
            <a:spLocks noGrp="1"/>
          </p:cNvSpPr>
          <p:nvPr>
            <p:ph type="body" sz="quarter" idx="12"/>
          </p:nvPr>
        </p:nvSpPr>
        <p:spPr>
          <a:xfrm>
            <a:off x="611561" y="1628775"/>
            <a:ext cx="8136904" cy="4824413"/>
          </a:xfrm>
        </p:spPr>
        <p:txBody>
          <a:bodyPr/>
          <a:lstStyle>
            <a:lvl1pPr marL="320040" indent="-320040">
              <a:buSzPct val="80000"/>
              <a:buFont typeface="Wingdings" pitchFamily="2" charset="2"/>
              <a:buChar char="Ø"/>
              <a:defRPr>
                <a:latin typeface="+mn-lt"/>
                <a:ea typeface="Linux Biolinum G" pitchFamily="2" charset="0"/>
                <a:cs typeface="Linux Biolinum G" pitchFamily="2" charset="0"/>
              </a:defRPr>
            </a:lvl1pPr>
            <a:lvl2pPr>
              <a:defRPr>
                <a:latin typeface="+mn-lt"/>
                <a:ea typeface="Linux Biolinum G" pitchFamily="2" charset="0"/>
                <a:cs typeface="Linux Biolinum G" pitchFamily="2" charset="0"/>
              </a:defRPr>
            </a:lvl2pPr>
            <a:lvl3pPr>
              <a:defRPr>
                <a:latin typeface="+mn-lt"/>
                <a:ea typeface="Linux Biolinum G" pitchFamily="2" charset="0"/>
                <a:cs typeface="Linux Biolinum G" pitchFamily="2" charset="0"/>
              </a:defRPr>
            </a:lvl3pPr>
            <a:lvl4pPr>
              <a:defRPr>
                <a:latin typeface="+mn-lt"/>
                <a:ea typeface="Linux Biolinum G" pitchFamily="2" charset="0"/>
                <a:cs typeface="Linux Biolinum G" pitchFamily="2" charset="0"/>
              </a:defRPr>
            </a:lvl4pPr>
            <a:lvl5pPr>
              <a:defRPr>
                <a:latin typeface="+mn-lt"/>
                <a:ea typeface="Linux Biolinum G" pitchFamily="2" charset="0"/>
                <a:cs typeface="Linux Biolinum G" pitchFamily="2"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5" name="Picture 2"/>
          <p:cNvPicPr/>
          <p:nvPr userDrawn="1"/>
        </p:nvPicPr>
        <p:blipFill>
          <a:blip r:embed="rId2">
            <a:extLst>
              <a:ext uri="{28A0092B-C50C-407E-A947-70E740481C1C}">
                <a14:useLocalDpi xmlns:a14="http://schemas.microsoft.com/office/drawing/2010/main" val="0"/>
              </a:ext>
            </a:extLst>
          </a:blip>
          <a:srcRect t="8928" b="20416"/>
          <a:stretch>
            <a:fillRect/>
          </a:stretch>
        </p:blipFill>
        <p:spPr bwMode="auto">
          <a:xfrm>
            <a:off x="7317305" y="363751"/>
            <a:ext cx="1826695" cy="720297"/>
          </a:xfrm>
          <a:prstGeom prst="rect">
            <a:avLst/>
          </a:prstGeom>
          <a:noFill/>
          <a:ln>
            <a:noFill/>
          </a:ln>
        </p:spPr>
      </p:pic>
    </p:spTree>
    <p:extLst>
      <p:ext uri="{BB962C8B-B14F-4D97-AF65-F5344CB8AC3E}">
        <p14:creationId xmlns:p14="http://schemas.microsoft.com/office/powerpoint/2010/main" val="3044705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p:txBody>
          <a:bodyPr/>
          <a:lstStyle/>
          <a:p>
            <a:fld id="{BD146C00-CF3E-4938-A2C5-B6969EAD70D4}" type="slidenum">
              <a:rPr lang="fr-FR" smtClean="0"/>
              <a:pPr/>
              <a:t>‹#›</a:t>
            </a:fld>
            <a:endParaRPr lang="fr-FR"/>
          </a:p>
        </p:txBody>
      </p:sp>
    </p:spTree>
    <p:extLst>
      <p:ext uri="{BB962C8B-B14F-4D97-AF65-F5344CB8AC3E}">
        <p14:creationId xmlns:p14="http://schemas.microsoft.com/office/powerpoint/2010/main" val="9319342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1256029"/>
            <a:ext cx="9144000" cy="3048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Linux Biolinum G" pitchFamily="2" charset="0"/>
              <a:ea typeface="Linux Biolinum G" pitchFamily="2" charset="0"/>
              <a:cs typeface="Linux Biolinum G" pitchFamily="2" charset="0"/>
            </a:endParaRPr>
          </a:p>
        </p:txBody>
      </p:sp>
      <p:sp>
        <p:nvSpPr>
          <p:cNvPr id="22" name="Espace réservé du titre 21"/>
          <p:cNvSpPr>
            <a:spLocks noGrp="1"/>
          </p:cNvSpPr>
          <p:nvPr>
            <p:ph type="title"/>
          </p:nvPr>
        </p:nvSpPr>
        <p:spPr>
          <a:xfrm>
            <a:off x="609600" y="228600"/>
            <a:ext cx="8153400" cy="990600"/>
          </a:xfrm>
          <a:prstGeom prst="rect">
            <a:avLst/>
          </a:prstGeom>
        </p:spPr>
        <p:txBody>
          <a:bodyPr vert="horz" anchor="ctr">
            <a:normAutofit/>
          </a:bodyPr>
          <a:lstStyle/>
          <a:p>
            <a:r>
              <a:rPr kumimoji="0" lang="fr-FR"/>
              <a:t>Modifiez le style du titre</a:t>
            </a:r>
            <a:endParaRPr kumimoji="0" lang="en-US"/>
          </a:p>
        </p:txBody>
      </p:sp>
      <p:sp>
        <p:nvSpPr>
          <p:cNvPr id="13" name="Espace réservé du texte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fr-FR"/>
              <a:t>Modifiez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8" name="Rectangle 7"/>
          <p:cNvSpPr/>
          <p:nvPr/>
        </p:nvSpPr>
        <p:spPr>
          <a:xfrm>
            <a:off x="0" y="1294129"/>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Linux Biolinum G" pitchFamily="2" charset="0"/>
              <a:ea typeface="Linux Biolinum G" pitchFamily="2" charset="0"/>
              <a:cs typeface="Linux Biolinum G" pitchFamily="2" charset="0"/>
            </a:endParaRPr>
          </a:p>
        </p:txBody>
      </p:sp>
      <p:sp>
        <p:nvSpPr>
          <p:cNvPr id="9" name="Rectangle 8"/>
          <p:cNvSpPr/>
          <p:nvPr/>
        </p:nvSpPr>
        <p:spPr>
          <a:xfrm>
            <a:off x="590550" y="1294129"/>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latin typeface="Linux Biolinum G" pitchFamily="2" charset="0"/>
              <a:ea typeface="Linux Biolinum G" pitchFamily="2" charset="0"/>
              <a:cs typeface="Linux Biolinum G" pitchFamily="2" charset="0"/>
            </a:endParaRPr>
          </a:p>
        </p:txBody>
      </p:sp>
      <p:sp>
        <p:nvSpPr>
          <p:cNvPr id="23" name="Espace réservé du numéro de diapositive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latin typeface="Linux Biolinum G" pitchFamily="2" charset="0"/>
                <a:ea typeface="Linux Biolinum G" pitchFamily="2" charset="0"/>
                <a:cs typeface="Linux Biolinum G" pitchFamily="2" charset="0"/>
              </a:defRPr>
            </a:lvl1pPr>
          </a:lstStyle>
          <a:p>
            <a:fld id="{BD146C00-CF3E-4938-A2C5-B6969EAD70D4}"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97" r:id="rId1"/>
    <p:sldLayoutId id="2147483699" r:id="rId2"/>
    <p:sldLayoutId id="2147483700" r:id="rId3"/>
    <p:sldLayoutId id="2147483701" r:id="rId4"/>
  </p:sldLayoutIdLst>
  <p:hf hdr="0" dt="0"/>
  <p:txStyles>
    <p:titleStyle>
      <a:lvl1pPr algn="l" rtl="0" eaLnBrk="1" latinLnBrk="0" hangingPunct="1">
        <a:spcBef>
          <a:spcPct val="0"/>
        </a:spcBef>
        <a:buNone/>
        <a:defRPr kumimoji="0" sz="3600" b="1" kern="1200">
          <a:solidFill>
            <a:schemeClr val="tx2"/>
          </a:solidFill>
          <a:effectLst>
            <a:outerShdw blurRad="38100" dist="38100" dir="2700000" algn="tl">
              <a:srgbClr val="000000">
                <a:alpha val="43137"/>
              </a:srgbClr>
            </a:outerShdw>
          </a:effectLst>
          <a:latin typeface="Arial Black" panose="020B0A04020102020204" pitchFamily="34" charset="0"/>
          <a:ea typeface="Arial Black" panose="020B0A04020102020204" pitchFamily="34" charset="0"/>
          <a:cs typeface="Arial Black" panose="020B0A04020102020204" pitchFamily="34" charset="0"/>
        </a:defRPr>
      </a:lvl1pPr>
    </p:titleStyle>
    <p:bodyStyle>
      <a:lvl1pPr marL="320040" indent="-320040" algn="l" rtl="0" eaLnBrk="1" latinLnBrk="0" hangingPunct="1">
        <a:spcBef>
          <a:spcPts val="700"/>
        </a:spcBef>
        <a:buClr>
          <a:schemeClr val="accent2"/>
        </a:buClr>
        <a:buSzPct val="60000"/>
        <a:buFont typeface="Wingdings"/>
        <a:buChar char=""/>
        <a:defRPr kumimoji="0" sz="2400" kern="1200">
          <a:solidFill>
            <a:schemeClr val="tx1"/>
          </a:solidFill>
          <a:latin typeface="+mn-lt"/>
          <a:ea typeface="Linux Biolinum G" pitchFamily="2" charset="0"/>
          <a:cs typeface="Linux Biolinum G" pitchFamily="2" charset="0"/>
        </a:defRPr>
      </a:lvl1pPr>
      <a:lvl2pPr marL="640080" indent="-274320" algn="l" rtl="0" eaLnBrk="1" latinLnBrk="0" hangingPunct="1">
        <a:spcBef>
          <a:spcPts val="550"/>
        </a:spcBef>
        <a:buClr>
          <a:schemeClr val="accent1"/>
        </a:buClr>
        <a:buSzPct val="70000"/>
        <a:buFont typeface="Wingdings 2"/>
        <a:buChar char=""/>
        <a:defRPr kumimoji="0" sz="2000" kern="1200">
          <a:solidFill>
            <a:schemeClr val="tx1"/>
          </a:solidFill>
          <a:latin typeface="+mn-lt"/>
          <a:ea typeface="Linux Biolinum G" pitchFamily="2" charset="0"/>
          <a:cs typeface="Linux Biolinum G" pitchFamily="2" charset="0"/>
        </a:defRPr>
      </a:lvl2pPr>
      <a:lvl3pPr marL="914400" indent="-228600" algn="l" rtl="0" eaLnBrk="1" latinLnBrk="0" hangingPunct="1">
        <a:spcBef>
          <a:spcPts val="500"/>
        </a:spcBef>
        <a:buClr>
          <a:schemeClr val="accent2"/>
        </a:buClr>
        <a:buSzPct val="75000"/>
        <a:buFont typeface="Wingdings"/>
        <a:buChar char=""/>
        <a:defRPr kumimoji="0" sz="1800" kern="1200">
          <a:solidFill>
            <a:schemeClr val="tx1"/>
          </a:solidFill>
          <a:latin typeface="+mn-lt"/>
          <a:ea typeface="Linux Biolinum G" pitchFamily="2" charset="0"/>
          <a:cs typeface="Linux Biolinum G" pitchFamily="2" charset="0"/>
        </a:defRPr>
      </a:lvl3pPr>
      <a:lvl4pPr marL="1371600" indent="-228600" algn="l" rtl="0" eaLnBrk="1" latinLnBrk="0" hangingPunct="1">
        <a:spcBef>
          <a:spcPts val="400"/>
        </a:spcBef>
        <a:buClr>
          <a:schemeClr val="accent3"/>
        </a:buClr>
        <a:buSzPct val="75000"/>
        <a:buFont typeface="Wingdings"/>
        <a:buChar char=""/>
        <a:defRPr kumimoji="0" sz="1600" kern="1200">
          <a:solidFill>
            <a:schemeClr val="tx1"/>
          </a:solidFill>
          <a:latin typeface="+mn-lt"/>
          <a:ea typeface="Linux Biolinum G" pitchFamily="2" charset="0"/>
          <a:cs typeface="Linux Biolinum G" pitchFamily="2" charset="0"/>
        </a:defRPr>
      </a:lvl4pPr>
      <a:lvl5pPr marL="1828800" indent="-228600" algn="l" rtl="0" eaLnBrk="1" latinLnBrk="0" hangingPunct="1">
        <a:spcBef>
          <a:spcPts val="400"/>
        </a:spcBef>
        <a:buClr>
          <a:schemeClr val="accent4"/>
        </a:buClr>
        <a:buSzPct val="65000"/>
        <a:buFont typeface="Wingdings"/>
        <a:buChar char=""/>
        <a:defRPr kumimoji="0" sz="1600" kern="1200">
          <a:solidFill>
            <a:schemeClr val="tx1"/>
          </a:solidFill>
          <a:latin typeface="+mn-lt"/>
          <a:ea typeface="Linux Biolinum G" pitchFamily="2" charset="0"/>
          <a:cs typeface="Linux Biolinum G" pitchFamily="2" charset="0"/>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3.xml"/><Relationship Id="rId5" Type="http://schemas.openxmlformats.org/officeDocument/2006/relationships/image" Target="../media/image8.w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0.wmf"/><Relationship Id="rId5" Type="http://schemas.openxmlformats.org/officeDocument/2006/relationships/oleObject" Target="../embeddings/oleObject4.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3508" y="476672"/>
            <a:ext cx="8856984" cy="2188840"/>
          </a:xfrm>
        </p:spPr>
        <p:txBody>
          <a:bodyPr>
            <a:normAutofit/>
          </a:bodyPr>
          <a:lstStyle/>
          <a:p>
            <a:pPr algn="ctr"/>
            <a:r>
              <a:rPr lang="fr-FR" sz="4400" cap="small"/>
              <a:t>OSP</a:t>
            </a:r>
            <a:endParaRPr lang="fr-FR" sz="4400" b="1">
              <a:effectLst>
                <a:outerShdw blurRad="38100" dist="38100" dir="2700000" algn="tl">
                  <a:srgbClr val="000000">
                    <a:alpha val="43137"/>
                  </a:srgbClr>
                </a:outerShdw>
              </a:effectLst>
            </a:endParaRPr>
          </a:p>
        </p:txBody>
      </p:sp>
      <p:sp>
        <p:nvSpPr>
          <p:cNvPr id="6" name="ZoneTexte 5"/>
          <p:cNvSpPr txBox="1"/>
          <p:nvPr/>
        </p:nvSpPr>
        <p:spPr>
          <a:xfrm>
            <a:off x="0" y="2978950"/>
            <a:ext cx="9144000" cy="1569660"/>
          </a:xfrm>
          <a:prstGeom prst="rect">
            <a:avLst/>
          </a:prstGeom>
          <a:noFill/>
        </p:spPr>
        <p:txBody>
          <a:bodyPr wrap="square" rtlCol="0">
            <a:spAutoFit/>
          </a:bodyPr>
          <a:lstStyle/>
          <a:p>
            <a:pPr algn="ctr"/>
            <a:endParaRPr lang="fr-FR" sz="3200" cap="small">
              <a:solidFill>
                <a:schemeClr val="tx1">
                  <a:lumMod val="75000"/>
                </a:schemeClr>
              </a:solidFill>
              <a:latin typeface="Arial Black" panose="020B0A04020102020204" pitchFamily="34" charset="0"/>
            </a:endParaRPr>
          </a:p>
          <a:p>
            <a:pPr algn="ctr"/>
            <a:endParaRPr lang="fr-FR" sz="3200" cap="small">
              <a:solidFill>
                <a:schemeClr val="tx1">
                  <a:lumMod val="75000"/>
                </a:schemeClr>
              </a:solidFill>
              <a:latin typeface="Arial Black" panose="020B0A04020102020204" pitchFamily="34" charset="0"/>
            </a:endParaRPr>
          </a:p>
          <a:p>
            <a:pPr algn="ctr"/>
            <a:r>
              <a:rPr lang="fr-FR" sz="3200" cap="small">
                <a:solidFill>
                  <a:schemeClr val="tx1">
                    <a:lumMod val="75000"/>
                  </a:schemeClr>
                </a:solidFill>
                <a:latin typeface="Arial Black" panose="020B0A04020102020204" pitchFamily="34" charset="0"/>
              </a:rPr>
              <a:t>Gestion des stocks</a:t>
            </a:r>
          </a:p>
        </p:txBody>
      </p:sp>
      <p:pic>
        <p:nvPicPr>
          <p:cNvPr id="10" name="Picture 2"/>
          <p:cNvPicPr/>
          <p:nvPr/>
        </p:nvPicPr>
        <p:blipFill>
          <a:blip r:embed="rId3">
            <a:extLst>
              <a:ext uri="{28A0092B-C50C-407E-A947-70E740481C1C}">
                <a14:useLocalDpi xmlns:a14="http://schemas.microsoft.com/office/drawing/2010/main" val="0"/>
              </a:ext>
            </a:extLst>
          </a:blip>
          <a:srcRect t="8928" b="20416"/>
          <a:stretch>
            <a:fillRect/>
          </a:stretch>
        </p:blipFill>
        <p:spPr bwMode="auto">
          <a:xfrm>
            <a:off x="7317305" y="6043100"/>
            <a:ext cx="1826695" cy="720297"/>
          </a:xfrm>
          <a:prstGeom prst="rect">
            <a:avLst/>
          </a:prstGeom>
          <a:noFill/>
          <a:ln>
            <a:noFill/>
          </a:ln>
        </p:spPr>
      </p:pic>
    </p:spTree>
    <p:extLst>
      <p:ext uri="{BB962C8B-B14F-4D97-AF65-F5344CB8AC3E}">
        <p14:creationId xmlns:p14="http://schemas.microsoft.com/office/powerpoint/2010/main" val="2914839248"/>
      </p:ext>
    </p:extLst>
  </p:cSld>
  <p:clrMapOvr>
    <a:masterClrMapping/>
  </p:clrMapOvr>
  <mc:AlternateContent xmlns:mc="http://schemas.openxmlformats.org/markup-compatibility/2006">
    <mc:Choice xmlns:p14="http://schemas.microsoft.com/office/powerpoint/2010/main" Requires="p14">
      <p:transition spd="slow" p14:dur="2000" advTm="25292"/>
    </mc:Choice>
    <mc:Fallback>
      <p:transition spd="slow" advTm="252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89E64AF-5DCC-47E1-8CB0-1030C851E47A}"/>
              </a:ext>
            </a:extLst>
          </p:cNvPr>
          <p:cNvSpPr>
            <a:spLocks noGrp="1"/>
          </p:cNvSpPr>
          <p:nvPr>
            <p:ph type="title"/>
          </p:nvPr>
        </p:nvSpPr>
        <p:spPr/>
        <p:txBody>
          <a:bodyPr/>
          <a:lstStyle/>
          <a:p>
            <a:r>
              <a:rPr lang="fr-FR"/>
              <a:t>Les stocks</a:t>
            </a:r>
          </a:p>
        </p:txBody>
      </p:sp>
      <p:sp>
        <p:nvSpPr>
          <p:cNvPr id="4" name="Espace réservé du numéro de diapositive 3">
            <a:extLst>
              <a:ext uri="{FF2B5EF4-FFF2-40B4-BE49-F238E27FC236}">
                <a16:creationId xmlns:a16="http://schemas.microsoft.com/office/drawing/2014/main" id="{E0482A61-6CF8-451F-9248-895390BAABC7}"/>
              </a:ext>
            </a:extLst>
          </p:cNvPr>
          <p:cNvSpPr>
            <a:spLocks noGrp="1"/>
          </p:cNvSpPr>
          <p:nvPr>
            <p:ph type="sldNum" sz="quarter" idx="10"/>
          </p:nvPr>
        </p:nvSpPr>
        <p:spPr/>
        <p:txBody>
          <a:bodyPr>
            <a:normAutofit fontScale="92500" lnSpcReduction="10000"/>
          </a:bodyPr>
          <a:lstStyle/>
          <a:p>
            <a:fld id="{BD146C00-CF3E-4938-A2C5-B6969EAD70D4}" type="slidenum">
              <a:rPr lang="fr-FR" smtClean="0"/>
              <a:pPr/>
              <a:t>2</a:t>
            </a:fld>
            <a:endParaRPr lang="fr-FR"/>
          </a:p>
        </p:txBody>
      </p:sp>
      <p:cxnSp>
        <p:nvCxnSpPr>
          <p:cNvPr id="6" name="Connecteur droit avec flèche 5">
            <a:extLst>
              <a:ext uri="{FF2B5EF4-FFF2-40B4-BE49-F238E27FC236}">
                <a16:creationId xmlns:a16="http://schemas.microsoft.com/office/drawing/2014/main" id="{974DBA70-7CE1-4E1D-ACBC-2E5A24373E8B}"/>
              </a:ext>
            </a:extLst>
          </p:cNvPr>
          <p:cNvCxnSpPr/>
          <p:nvPr/>
        </p:nvCxnSpPr>
        <p:spPr>
          <a:xfrm>
            <a:off x="1143860" y="4391475"/>
            <a:ext cx="894126"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ABDCC20A-27BB-41E6-8CC1-984A9476AA29}"/>
              </a:ext>
            </a:extLst>
          </p:cNvPr>
          <p:cNvSpPr/>
          <p:nvPr/>
        </p:nvSpPr>
        <p:spPr>
          <a:xfrm>
            <a:off x="2037986" y="4008322"/>
            <a:ext cx="1466981" cy="503590"/>
          </a:xfrm>
          <a:prstGeom prst="rect">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r>
              <a:rPr lang="fr-FR"/>
              <a:t>OPE 1</a:t>
            </a:r>
          </a:p>
        </p:txBody>
      </p:sp>
      <p:sp>
        <p:nvSpPr>
          <p:cNvPr id="9" name="Triangle isocèle 8">
            <a:extLst>
              <a:ext uri="{FF2B5EF4-FFF2-40B4-BE49-F238E27FC236}">
                <a16:creationId xmlns:a16="http://schemas.microsoft.com/office/drawing/2014/main" id="{8C8EF94F-49C8-48F7-97B8-85EEFB4942FD}"/>
              </a:ext>
            </a:extLst>
          </p:cNvPr>
          <p:cNvSpPr/>
          <p:nvPr/>
        </p:nvSpPr>
        <p:spPr>
          <a:xfrm>
            <a:off x="4179614" y="3931758"/>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10" name="Connecteur droit avec flèche 9">
            <a:extLst>
              <a:ext uri="{FF2B5EF4-FFF2-40B4-BE49-F238E27FC236}">
                <a16:creationId xmlns:a16="http://schemas.microsoft.com/office/drawing/2014/main" id="{AEE7E31C-09AD-41BD-9351-B2E2A1CF6F67}"/>
              </a:ext>
            </a:extLst>
          </p:cNvPr>
          <p:cNvCxnSpPr>
            <a:stCxn id="8" idx="3"/>
            <a:endCxn id="9" idx="1"/>
          </p:cNvCxnSpPr>
          <p:nvPr/>
        </p:nvCxnSpPr>
        <p:spPr>
          <a:xfrm>
            <a:off x="3504967" y="4260117"/>
            <a:ext cx="867257" cy="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B217355C-A6CC-457B-AAE3-70E39AA11623}"/>
              </a:ext>
            </a:extLst>
          </p:cNvPr>
          <p:cNvSpPr/>
          <p:nvPr/>
        </p:nvSpPr>
        <p:spPr>
          <a:xfrm>
            <a:off x="5626445" y="4008322"/>
            <a:ext cx="1466981" cy="503590"/>
          </a:xfrm>
          <a:prstGeom prst="rect">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r>
              <a:rPr lang="fr-FR"/>
              <a:t>OPE 2</a:t>
            </a:r>
          </a:p>
        </p:txBody>
      </p:sp>
      <p:cxnSp>
        <p:nvCxnSpPr>
          <p:cNvPr id="12" name="Connecteur droit avec flèche 11">
            <a:extLst>
              <a:ext uri="{FF2B5EF4-FFF2-40B4-BE49-F238E27FC236}">
                <a16:creationId xmlns:a16="http://schemas.microsoft.com/office/drawing/2014/main" id="{569F859B-6726-4BC6-8B9F-6AF35B4BC8A7}"/>
              </a:ext>
            </a:extLst>
          </p:cNvPr>
          <p:cNvCxnSpPr>
            <a:stCxn id="9" idx="5"/>
            <a:endCxn id="11" idx="1"/>
          </p:cNvCxnSpPr>
          <p:nvPr/>
        </p:nvCxnSpPr>
        <p:spPr>
          <a:xfrm flipV="1">
            <a:off x="4757443" y="4260117"/>
            <a:ext cx="869002" cy="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3" name="Triangle isocèle 12">
            <a:extLst>
              <a:ext uri="{FF2B5EF4-FFF2-40B4-BE49-F238E27FC236}">
                <a16:creationId xmlns:a16="http://schemas.microsoft.com/office/drawing/2014/main" id="{C63E0938-4637-40DF-BB0B-E3F347D07BC2}"/>
              </a:ext>
            </a:extLst>
          </p:cNvPr>
          <p:cNvSpPr/>
          <p:nvPr/>
        </p:nvSpPr>
        <p:spPr>
          <a:xfrm>
            <a:off x="566031" y="3931757"/>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4" name="Triangle isocèle 13">
            <a:extLst>
              <a:ext uri="{FF2B5EF4-FFF2-40B4-BE49-F238E27FC236}">
                <a16:creationId xmlns:a16="http://schemas.microsoft.com/office/drawing/2014/main" id="{2A8F44AC-FDC0-42AA-957B-A8E4EA3DC11D}"/>
              </a:ext>
            </a:extLst>
          </p:cNvPr>
          <p:cNvSpPr/>
          <p:nvPr/>
        </p:nvSpPr>
        <p:spPr>
          <a:xfrm>
            <a:off x="7776968" y="3931757"/>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15" name="Connecteur droit avec flèche 14">
            <a:extLst>
              <a:ext uri="{FF2B5EF4-FFF2-40B4-BE49-F238E27FC236}">
                <a16:creationId xmlns:a16="http://schemas.microsoft.com/office/drawing/2014/main" id="{4F606F02-0F61-4022-A336-473B30C3D492}"/>
              </a:ext>
            </a:extLst>
          </p:cNvPr>
          <p:cNvCxnSpPr>
            <a:stCxn id="11" idx="3"/>
            <a:endCxn id="14" idx="1"/>
          </p:cNvCxnSpPr>
          <p:nvPr/>
        </p:nvCxnSpPr>
        <p:spPr>
          <a:xfrm>
            <a:off x="7093426" y="4260117"/>
            <a:ext cx="876152"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6" name="Triangle isocèle 15">
            <a:extLst>
              <a:ext uri="{FF2B5EF4-FFF2-40B4-BE49-F238E27FC236}">
                <a16:creationId xmlns:a16="http://schemas.microsoft.com/office/drawing/2014/main" id="{1B897F91-C638-4085-9F0C-A4DD776A0A2E}"/>
              </a:ext>
            </a:extLst>
          </p:cNvPr>
          <p:cNvSpPr/>
          <p:nvPr/>
        </p:nvSpPr>
        <p:spPr>
          <a:xfrm>
            <a:off x="566031" y="2661109"/>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17" name="Connecteur droit avec flèche 19">
            <a:extLst>
              <a:ext uri="{FF2B5EF4-FFF2-40B4-BE49-F238E27FC236}">
                <a16:creationId xmlns:a16="http://schemas.microsoft.com/office/drawing/2014/main" id="{35946DEF-AC36-4AF1-89CC-CA6B61CC5AD3}"/>
              </a:ext>
            </a:extLst>
          </p:cNvPr>
          <p:cNvCxnSpPr>
            <a:stCxn id="16" idx="5"/>
            <a:endCxn id="8" idx="1"/>
          </p:cNvCxnSpPr>
          <p:nvPr/>
        </p:nvCxnSpPr>
        <p:spPr>
          <a:xfrm>
            <a:off x="1143860" y="2989469"/>
            <a:ext cx="894126" cy="1270648"/>
          </a:xfrm>
          <a:prstGeom prst="bentConnector3">
            <a:avLst>
              <a:gd name="adj1" fmla="val 50000"/>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Nuage 17">
            <a:extLst>
              <a:ext uri="{FF2B5EF4-FFF2-40B4-BE49-F238E27FC236}">
                <a16:creationId xmlns:a16="http://schemas.microsoft.com/office/drawing/2014/main" id="{1BE01D04-0BF8-455A-92B9-AB1B722F31DE}"/>
              </a:ext>
            </a:extLst>
          </p:cNvPr>
          <p:cNvSpPr/>
          <p:nvPr/>
        </p:nvSpPr>
        <p:spPr>
          <a:xfrm>
            <a:off x="2881636" y="2440472"/>
            <a:ext cx="1683198" cy="988528"/>
          </a:xfrm>
          <a:prstGeom prst="cloud">
            <a:avLst/>
          </a:prstGeom>
          <a:solidFill>
            <a:schemeClr val="accent2">
              <a:lumMod val="75000"/>
              <a:alpha val="50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r>
              <a:rPr lang="fr-FR">
                <a:solidFill>
                  <a:srgbClr val="000000"/>
                </a:solidFill>
              </a:rPr>
              <a:t>En-cours</a:t>
            </a:r>
          </a:p>
        </p:txBody>
      </p:sp>
      <p:cxnSp>
        <p:nvCxnSpPr>
          <p:cNvPr id="19" name="Connecteur en arc 27">
            <a:extLst>
              <a:ext uri="{FF2B5EF4-FFF2-40B4-BE49-F238E27FC236}">
                <a16:creationId xmlns:a16="http://schemas.microsoft.com/office/drawing/2014/main" id="{111AA4C0-B17C-49F8-B87B-A89B0574E4DE}"/>
              </a:ext>
            </a:extLst>
          </p:cNvPr>
          <p:cNvCxnSpPr>
            <a:stCxn id="8" idx="0"/>
            <a:endCxn id="18" idx="1"/>
          </p:cNvCxnSpPr>
          <p:nvPr/>
        </p:nvCxnSpPr>
        <p:spPr>
          <a:xfrm rot="5400000" flipH="1" flipV="1">
            <a:off x="2957169" y="3242256"/>
            <a:ext cx="580375" cy="951758"/>
          </a:xfrm>
          <a:prstGeom prst="curvedConnector3">
            <a:avLst>
              <a:gd name="adj1" fmla="val 50000"/>
            </a:avLst>
          </a:prstGeom>
          <a:ln>
            <a:solidFill>
              <a:srgbClr val="000000"/>
            </a:solidFill>
            <a:prstDash val="sysDash"/>
          </a:ln>
        </p:spPr>
        <p:style>
          <a:lnRef idx="2">
            <a:schemeClr val="accent1"/>
          </a:lnRef>
          <a:fillRef idx="0">
            <a:schemeClr val="accent1"/>
          </a:fillRef>
          <a:effectRef idx="1">
            <a:schemeClr val="accent1"/>
          </a:effectRef>
          <a:fontRef idx="minor">
            <a:schemeClr val="tx1"/>
          </a:fontRef>
        </p:style>
      </p:cxnSp>
      <p:sp>
        <p:nvSpPr>
          <p:cNvPr id="20" name="ZoneTexte 19">
            <a:extLst>
              <a:ext uri="{FF2B5EF4-FFF2-40B4-BE49-F238E27FC236}">
                <a16:creationId xmlns:a16="http://schemas.microsoft.com/office/drawing/2014/main" id="{B87341C1-30DC-4648-83ED-754B61D3110D}"/>
              </a:ext>
            </a:extLst>
          </p:cNvPr>
          <p:cNvSpPr txBox="1"/>
          <p:nvPr/>
        </p:nvSpPr>
        <p:spPr>
          <a:xfrm>
            <a:off x="595953" y="2948496"/>
            <a:ext cx="740517" cy="400110"/>
          </a:xfrm>
          <a:prstGeom prst="rect">
            <a:avLst/>
          </a:prstGeom>
          <a:noFill/>
        </p:spPr>
        <p:txBody>
          <a:bodyPr wrap="square" rtlCol="0">
            <a:spAutoFit/>
          </a:bodyPr>
          <a:lstStyle/>
          <a:p>
            <a:pPr algn="ctr"/>
            <a:r>
              <a:rPr lang="fr-FR" sz="2000" b="1">
                <a:solidFill>
                  <a:schemeClr val="bg1"/>
                </a:solidFill>
              </a:rPr>
              <a:t>MP</a:t>
            </a:r>
          </a:p>
        </p:txBody>
      </p:sp>
      <p:sp>
        <p:nvSpPr>
          <p:cNvPr id="21" name="ZoneTexte 20">
            <a:extLst>
              <a:ext uri="{FF2B5EF4-FFF2-40B4-BE49-F238E27FC236}">
                <a16:creationId xmlns:a16="http://schemas.microsoft.com/office/drawing/2014/main" id="{E2B4205A-0236-4A62-96F7-7BACD0C065F3}"/>
              </a:ext>
            </a:extLst>
          </p:cNvPr>
          <p:cNvSpPr txBox="1"/>
          <p:nvPr/>
        </p:nvSpPr>
        <p:spPr>
          <a:xfrm>
            <a:off x="566031" y="4191420"/>
            <a:ext cx="740517" cy="400110"/>
          </a:xfrm>
          <a:prstGeom prst="rect">
            <a:avLst/>
          </a:prstGeom>
          <a:noFill/>
        </p:spPr>
        <p:txBody>
          <a:bodyPr wrap="square" rtlCol="0">
            <a:spAutoFit/>
          </a:bodyPr>
          <a:lstStyle/>
          <a:p>
            <a:pPr algn="ctr"/>
            <a:r>
              <a:rPr lang="fr-FR" sz="2000" b="1">
                <a:solidFill>
                  <a:schemeClr val="bg1"/>
                </a:solidFill>
              </a:rPr>
              <a:t>MP</a:t>
            </a:r>
          </a:p>
        </p:txBody>
      </p:sp>
      <p:sp>
        <p:nvSpPr>
          <p:cNvPr id="22" name="ZoneTexte 21">
            <a:extLst>
              <a:ext uri="{FF2B5EF4-FFF2-40B4-BE49-F238E27FC236}">
                <a16:creationId xmlns:a16="http://schemas.microsoft.com/office/drawing/2014/main" id="{B2DF118C-3319-40F5-BD70-DE3459966B69}"/>
              </a:ext>
            </a:extLst>
          </p:cNvPr>
          <p:cNvSpPr txBox="1"/>
          <p:nvPr/>
        </p:nvSpPr>
        <p:spPr>
          <a:xfrm>
            <a:off x="4209536" y="4191420"/>
            <a:ext cx="740517" cy="400110"/>
          </a:xfrm>
          <a:prstGeom prst="rect">
            <a:avLst/>
          </a:prstGeom>
          <a:noFill/>
        </p:spPr>
        <p:txBody>
          <a:bodyPr wrap="square" rtlCol="0">
            <a:spAutoFit/>
          </a:bodyPr>
          <a:lstStyle/>
          <a:p>
            <a:pPr algn="ctr"/>
            <a:r>
              <a:rPr lang="fr-FR" sz="2000" b="1">
                <a:solidFill>
                  <a:schemeClr val="bg1"/>
                </a:solidFill>
              </a:rPr>
              <a:t>SE</a:t>
            </a:r>
          </a:p>
        </p:txBody>
      </p:sp>
      <p:sp>
        <p:nvSpPr>
          <p:cNvPr id="23" name="ZoneTexte 22">
            <a:extLst>
              <a:ext uri="{FF2B5EF4-FFF2-40B4-BE49-F238E27FC236}">
                <a16:creationId xmlns:a16="http://schemas.microsoft.com/office/drawing/2014/main" id="{6E6A7E42-4005-4152-A319-B33464EBDE57}"/>
              </a:ext>
            </a:extLst>
          </p:cNvPr>
          <p:cNvSpPr txBox="1"/>
          <p:nvPr/>
        </p:nvSpPr>
        <p:spPr>
          <a:xfrm>
            <a:off x="7798863" y="4149267"/>
            <a:ext cx="740517" cy="400110"/>
          </a:xfrm>
          <a:prstGeom prst="rect">
            <a:avLst/>
          </a:prstGeom>
          <a:noFill/>
        </p:spPr>
        <p:txBody>
          <a:bodyPr wrap="square" rtlCol="0">
            <a:spAutoFit/>
          </a:bodyPr>
          <a:lstStyle/>
          <a:p>
            <a:pPr algn="ctr"/>
            <a:r>
              <a:rPr lang="fr-FR" sz="2000" b="1">
                <a:solidFill>
                  <a:schemeClr val="bg1"/>
                </a:solidFill>
              </a:rPr>
              <a:t>PF</a:t>
            </a:r>
          </a:p>
        </p:txBody>
      </p:sp>
      <p:cxnSp>
        <p:nvCxnSpPr>
          <p:cNvPr id="24" name="Connecteur en arc 22">
            <a:extLst>
              <a:ext uri="{FF2B5EF4-FFF2-40B4-BE49-F238E27FC236}">
                <a16:creationId xmlns:a16="http://schemas.microsoft.com/office/drawing/2014/main" id="{E3B0FD05-9476-4D12-93BF-2ADD6574E962}"/>
              </a:ext>
            </a:extLst>
          </p:cNvPr>
          <p:cNvCxnSpPr>
            <a:stCxn id="11" idx="0"/>
            <a:endCxn id="25" idx="1"/>
          </p:cNvCxnSpPr>
          <p:nvPr/>
        </p:nvCxnSpPr>
        <p:spPr>
          <a:xfrm rot="5400000" flipH="1" flipV="1">
            <a:off x="6485279" y="3191433"/>
            <a:ext cx="691547" cy="942233"/>
          </a:xfrm>
          <a:prstGeom prst="curvedConnector3">
            <a:avLst>
              <a:gd name="adj1" fmla="val 50000"/>
            </a:avLst>
          </a:prstGeom>
          <a:ln>
            <a:solidFill>
              <a:srgbClr val="000000"/>
            </a:solidFill>
            <a:prstDash val="sysDash"/>
          </a:ln>
        </p:spPr>
        <p:style>
          <a:lnRef idx="2">
            <a:schemeClr val="accent1"/>
          </a:lnRef>
          <a:fillRef idx="0">
            <a:schemeClr val="accent1"/>
          </a:fillRef>
          <a:effectRef idx="1">
            <a:schemeClr val="accent1"/>
          </a:effectRef>
          <a:fontRef idx="minor">
            <a:schemeClr val="tx1"/>
          </a:fontRef>
        </p:style>
      </p:cxnSp>
      <p:sp>
        <p:nvSpPr>
          <p:cNvPr id="25" name="Nuage 24">
            <a:extLst>
              <a:ext uri="{FF2B5EF4-FFF2-40B4-BE49-F238E27FC236}">
                <a16:creationId xmlns:a16="http://schemas.microsoft.com/office/drawing/2014/main" id="{2E7DBEB4-C93E-477A-875D-1BAF366A8728}"/>
              </a:ext>
            </a:extLst>
          </p:cNvPr>
          <p:cNvSpPr/>
          <p:nvPr/>
        </p:nvSpPr>
        <p:spPr>
          <a:xfrm>
            <a:off x="6460570" y="2329300"/>
            <a:ext cx="1683198" cy="988528"/>
          </a:xfrm>
          <a:prstGeom prst="cloud">
            <a:avLst/>
          </a:prstGeom>
          <a:solidFill>
            <a:schemeClr val="accent2">
              <a:lumMod val="75000"/>
              <a:alpha val="50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r>
              <a:rPr lang="fr-FR">
                <a:solidFill>
                  <a:srgbClr val="000000"/>
                </a:solidFill>
              </a:rPr>
              <a:t>En-cours</a:t>
            </a:r>
          </a:p>
        </p:txBody>
      </p:sp>
    </p:spTree>
    <p:extLst>
      <p:ext uri="{BB962C8B-B14F-4D97-AF65-F5344CB8AC3E}">
        <p14:creationId xmlns:p14="http://schemas.microsoft.com/office/powerpoint/2010/main" val="4185799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normAutofit/>
          </a:bodyPr>
          <a:lstStyle/>
          <a:p>
            <a:r>
              <a:rPr lang="fr-FR"/>
              <a:t>Principes</a:t>
            </a:r>
          </a:p>
        </p:txBody>
      </p:sp>
      <p:sp>
        <p:nvSpPr>
          <p:cNvPr id="4" name="Espace réservé du numéro de diapositive 3">
            <a:extLst>
              <a:ext uri="{FF2B5EF4-FFF2-40B4-BE49-F238E27FC236}">
                <a16:creationId xmlns:a16="http://schemas.microsoft.com/office/drawing/2014/main" id="{08DE8EDD-5948-154E-8EBD-212FB07B8BBD}"/>
              </a:ext>
            </a:extLst>
          </p:cNvPr>
          <p:cNvSpPr>
            <a:spLocks noGrp="1"/>
          </p:cNvSpPr>
          <p:nvPr>
            <p:ph type="sldNum" sz="quarter" idx="10"/>
          </p:nvPr>
        </p:nvSpPr>
        <p:spPr/>
        <p:txBody>
          <a:bodyPr>
            <a:normAutofit fontScale="92500" lnSpcReduction="10000"/>
          </a:bodyPr>
          <a:lstStyle/>
          <a:p>
            <a:fld id="{82E40C56-028F-CD41-86FC-6D65418B3F1F}" type="slidenum">
              <a:rPr lang="fr-FR" smtClean="0"/>
              <a:t>3</a:t>
            </a:fld>
            <a:endParaRPr lang="fr-FR"/>
          </a:p>
        </p:txBody>
      </p:sp>
      <p:sp>
        <p:nvSpPr>
          <p:cNvPr id="2" name="Espace réservé du contenu 1"/>
          <p:cNvSpPr>
            <a:spLocks noGrp="1"/>
          </p:cNvSpPr>
          <p:nvPr>
            <p:ph type="body" sz="quarter" idx="12"/>
          </p:nvPr>
        </p:nvSpPr>
        <p:spPr/>
        <p:txBody>
          <a:bodyPr/>
          <a:lstStyle/>
          <a:p>
            <a:pPr marL="0" indent="0">
              <a:buNone/>
            </a:pPr>
            <a:r>
              <a:rPr lang="fr-FR" b="1"/>
              <a:t>Le rôle central des stocks</a:t>
            </a:r>
          </a:p>
          <a:p>
            <a:pPr lvl="1"/>
            <a:r>
              <a:rPr lang="fr-FR"/>
              <a:t>Faire face à une différence entre la cadence de consommation et la cadence de production (anticipation de la production)</a:t>
            </a:r>
          </a:p>
          <a:p>
            <a:pPr lvl="1"/>
            <a:endParaRPr lang="fr-FR"/>
          </a:p>
          <a:p>
            <a:pPr lvl="1"/>
            <a:endParaRPr lang="fr-FR"/>
          </a:p>
          <a:p>
            <a:pPr marL="301943" lvl="1" indent="0">
              <a:buNone/>
            </a:pPr>
            <a:endParaRPr lang="fr-FR"/>
          </a:p>
          <a:p>
            <a:pPr marL="301943" lvl="1" indent="0">
              <a:buNone/>
            </a:pPr>
            <a:endParaRPr lang="fr-FR"/>
          </a:p>
          <a:p>
            <a:pPr lvl="1"/>
            <a:r>
              <a:rPr lang="fr-FR"/>
              <a:t>Protection face aux incertitudes</a:t>
            </a:r>
          </a:p>
          <a:p>
            <a:pPr lvl="1"/>
            <a:endParaRPr lang="fr-FR"/>
          </a:p>
          <a:p>
            <a:pPr lvl="1"/>
            <a:r>
              <a:rPr lang="fr-FR"/>
              <a:t>Découplage entre les opérations</a:t>
            </a:r>
          </a:p>
        </p:txBody>
      </p:sp>
      <p:sp>
        <p:nvSpPr>
          <p:cNvPr id="6" name="Rectangle 5"/>
          <p:cNvSpPr/>
          <p:nvPr/>
        </p:nvSpPr>
        <p:spPr>
          <a:xfrm>
            <a:off x="2045572" y="3367841"/>
            <a:ext cx="1466981" cy="503590"/>
          </a:xfrm>
          <a:prstGeom prst="rect">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r>
              <a:rPr lang="fr-FR"/>
              <a:t>OPE</a:t>
            </a:r>
          </a:p>
        </p:txBody>
      </p:sp>
      <p:sp>
        <p:nvSpPr>
          <p:cNvPr id="8" name="Triangle isocèle 7"/>
          <p:cNvSpPr/>
          <p:nvPr/>
        </p:nvSpPr>
        <p:spPr>
          <a:xfrm>
            <a:off x="4187200" y="3291277"/>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pic>
        <p:nvPicPr>
          <p:cNvPr id="10" name="Image 9" descr="imgres.png"/>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944669" y="3824808"/>
            <a:ext cx="684312" cy="684312"/>
          </a:xfrm>
          <a:prstGeom prst="rect">
            <a:avLst/>
          </a:prstGeom>
        </p:spPr>
      </p:pic>
      <p:pic>
        <p:nvPicPr>
          <p:cNvPr id="9" name="Image 8" descr="imgres.png"/>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410027" y="3277480"/>
            <a:ext cx="684312" cy="684312"/>
          </a:xfrm>
          <a:prstGeom prst="rect">
            <a:avLst/>
          </a:prstGeom>
        </p:spPr>
      </p:pic>
      <p:pic>
        <p:nvPicPr>
          <p:cNvPr id="7" name="Image 6" descr="imgres.png"/>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915471" y="2724478"/>
            <a:ext cx="684312" cy="684312"/>
          </a:xfrm>
          <a:prstGeom prst="rect">
            <a:avLst/>
          </a:prstGeom>
        </p:spPr>
      </p:pic>
      <p:cxnSp>
        <p:nvCxnSpPr>
          <p:cNvPr id="12" name="Connecteur droit avec flèche 11"/>
          <p:cNvCxnSpPr>
            <a:stCxn id="6" idx="3"/>
            <a:endCxn id="8" idx="1"/>
          </p:cNvCxnSpPr>
          <p:nvPr/>
        </p:nvCxnSpPr>
        <p:spPr>
          <a:xfrm>
            <a:off x="3512553" y="3619636"/>
            <a:ext cx="867257" cy="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4" name="Connecteur droit avec flèche 13"/>
          <p:cNvCxnSpPr>
            <a:stCxn id="8" idx="5"/>
            <a:endCxn id="9" idx="1"/>
          </p:cNvCxnSpPr>
          <p:nvPr/>
        </p:nvCxnSpPr>
        <p:spPr>
          <a:xfrm flipV="1">
            <a:off x="4765029" y="3619636"/>
            <a:ext cx="1644998" cy="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9" name="Connecteur droit avec flèche 18"/>
          <p:cNvCxnSpPr>
            <a:stCxn id="8" idx="5"/>
            <a:endCxn id="7" idx="1"/>
          </p:cNvCxnSpPr>
          <p:nvPr/>
        </p:nvCxnSpPr>
        <p:spPr>
          <a:xfrm flipV="1">
            <a:off x="4765029" y="3066634"/>
            <a:ext cx="1150442" cy="553003"/>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22" name="Connecteur droit avec flèche 21"/>
          <p:cNvCxnSpPr>
            <a:cxnSpLocks/>
            <a:stCxn id="8" idx="5"/>
            <a:endCxn id="10" idx="1"/>
          </p:cNvCxnSpPr>
          <p:nvPr/>
        </p:nvCxnSpPr>
        <p:spPr>
          <a:xfrm>
            <a:off x="4765029" y="3619637"/>
            <a:ext cx="1179640" cy="547327"/>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045152" y="5650929"/>
            <a:ext cx="1466981" cy="503590"/>
          </a:xfrm>
          <a:prstGeom prst="rect">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r>
              <a:rPr lang="fr-FR"/>
              <a:t>OPE</a:t>
            </a:r>
          </a:p>
        </p:txBody>
      </p:sp>
      <p:sp>
        <p:nvSpPr>
          <p:cNvPr id="26" name="Triangle isocèle 25"/>
          <p:cNvSpPr/>
          <p:nvPr/>
        </p:nvSpPr>
        <p:spPr>
          <a:xfrm>
            <a:off x="4186780" y="5574365"/>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27" name="Connecteur droit avec flèche 26"/>
          <p:cNvCxnSpPr>
            <a:stCxn id="25" idx="3"/>
            <a:endCxn id="26" idx="1"/>
          </p:cNvCxnSpPr>
          <p:nvPr/>
        </p:nvCxnSpPr>
        <p:spPr>
          <a:xfrm>
            <a:off x="3512133" y="5902724"/>
            <a:ext cx="867257" cy="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633611" y="5650929"/>
            <a:ext cx="1466981" cy="503590"/>
          </a:xfrm>
          <a:prstGeom prst="rect">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r>
              <a:rPr lang="fr-FR"/>
              <a:t>OPE</a:t>
            </a:r>
          </a:p>
        </p:txBody>
      </p:sp>
      <p:cxnSp>
        <p:nvCxnSpPr>
          <p:cNvPr id="29" name="Connecteur droit avec flèche 28"/>
          <p:cNvCxnSpPr>
            <a:stCxn id="26" idx="5"/>
            <a:endCxn id="28" idx="1"/>
          </p:cNvCxnSpPr>
          <p:nvPr/>
        </p:nvCxnSpPr>
        <p:spPr>
          <a:xfrm flipV="1">
            <a:off x="4764609" y="5902724"/>
            <a:ext cx="869002" cy="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208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animBg="1"/>
      <p:bldP spid="8" grpId="0" animBg="1"/>
      <p:bldP spid="25" grpId="0" animBg="1"/>
      <p:bldP spid="26"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Connecteur droit avec flèche 11"/>
          <p:cNvCxnSpPr/>
          <p:nvPr/>
        </p:nvCxnSpPr>
        <p:spPr>
          <a:xfrm>
            <a:off x="1151026" y="6424300"/>
            <a:ext cx="894126"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5" name="Titre 4"/>
          <p:cNvSpPr>
            <a:spLocks noGrp="1"/>
          </p:cNvSpPr>
          <p:nvPr>
            <p:ph type="title"/>
          </p:nvPr>
        </p:nvSpPr>
        <p:spPr/>
        <p:txBody>
          <a:bodyPr/>
          <a:lstStyle/>
          <a:p>
            <a:r>
              <a:rPr lang="fr-FR"/>
              <a:t>Principes</a:t>
            </a:r>
          </a:p>
        </p:txBody>
      </p:sp>
      <p:sp>
        <p:nvSpPr>
          <p:cNvPr id="4" name="Espace réservé du numéro de diapositive 3">
            <a:extLst>
              <a:ext uri="{FF2B5EF4-FFF2-40B4-BE49-F238E27FC236}">
                <a16:creationId xmlns:a16="http://schemas.microsoft.com/office/drawing/2014/main" id="{8DB98E48-F8E4-6C4D-B440-99689373689B}"/>
              </a:ext>
            </a:extLst>
          </p:cNvPr>
          <p:cNvSpPr>
            <a:spLocks noGrp="1"/>
          </p:cNvSpPr>
          <p:nvPr>
            <p:ph type="sldNum" sz="quarter" idx="10"/>
          </p:nvPr>
        </p:nvSpPr>
        <p:spPr/>
        <p:txBody>
          <a:bodyPr>
            <a:normAutofit fontScale="92500" lnSpcReduction="10000"/>
          </a:bodyPr>
          <a:lstStyle/>
          <a:p>
            <a:fld id="{82E40C56-028F-CD41-86FC-6D65418B3F1F}" type="slidenum">
              <a:rPr lang="fr-FR" smtClean="0"/>
              <a:t>4</a:t>
            </a:fld>
            <a:endParaRPr lang="fr-FR"/>
          </a:p>
        </p:txBody>
      </p:sp>
      <p:sp>
        <p:nvSpPr>
          <p:cNvPr id="2" name="Espace réservé du contenu 1"/>
          <p:cNvSpPr>
            <a:spLocks noGrp="1"/>
          </p:cNvSpPr>
          <p:nvPr>
            <p:ph type="body" sz="quarter" idx="12"/>
          </p:nvPr>
        </p:nvSpPr>
        <p:spPr/>
        <p:txBody>
          <a:bodyPr/>
          <a:lstStyle/>
          <a:p>
            <a:pPr marL="0" indent="0">
              <a:buNone/>
            </a:pPr>
            <a:r>
              <a:rPr lang="fr-FR" b="1">
                <a:solidFill>
                  <a:srgbClr val="EF820B"/>
                </a:solidFill>
              </a:rPr>
              <a:t>Nature des stocks</a:t>
            </a:r>
          </a:p>
          <a:p>
            <a:pPr lvl="1"/>
            <a:r>
              <a:rPr lang="fr-FR"/>
              <a:t>Matières premières (MP)</a:t>
            </a:r>
          </a:p>
          <a:p>
            <a:pPr lvl="1"/>
            <a:r>
              <a:rPr lang="fr-FR"/>
              <a:t>Sous-ensembles (SE)</a:t>
            </a:r>
          </a:p>
          <a:p>
            <a:pPr lvl="1"/>
            <a:r>
              <a:rPr lang="fr-FR"/>
              <a:t>Produits finis (PF)</a:t>
            </a:r>
          </a:p>
          <a:p>
            <a:pPr lvl="1"/>
            <a:r>
              <a:rPr lang="fr-FR"/>
              <a:t>En-cours (non gérés)</a:t>
            </a:r>
          </a:p>
        </p:txBody>
      </p:sp>
      <p:sp>
        <p:nvSpPr>
          <p:cNvPr id="6" name="Rectangle 5"/>
          <p:cNvSpPr/>
          <p:nvPr/>
        </p:nvSpPr>
        <p:spPr>
          <a:xfrm>
            <a:off x="2045152" y="6041147"/>
            <a:ext cx="1466981" cy="503590"/>
          </a:xfrm>
          <a:prstGeom prst="rect">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7" name="Triangle isocèle 6"/>
          <p:cNvSpPr/>
          <p:nvPr/>
        </p:nvSpPr>
        <p:spPr>
          <a:xfrm>
            <a:off x="4186780" y="5964583"/>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8" name="Connecteur droit avec flèche 7"/>
          <p:cNvCxnSpPr>
            <a:stCxn id="6" idx="3"/>
            <a:endCxn id="7" idx="1"/>
          </p:cNvCxnSpPr>
          <p:nvPr/>
        </p:nvCxnSpPr>
        <p:spPr>
          <a:xfrm>
            <a:off x="3512133" y="6292942"/>
            <a:ext cx="867257" cy="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633611" y="6041147"/>
            <a:ext cx="1466981" cy="503590"/>
          </a:xfrm>
          <a:prstGeom prst="rect">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10" name="Connecteur droit avec flèche 9"/>
          <p:cNvCxnSpPr>
            <a:stCxn id="7" idx="5"/>
            <a:endCxn id="9" idx="1"/>
          </p:cNvCxnSpPr>
          <p:nvPr/>
        </p:nvCxnSpPr>
        <p:spPr>
          <a:xfrm flipV="1">
            <a:off x="4764609" y="6292942"/>
            <a:ext cx="869002" cy="1"/>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1" name="Triangle isocèle 10"/>
          <p:cNvSpPr/>
          <p:nvPr/>
        </p:nvSpPr>
        <p:spPr>
          <a:xfrm>
            <a:off x="573197" y="5964582"/>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5" name="Triangle isocèle 14"/>
          <p:cNvSpPr/>
          <p:nvPr/>
        </p:nvSpPr>
        <p:spPr>
          <a:xfrm>
            <a:off x="7784134" y="5964582"/>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16" name="Connecteur droit avec flèche 15"/>
          <p:cNvCxnSpPr>
            <a:stCxn id="9" idx="3"/>
            <a:endCxn id="15" idx="1"/>
          </p:cNvCxnSpPr>
          <p:nvPr/>
        </p:nvCxnSpPr>
        <p:spPr>
          <a:xfrm>
            <a:off x="7100592" y="6292942"/>
            <a:ext cx="876152"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Triangle isocèle 17"/>
          <p:cNvSpPr/>
          <p:nvPr/>
        </p:nvSpPr>
        <p:spPr>
          <a:xfrm>
            <a:off x="573197" y="4693934"/>
            <a:ext cx="770439" cy="656719"/>
          </a:xfrm>
          <a:prstGeom prst="triangle">
            <a:avLst/>
          </a:prstGeom>
          <a:solidFill>
            <a:schemeClr val="accent2">
              <a:lumMod val="75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20" name="Connecteur droit avec flèche 19"/>
          <p:cNvCxnSpPr>
            <a:stCxn id="18" idx="5"/>
            <a:endCxn id="6" idx="1"/>
          </p:cNvCxnSpPr>
          <p:nvPr/>
        </p:nvCxnSpPr>
        <p:spPr>
          <a:xfrm>
            <a:off x="1151026" y="5022294"/>
            <a:ext cx="894126" cy="1270648"/>
          </a:xfrm>
          <a:prstGeom prst="bentConnector3">
            <a:avLst>
              <a:gd name="adj1" fmla="val 50000"/>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26" name="Nuage 25"/>
          <p:cNvSpPr/>
          <p:nvPr/>
        </p:nvSpPr>
        <p:spPr>
          <a:xfrm>
            <a:off x="2888802" y="4473297"/>
            <a:ext cx="1683198" cy="988528"/>
          </a:xfrm>
          <a:prstGeom prst="cloud">
            <a:avLst/>
          </a:prstGeom>
          <a:solidFill>
            <a:schemeClr val="accent2">
              <a:lumMod val="75000"/>
              <a:alpha val="50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r>
              <a:rPr lang="fr-FR">
                <a:solidFill>
                  <a:srgbClr val="000000"/>
                </a:solidFill>
              </a:rPr>
              <a:t>En-cours</a:t>
            </a:r>
          </a:p>
        </p:txBody>
      </p:sp>
      <p:cxnSp>
        <p:nvCxnSpPr>
          <p:cNvPr id="28" name="Connecteur en arc 27"/>
          <p:cNvCxnSpPr>
            <a:stCxn id="6" idx="0"/>
            <a:endCxn id="26" idx="1"/>
          </p:cNvCxnSpPr>
          <p:nvPr/>
        </p:nvCxnSpPr>
        <p:spPr>
          <a:xfrm rot="5400000" flipH="1" flipV="1">
            <a:off x="2964335" y="5275081"/>
            <a:ext cx="580375" cy="951758"/>
          </a:xfrm>
          <a:prstGeom prst="curvedConnector3">
            <a:avLst>
              <a:gd name="adj1" fmla="val 50000"/>
            </a:avLst>
          </a:prstGeom>
          <a:ln>
            <a:solidFill>
              <a:srgbClr val="000000"/>
            </a:solidFill>
            <a:prstDash val="sysDash"/>
          </a:ln>
        </p:spPr>
        <p:style>
          <a:lnRef idx="2">
            <a:schemeClr val="accent1"/>
          </a:lnRef>
          <a:fillRef idx="0">
            <a:schemeClr val="accent1"/>
          </a:fillRef>
          <a:effectRef idx="1">
            <a:schemeClr val="accent1"/>
          </a:effectRef>
          <a:fontRef idx="minor">
            <a:schemeClr val="tx1"/>
          </a:fontRef>
        </p:style>
      </p:cxnSp>
      <p:sp>
        <p:nvSpPr>
          <p:cNvPr id="31" name="ZoneTexte 30"/>
          <p:cNvSpPr txBox="1"/>
          <p:nvPr/>
        </p:nvSpPr>
        <p:spPr>
          <a:xfrm>
            <a:off x="603119" y="4981321"/>
            <a:ext cx="740517" cy="400110"/>
          </a:xfrm>
          <a:prstGeom prst="rect">
            <a:avLst/>
          </a:prstGeom>
          <a:noFill/>
        </p:spPr>
        <p:txBody>
          <a:bodyPr wrap="square" rtlCol="0">
            <a:spAutoFit/>
          </a:bodyPr>
          <a:lstStyle/>
          <a:p>
            <a:pPr algn="ctr"/>
            <a:r>
              <a:rPr lang="fr-FR" sz="2000" b="1">
                <a:solidFill>
                  <a:schemeClr val="bg1"/>
                </a:solidFill>
              </a:rPr>
              <a:t>MP</a:t>
            </a:r>
          </a:p>
        </p:txBody>
      </p:sp>
      <p:sp>
        <p:nvSpPr>
          <p:cNvPr id="32" name="ZoneTexte 31"/>
          <p:cNvSpPr txBox="1"/>
          <p:nvPr/>
        </p:nvSpPr>
        <p:spPr>
          <a:xfrm>
            <a:off x="573197" y="6224245"/>
            <a:ext cx="740517" cy="400110"/>
          </a:xfrm>
          <a:prstGeom prst="rect">
            <a:avLst/>
          </a:prstGeom>
          <a:noFill/>
        </p:spPr>
        <p:txBody>
          <a:bodyPr wrap="square" rtlCol="0">
            <a:spAutoFit/>
          </a:bodyPr>
          <a:lstStyle/>
          <a:p>
            <a:pPr algn="ctr"/>
            <a:r>
              <a:rPr lang="fr-FR" sz="2000" b="1">
                <a:solidFill>
                  <a:schemeClr val="bg1"/>
                </a:solidFill>
              </a:rPr>
              <a:t>MP</a:t>
            </a:r>
          </a:p>
        </p:txBody>
      </p:sp>
      <p:sp>
        <p:nvSpPr>
          <p:cNvPr id="33" name="ZoneTexte 32"/>
          <p:cNvSpPr txBox="1"/>
          <p:nvPr/>
        </p:nvSpPr>
        <p:spPr>
          <a:xfrm>
            <a:off x="4216702" y="6224245"/>
            <a:ext cx="740517" cy="400110"/>
          </a:xfrm>
          <a:prstGeom prst="rect">
            <a:avLst/>
          </a:prstGeom>
          <a:noFill/>
        </p:spPr>
        <p:txBody>
          <a:bodyPr wrap="square" rtlCol="0">
            <a:spAutoFit/>
          </a:bodyPr>
          <a:lstStyle/>
          <a:p>
            <a:pPr algn="ctr"/>
            <a:r>
              <a:rPr lang="fr-FR" sz="2000" b="1">
                <a:solidFill>
                  <a:schemeClr val="bg1"/>
                </a:solidFill>
              </a:rPr>
              <a:t>SE</a:t>
            </a:r>
          </a:p>
        </p:txBody>
      </p:sp>
      <p:sp>
        <p:nvSpPr>
          <p:cNvPr id="34" name="ZoneTexte 33"/>
          <p:cNvSpPr txBox="1"/>
          <p:nvPr/>
        </p:nvSpPr>
        <p:spPr>
          <a:xfrm>
            <a:off x="7806029" y="6182092"/>
            <a:ext cx="740517" cy="400110"/>
          </a:xfrm>
          <a:prstGeom prst="rect">
            <a:avLst/>
          </a:prstGeom>
          <a:noFill/>
        </p:spPr>
        <p:txBody>
          <a:bodyPr wrap="square" rtlCol="0">
            <a:spAutoFit/>
          </a:bodyPr>
          <a:lstStyle/>
          <a:p>
            <a:pPr algn="ctr"/>
            <a:r>
              <a:rPr lang="fr-FR" sz="2000" b="1">
                <a:solidFill>
                  <a:schemeClr val="bg1"/>
                </a:solidFill>
              </a:rPr>
              <a:t>PF</a:t>
            </a:r>
          </a:p>
        </p:txBody>
      </p:sp>
      <p:cxnSp>
        <p:nvCxnSpPr>
          <p:cNvPr id="23" name="Connecteur en arc 22"/>
          <p:cNvCxnSpPr>
            <a:stCxn id="9" idx="0"/>
            <a:endCxn id="29" idx="1"/>
          </p:cNvCxnSpPr>
          <p:nvPr/>
        </p:nvCxnSpPr>
        <p:spPr>
          <a:xfrm rot="5400000" flipH="1" flipV="1">
            <a:off x="6492445" y="5224258"/>
            <a:ext cx="691547" cy="942233"/>
          </a:xfrm>
          <a:prstGeom prst="curvedConnector3">
            <a:avLst>
              <a:gd name="adj1" fmla="val 50000"/>
            </a:avLst>
          </a:prstGeom>
          <a:ln>
            <a:solidFill>
              <a:srgbClr val="000000"/>
            </a:solidFill>
            <a:prstDash val="sysDash"/>
          </a:ln>
        </p:spPr>
        <p:style>
          <a:lnRef idx="2">
            <a:schemeClr val="accent1"/>
          </a:lnRef>
          <a:fillRef idx="0">
            <a:schemeClr val="accent1"/>
          </a:fillRef>
          <a:effectRef idx="1">
            <a:schemeClr val="accent1"/>
          </a:effectRef>
          <a:fontRef idx="minor">
            <a:schemeClr val="tx1"/>
          </a:fontRef>
        </p:style>
      </p:cxnSp>
      <p:sp>
        <p:nvSpPr>
          <p:cNvPr id="29" name="Nuage 28"/>
          <p:cNvSpPr/>
          <p:nvPr/>
        </p:nvSpPr>
        <p:spPr>
          <a:xfrm>
            <a:off x="6467736" y="4362125"/>
            <a:ext cx="1683198" cy="988528"/>
          </a:xfrm>
          <a:prstGeom prst="cloud">
            <a:avLst/>
          </a:prstGeom>
          <a:solidFill>
            <a:schemeClr val="accent2">
              <a:lumMod val="75000"/>
              <a:alpha val="50000"/>
            </a:schemeClr>
          </a:solidFill>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r>
              <a:rPr lang="fr-FR">
                <a:solidFill>
                  <a:srgbClr val="000000"/>
                </a:solidFill>
              </a:rPr>
              <a:t>En-cours</a:t>
            </a:r>
          </a:p>
        </p:txBody>
      </p:sp>
      <p:sp>
        <p:nvSpPr>
          <p:cNvPr id="3" name="Espace réservé du contenu 5">
            <a:extLst>
              <a:ext uri="{FF2B5EF4-FFF2-40B4-BE49-F238E27FC236}">
                <a16:creationId xmlns:a16="http://schemas.microsoft.com/office/drawing/2014/main" id="{33F9E27A-A665-D97E-2A19-E2A9FFB21515}"/>
              </a:ext>
            </a:extLst>
          </p:cNvPr>
          <p:cNvSpPr txBox="1">
            <a:spLocks/>
          </p:cNvSpPr>
          <p:nvPr/>
        </p:nvSpPr>
        <p:spPr>
          <a:xfrm>
            <a:off x="4832890" y="1694188"/>
            <a:ext cx="4535404" cy="3028886"/>
          </a:xfrm>
          <a:prstGeom prst="rect">
            <a:avLst/>
          </a:prstGeom>
        </p:spPr>
        <p:txBody>
          <a:bodyPr vert="horz">
            <a:normAutofit fontScale="70000" lnSpcReduction="20000"/>
          </a:bodyPr>
          <a:lstStyle>
            <a:lvl1pPr marL="320040" indent="-320040" algn="l" rtl="0" eaLnBrk="1" latinLnBrk="0" hangingPunct="1">
              <a:spcBef>
                <a:spcPts val="700"/>
              </a:spcBef>
              <a:buClr>
                <a:schemeClr val="accent2"/>
              </a:buClr>
              <a:buSzPct val="80000"/>
              <a:buFont typeface="Wingdings" pitchFamily="2" charset="2"/>
              <a:buChar char="Ø"/>
              <a:defRPr kumimoji="0" sz="2400" kern="1200">
                <a:solidFill>
                  <a:schemeClr val="tx1"/>
                </a:solidFill>
                <a:latin typeface="+mn-lt"/>
                <a:ea typeface="Linux Biolinum G" pitchFamily="2" charset="0"/>
                <a:cs typeface="Linux Biolinum G" pitchFamily="2" charset="0"/>
              </a:defRPr>
            </a:lvl1pPr>
            <a:lvl2pPr marL="640080" indent="-274320" algn="l" rtl="0" eaLnBrk="1" latinLnBrk="0" hangingPunct="1">
              <a:spcBef>
                <a:spcPts val="550"/>
              </a:spcBef>
              <a:buClr>
                <a:schemeClr val="accent1"/>
              </a:buClr>
              <a:buSzPct val="70000"/>
              <a:buFont typeface="Wingdings 2"/>
              <a:buChar char=""/>
              <a:defRPr kumimoji="0" sz="2000" kern="1200">
                <a:solidFill>
                  <a:schemeClr val="tx1"/>
                </a:solidFill>
                <a:latin typeface="+mn-lt"/>
                <a:ea typeface="Linux Biolinum G" pitchFamily="2" charset="0"/>
                <a:cs typeface="Linux Biolinum G" pitchFamily="2" charset="0"/>
              </a:defRPr>
            </a:lvl2pPr>
            <a:lvl3pPr marL="914400" indent="-228600" algn="l" rtl="0" eaLnBrk="1" latinLnBrk="0" hangingPunct="1">
              <a:spcBef>
                <a:spcPts val="500"/>
              </a:spcBef>
              <a:buClr>
                <a:schemeClr val="accent2"/>
              </a:buClr>
              <a:buSzPct val="75000"/>
              <a:buFont typeface="Wingdings"/>
              <a:buChar char=""/>
              <a:defRPr kumimoji="0" sz="1800" kern="1200">
                <a:solidFill>
                  <a:schemeClr val="tx1"/>
                </a:solidFill>
                <a:latin typeface="+mn-lt"/>
                <a:ea typeface="Linux Biolinum G" pitchFamily="2" charset="0"/>
                <a:cs typeface="Linux Biolinum G" pitchFamily="2" charset="0"/>
              </a:defRPr>
            </a:lvl3pPr>
            <a:lvl4pPr marL="1371600" indent="-228600" algn="l" rtl="0" eaLnBrk="1" latinLnBrk="0" hangingPunct="1">
              <a:spcBef>
                <a:spcPts val="400"/>
              </a:spcBef>
              <a:buClr>
                <a:schemeClr val="accent3"/>
              </a:buClr>
              <a:buSzPct val="75000"/>
              <a:buFont typeface="Wingdings"/>
              <a:buChar char=""/>
              <a:defRPr kumimoji="0" sz="1600" kern="1200">
                <a:solidFill>
                  <a:schemeClr val="tx1"/>
                </a:solidFill>
                <a:latin typeface="+mn-lt"/>
                <a:ea typeface="Linux Biolinum G" pitchFamily="2" charset="0"/>
                <a:cs typeface="Linux Biolinum G" pitchFamily="2" charset="0"/>
              </a:defRPr>
            </a:lvl4pPr>
            <a:lvl5pPr marL="1828800" indent="-228600" algn="l" rtl="0" eaLnBrk="1" latinLnBrk="0" hangingPunct="1">
              <a:spcBef>
                <a:spcPts val="400"/>
              </a:spcBef>
              <a:buClr>
                <a:schemeClr val="accent4"/>
              </a:buClr>
              <a:buSzPct val="65000"/>
              <a:buFont typeface="Wingdings"/>
              <a:buChar char=""/>
              <a:defRPr kumimoji="0" sz="1600" kern="1200">
                <a:solidFill>
                  <a:schemeClr val="tx1"/>
                </a:solidFill>
                <a:latin typeface="+mn-lt"/>
                <a:ea typeface="Linux Biolinum G" pitchFamily="2" charset="0"/>
                <a:cs typeface="Linux Biolinum G" pitchFamily="2" charset="0"/>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SzPct val="60000"/>
              <a:buFont typeface="Wingdings" pitchFamily="2" charset="2"/>
              <a:buNone/>
            </a:pPr>
            <a:r>
              <a:rPr lang="fr-FR" b="1">
                <a:solidFill>
                  <a:srgbClr val="EF820B"/>
                </a:solidFill>
              </a:rPr>
              <a:t>Mais aussi : </a:t>
            </a:r>
          </a:p>
          <a:p>
            <a:endParaRPr lang="fr-FR" sz="2000"/>
          </a:p>
          <a:p>
            <a:r>
              <a:rPr lang="fr-FR" sz="2000">
                <a:solidFill>
                  <a:schemeClr val="accent3"/>
                </a:solidFill>
              </a:rPr>
              <a:t>Matières consommables </a:t>
            </a:r>
            <a:r>
              <a:rPr lang="fr-FR" sz="2000"/>
              <a:t>(matières nécessaires à la fabrication mais que l’on ne retrouve pas dans les produits),</a:t>
            </a:r>
          </a:p>
          <a:p>
            <a:r>
              <a:rPr lang="fr-FR" sz="2000">
                <a:solidFill>
                  <a:schemeClr val="accent3"/>
                </a:solidFill>
              </a:rPr>
              <a:t>Marchandises </a:t>
            </a:r>
            <a:r>
              <a:rPr lang="fr-FR" sz="2000"/>
              <a:t>(produits achetés pour être revendus sans transformation),</a:t>
            </a:r>
          </a:p>
          <a:p>
            <a:r>
              <a:rPr lang="fr-FR" sz="2000">
                <a:solidFill>
                  <a:schemeClr val="accent3"/>
                </a:solidFill>
              </a:rPr>
              <a:t>Emballages</a:t>
            </a:r>
            <a:r>
              <a:rPr lang="fr-FR" sz="2000"/>
              <a:t>,</a:t>
            </a:r>
          </a:p>
          <a:p>
            <a:r>
              <a:rPr lang="fr-FR" sz="2000">
                <a:solidFill>
                  <a:schemeClr val="accent3"/>
                </a:solidFill>
              </a:rPr>
              <a:t>Déchets </a:t>
            </a:r>
            <a:r>
              <a:rPr lang="fr-FR" sz="2000"/>
              <a:t>(surplus de matière après transformation),</a:t>
            </a:r>
          </a:p>
          <a:p>
            <a:r>
              <a:rPr lang="fr-FR" sz="2000">
                <a:solidFill>
                  <a:schemeClr val="accent3"/>
                </a:solidFill>
              </a:rPr>
              <a:t>Pièces de rechange</a:t>
            </a:r>
            <a:r>
              <a:rPr lang="fr-FR" sz="2000"/>
              <a:t>,</a:t>
            </a:r>
          </a:p>
          <a:p>
            <a:r>
              <a:rPr lang="fr-FR" sz="2000">
                <a:solidFill>
                  <a:schemeClr val="accent3"/>
                </a:solidFill>
              </a:rPr>
              <a:t>Pièces de sécurité</a:t>
            </a:r>
            <a:r>
              <a:rPr lang="fr-FR" sz="2000"/>
              <a:t>,</a:t>
            </a:r>
          </a:p>
        </p:txBody>
      </p:sp>
    </p:spTree>
    <p:extLst>
      <p:ext uri="{BB962C8B-B14F-4D97-AF65-F5344CB8AC3E}">
        <p14:creationId xmlns:p14="http://schemas.microsoft.com/office/powerpoint/2010/main" val="424926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ABDEC3-D9C1-4C71-958F-95C9AE4F4AFD}"/>
              </a:ext>
            </a:extLst>
          </p:cNvPr>
          <p:cNvSpPr>
            <a:spLocks noGrp="1"/>
          </p:cNvSpPr>
          <p:nvPr>
            <p:ph type="title"/>
          </p:nvPr>
        </p:nvSpPr>
        <p:spPr/>
        <p:txBody>
          <a:bodyPr/>
          <a:lstStyle/>
          <a:p>
            <a:r>
              <a:rPr lang="fr-FR"/>
              <a:t>Fonction STOCK</a:t>
            </a:r>
          </a:p>
        </p:txBody>
      </p:sp>
      <p:sp>
        <p:nvSpPr>
          <p:cNvPr id="3" name="Espace réservé du numéro de diapositive 2">
            <a:extLst>
              <a:ext uri="{FF2B5EF4-FFF2-40B4-BE49-F238E27FC236}">
                <a16:creationId xmlns:a16="http://schemas.microsoft.com/office/drawing/2014/main" id="{1F9BF6F5-C11D-421C-8469-CD42FA9B02F1}"/>
              </a:ext>
            </a:extLst>
          </p:cNvPr>
          <p:cNvSpPr>
            <a:spLocks noGrp="1"/>
          </p:cNvSpPr>
          <p:nvPr>
            <p:ph type="sldNum" sz="quarter" idx="10"/>
          </p:nvPr>
        </p:nvSpPr>
        <p:spPr/>
        <p:txBody>
          <a:bodyPr>
            <a:normAutofit fontScale="92500" lnSpcReduction="10000"/>
          </a:bodyPr>
          <a:lstStyle/>
          <a:p>
            <a:fld id="{BD146C00-CF3E-4938-A2C5-B6969EAD70D4}" type="slidenum">
              <a:rPr lang="fr-FR" smtClean="0"/>
              <a:pPr/>
              <a:t>5</a:t>
            </a:fld>
            <a:endParaRPr lang="fr-FR"/>
          </a:p>
        </p:txBody>
      </p:sp>
      <p:sp>
        <p:nvSpPr>
          <p:cNvPr id="5" name="ZoneTexte 4">
            <a:extLst>
              <a:ext uri="{FF2B5EF4-FFF2-40B4-BE49-F238E27FC236}">
                <a16:creationId xmlns:a16="http://schemas.microsoft.com/office/drawing/2014/main" id="{78A53334-0F3D-42E3-B891-F38A8F415F8A}"/>
              </a:ext>
            </a:extLst>
          </p:cNvPr>
          <p:cNvSpPr txBox="1"/>
          <p:nvPr/>
        </p:nvSpPr>
        <p:spPr>
          <a:xfrm>
            <a:off x="533400" y="1728224"/>
            <a:ext cx="3312368" cy="584775"/>
          </a:xfrm>
          <a:prstGeom prst="rect">
            <a:avLst/>
          </a:prstGeom>
          <a:noFill/>
          <a:ln>
            <a:noFill/>
          </a:ln>
        </p:spPr>
        <p:txBody>
          <a:bodyPr wrap="square" rtlCol="0">
            <a:spAutoFit/>
          </a:bodyPr>
          <a:lstStyle/>
          <a:p>
            <a:pPr algn="ctr"/>
            <a:r>
              <a:rPr lang="fr-FR" sz="3200">
                <a:solidFill>
                  <a:schemeClr val="accent3"/>
                </a:solidFill>
              </a:rPr>
              <a:t>Suivi des stocks</a:t>
            </a:r>
          </a:p>
        </p:txBody>
      </p:sp>
      <p:sp>
        <p:nvSpPr>
          <p:cNvPr id="6" name="ZoneTexte 5">
            <a:extLst>
              <a:ext uri="{FF2B5EF4-FFF2-40B4-BE49-F238E27FC236}">
                <a16:creationId xmlns:a16="http://schemas.microsoft.com/office/drawing/2014/main" id="{7717498D-48FF-4ABC-93D3-7A450FF90534}"/>
              </a:ext>
            </a:extLst>
          </p:cNvPr>
          <p:cNvSpPr txBox="1"/>
          <p:nvPr/>
        </p:nvSpPr>
        <p:spPr>
          <a:xfrm>
            <a:off x="5126508" y="1728223"/>
            <a:ext cx="3580938" cy="584775"/>
          </a:xfrm>
          <a:prstGeom prst="rect">
            <a:avLst/>
          </a:prstGeom>
          <a:noFill/>
          <a:ln>
            <a:noFill/>
          </a:ln>
        </p:spPr>
        <p:txBody>
          <a:bodyPr wrap="square" rtlCol="0">
            <a:spAutoFit/>
          </a:bodyPr>
          <a:lstStyle/>
          <a:p>
            <a:pPr algn="ctr"/>
            <a:r>
              <a:rPr lang="fr-FR" sz="3200">
                <a:solidFill>
                  <a:schemeClr val="accent3"/>
                </a:solidFill>
              </a:rPr>
              <a:t>Gestion des stocks</a:t>
            </a:r>
          </a:p>
        </p:txBody>
      </p:sp>
      <p:sp>
        <p:nvSpPr>
          <p:cNvPr id="7" name="ZoneTexte 6">
            <a:extLst>
              <a:ext uri="{FF2B5EF4-FFF2-40B4-BE49-F238E27FC236}">
                <a16:creationId xmlns:a16="http://schemas.microsoft.com/office/drawing/2014/main" id="{85022E69-B22E-4AB0-891B-B5E490A0AB5C}"/>
              </a:ext>
            </a:extLst>
          </p:cNvPr>
          <p:cNvSpPr txBox="1"/>
          <p:nvPr/>
        </p:nvSpPr>
        <p:spPr>
          <a:xfrm>
            <a:off x="191477" y="2312998"/>
            <a:ext cx="4896544" cy="4058932"/>
          </a:xfrm>
          <a:prstGeom prst="rect">
            <a:avLst/>
          </a:prstGeom>
          <a:noFill/>
        </p:spPr>
        <p:txBody>
          <a:bodyPr wrap="square" rtlCol="0">
            <a:spAutoFit/>
          </a:bodyPr>
          <a:lstStyle/>
          <a:p>
            <a:pPr>
              <a:lnSpc>
                <a:spcPct val="120000"/>
              </a:lnSpc>
            </a:pPr>
            <a:r>
              <a:rPr lang="fr-FR"/>
              <a:t>Connaître en temps réel pour chaque article :</a:t>
            </a:r>
          </a:p>
          <a:p>
            <a:pPr marL="742950" lvl="1" indent="-285750">
              <a:lnSpc>
                <a:spcPct val="120000"/>
              </a:lnSpc>
              <a:buFont typeface="Arial"/>
              <a:buChar char="•"/>
            </a:pPr>
            <a:r>
              <a:rPr lang="fr-FR"/>
              <a:t>Quantité en stock,</a:t>
            </a:r>
          </a:p>
          <a:p>
            <a:pPr marL="742950" lvl="1" indent="-285750">
              <a:lnSpc>
                <a:spcPct val="120000"/>
              </a:lnSpc>
              <a:buFont typeface="Arial"/>
              <a:buChar char="•"/>
            </a:pPr>
            <a:r>
              <a:rPr lang="fr-FR"/>
              <a:t>Valorisation.</a:t>
            </a:r>
          </a:p>
          <a:p>
            <a:pPr>
              <a:lnSpc>
                <a:spcPct val="120000"/>
              </a:lnSpc>
            </a:pPr>
            <a:endParaRPr lang="fr-FR"/>
          </a:p>
          <a:p>
            <a:pPr>
              <a:lnSpc>
                <a:spcPct val="120000"/>
              </a:lnSpc>
            </a:pPr>
            <a:r>
              <a:rPr lang="fr-FR"/>
              <a:t>Contrôle physique </a:t>
            </a:r>
            <a:r>
              <a:rPr lang="fr-FR">
                <a:sym typeface="Wingdings"/>
              </a:rPr>
              <a:t> </a:t>
            </a:r>
            <a:r>
              <a:rPr lang="fr-FR">
                <a:solidFill>
                  <a:schemeClr val="accent3"/>
                </a:solidFill>
              </a:rPr>
              <a:t>inventaire</a:t>
            </a:r>
            <a:r>
              <a:rPr lang="fr-FR">
                <a:solidFill>
                  <a:srgbClr val="7ED37C"/>
                </a:solidFill>
              </a:rPr>
              <a:t> :</a:t>
            </a:r>
            <a:endParaRPr lang="fr-FR" sz="1000">
              <a:solidFill>
                <a:srgbClr val="7ED37C"/>
              </a:solidFill>
            </a:endParaRPr>
          </a:p>
          <a:p>
            <a:pPr marL="742950" lvl="1" indent="-285750">
              <a:lnSpc>
                <a:spcPct val="120000"/>
              </a:lnSpc>
              <a:buFont typeface="Arial"/>
              <a:buChar char="•"/>
            </a:pPr>
            <a:r>
              <a:rPr lang="fr-FR"/>
              <a:t>Permanent : mise à jour à chaque entrée/sortie,</a:t>
            </a:r>
          </a:p>
          <a:p>
            <a:pPr marL="742950" lvl="1" indent="-285750">
              <a:lnSpc>
                <a:spcPct val="120000"/>
              </a:lnSpc>
              <a:buFont typeface="Arial"/>
              <a:buChar char="•"/>
            </a:pPr>
            <a:r>
              <a:rPr lang="fr-FR"/>
              <a:t>Tournant : vérification de l’exactitude des quantités, localisation,</a:t>
            </a:r>
          </a:p>
          <a:p>
            <a:pPr marL="742950" lvl="1" indent="-285750">
              <a:lnSpc>
                <a:spcPct val="120000"/>
              </a:lnSpc>
              <a:buFont typeface="Arial"/>
              <a:buChar char="•"/>
            </a:pPr>
            <a:r>
              <a:rPr lang="fr-FR"/>
              <a:t>Par comptage : (une fois par an généralement en fin d’exercice comptable).</a:t>
            </a:r>
          </a:p>
        </p:txBody>
      </p:sp>
      <p:sp>
        <p:nvSpPr>
          <p:cNvPr id="8" name="ZoneTexte 7">
            <a:extLst>
              <a:ext uri="{FF2B5EF4-FFF2-40B4-BE49-F238E27FC236}">
                <a16:creationId xmlns:a16="http://schemas.microsoft.com/office/drawing/2014/main" id="{29104D04-3A66-455F-8C06-42E47DB6F918}"/>
              </a:ext>
            </a:extLst>
          </p:cNvPr>
          <p:cNvSpPr txBox="1"/>
          <p:nvPr/>
        </p:nvSpPr>
        <p:spPr>
          <a:xfrm>
            <a:off x="5202070" y="2312998"/>
            <a:ext cx="3672408" cy="2064540"/>
          </a:xfrm>
          <a:prstGeom prst="rect">
            <a:avLst/>
          </a:prstGeom>
          <a:noFill/>
        </p:spPr>
        <p:txBody>
          <a:bodyPr wrap="square" rtlCol="0">
            <a:spAutoFit/>
          </a:bodyPr>
          <a:lstStyle/>
          <a:p>
            <a:pPr marL="285750" indent="-285750">
              <a:lnSpc>
                <a:spcPct val="120000"/>
              </a:lnSpc>
              <a:buFont typeface="Arial"/>
              <a:buChar char="•"/>
            </a:pPr>
            <a:r>
              <a:rPr lang="fr-FR"/>
              <a:t>Définir la stratégie de réapprovisionnement la mieux adaptée pour chaque article,</a:t>
            </a:r>
          </a:p>
          <a:p>
            <a:pPr>
              <a:lnSpc>
                <a:spcPct val="120000"/>
              </a:lnSpc>
            </a:pPr>
            <a:endParaRPr lang="fr-FR"/>
          </a:p>
          <a:p>
            <a:pPr marL="285750" indent="-285750">
              <a:lnSpc>
                <a:spcPct val="120000"/>
              </a:lnSpc>
              <a:buFont typeface="Arial"/>
              <a:buChar char="•"/>
            </a:pPr>
            <a:r>
              <a:rPr lang="fr-FR"/>
              <a:t>Calculer les paramètres utiles à cette stratégie.</a:t>
            </a:r>
          </a:p>
        </p:txBody>
      </p:sp>
    </p:spTree>
    <p:extLst>
      <p:ext uri="{BB962C8B-B14F-4D97-AF65-F5344CB8AC3E}">
        <p14:creationId xmlns:p14="http://schemas.microsoft.com/office/powerpoint/2010/main" val="386733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261443-002F-4155-AE6D-F8B13D13C51C}"/>
              </a:ext>
            </a:extLst>
          </p:cNvPr>
          <p:cNvSpPr>
            <a:spLocks noGrp="1"/>
          </p:cNvSpPr>
          <p:nvPr>
            <p:ph type="title"/>
          </p:nvPr>
        </p:nvSpPr>
        <p:spPr/>
        <p:txBody>
          <a:bodyPr/>
          <a:lstStyle/>
          <a:p>
            <a:r>
              <a:rPr lang="fr-FR"/>
              <a:t>Stock – A/I</a:t>
            </a:r>
          </a:p>
        </p:txBody>
      </p:sp>
      <p:sp>
        <p:nvSpPr>
          <p:cNvPr id="3" name="Espace réservé du numéro de diapositive 2">
            <a:extLst>
              <a:ext uri="{FF2B5EF4-FFF2-40B4-BE49-F238E27FC236}">
                <a16:creationId xmlns:a16="http://schemas.microsoft.com/office/drawing/2014/main" id="{736062FE-B658-4B93-83FE-10A943E8EA44}"/>
              </a:ext>
            </a:extLst>
          </p:cNvPr>
          <p:cNvSpPr>
            <a:spLocks noGrp="1"/>
          </p:cNvSpPr>
          <p:nvPr>
            <p:ph type="sldNum" sz="quarter" idx="10"/>
          </p:nvPr>
        </p:nvSpPr>
        <p:spPr/>
        <p:txBody>
          <a:bodyPr>
            <a:normAutofit fontScale="92500" lnSpcReduction="10000"/>
          </a:bodyPr>
          <a:lstStyle/>
          <a:p>
            <a:fld id="{BD146C00-CF3E-4938-A2C5-B6969EAD70D4}" type="slidenum">
              <a:rPr lang="fr-FR" smtClean="0"/>
              <a:pPr/>
              <a:t>6</a:t>
            </a:fld>
            <a:endParaRPr lang="fr-FR"/>
          </a:p>
        </p:txBody>
      </p:sp>
      <p:sp>
        <p:nvSpPr>
          <p:cNvPr id="4" name="Espace réservé du texte 3">
            <a:extLst>
              <a:ext uri="{FF2B5EF4-FFF2-40B4-BE49-F238E27FC236}">
                <a16:creationId xmlns:a16="http://schemas.microsoft.com/office/drawing/2014/main" id="{E71BF590-F1C3-493B-B4D0-021BCA880AA2}"/>
              </a:ext>
            </a:extLst>
          </p:cNvPr>
          <p:cNvSpPr>
            <a:spLocks noGrp="1"/>
          </p:cNvSpPr>
          <p:nvPr>
            <p:ph type="body" sz="quarter" idx="12"/>
          </p:nvPr>
        </p:nvSpPr>
        <p:spPr>
          <a:xfrm>
            <a:off x="280102" y="2069624"/>
            <a:ext cx="4111877" cy="4329333"/>
          </a:xfrm>
        </p:spPr>
        <p:txBody>
          <a:bodyPr>
            <a:normAutofit fontScale="70000" lnSpcReduction="20000"/>
          </a:bodyPr>
          <a:lstStyle/>
          <a:p>
            <a:pPr marL="320040" lvl="1" indent="-320040">
              <a:spcBef>
                <a:spcPts val="700"/>
              </a:spcBef>
              <a:buClr>
                <a:schemeClr val="accent2"/>
              </a:buClr>
              <a:buSzPct val="80000"/>
              <a:buFont typeface="Wingdings" pitchFamily="2" charset="2"/>
              <a:buChar char="Ø"/>
            </a:pPr>
            <a:r>
              <a:rPr lang="fr-FR" sz="3000"/>
              <a:t>Avantages</a:t>
            </a:r>
          </a:p>
          <a:p>
            <a:pPr marL="365760" lvl="1" indent="0">
              <a:spcBef>
                <a:spcPts val="300"/>
              </a:spcBef>
              <a:buNone/>
            </a:pPr>
            <a:endParaRPr lang="fr-FR" sz="2400"/>
          </a:p>
          <a:p>
            <a:pPr lvl="1">
              <a:spcBef>
                <a:spcPts val="300"/>
              </a:spcBef>
            </a:pPr>
            <a:r>
              <a:rPr lang="fr-FR" sz="2400" i="1"/>
              <a:t>Découplage dans le temps de la production et de la consommation</a:t>
            </a:r>
          </a:p>
          <a:p>
            <a:pPr lvl="1">
              <a:spcBef>
                <a:spcPts val="300"/>
              </a:spcBef>
            </a:pPr>
            <a:r>
              <a:rPr lang="fr-FR" sz="2400"/>
              <a:t>Achat en quantité permettant des réductions sur prix d’achat,</a:t>
            </a:r>
          </a:p>
          <a:p>
            <a:pPr lvl="1">
              <a:spcBef>
                <a:spcPts val="300"/>
              </a:spcBef>
            </a:pPr>
            <a:r>
              <a:rPr lang="fr-FR" sz="2400"/>
              <a:t>Fabrication en série pour amortir les temps de réglage,</a:t>
            </a:r>
          </a:p>
          <a:p>
            <a:pPr lvl="1">
              <a:spcBef>
                <a:spcPts val="300"/>
              </a:spcBef>
            </a:pPr>
            <a:r>
              <a:rPr lang="fr-FR" sz="2400"/>
              <a:t>Regroupement des transports,</a:t>
            </a:r>
          </a:p>
          <a:p>
            <a:pPr lvl="1">
              <a:spcBef>
                <a:spcPts val="300"/>
              </a:spcBef>
            </a:pPr>
            <a:r>
              <a:rPr lang="fr-FR" sz="2400"/>
              <a:t>Prévention de la pénurie,</a:t>
            </a:r>
          </a:p>
          <a:p>
            <a:pPr lvl="1">
              <a:spcBef>
                <a:spcPts val="300"/>
              </a:spcBef>
            </a:pPr>
            <a:r>
              <a:rPr lang="fr-FR" sz="2400"/>
              <a:t>Amortissement des conséquences du type panne, absentéisme, rupture d’appro,</a:t>
            </a:r>
          </a:p>
          <a:p>
            <a:pPr lvl="1">
              <a:spcBef>
                <a:spcPts val="300"/>
              </a:spcBef>
            </a:pPr>
            <a:r>
              <a:rPr lang="fr-FR" sz="2400"/>
              <a:t>Spéculation</a:t>
            </a:r>
          </a:p>
          <a:p>
            <a:pPr lvl="1">
              <a:spcBef>
                <a:spcPts val="300"/>
              </a:spcBef>
            </a:pPr>
            <a:endParaRPr lang="fr-FR" sz="2400"/>
          </a:p>
          <a:p>
            <a:pPr lvl="1">
              <a:spcBef>
                <a:spcPts val="300"/>
              </a:spcBef>
            </a:pPr>
            <a:r>
              <a:rPr lang="fr-FR" sz="2400"/>
              <a:t>…</a:t>
            </a:r>
          </a:p>
        </p:txBody>
      </p:sp>
      <p:sp>
        <p:nvSpPr>
          <p:cNvPr id="5" name="Espace réservé du texte 3">
            <a:extLst>
              <a:ext uri="{FF2B5EF4-FFF2-40B4-BE49-F238E27FC236}">
                <a16:creationId xmlns:a16="http://schemas.microsoft.com/office/drawing/2014/main" id="{D11F5F71-1DD4-333A-DFF2-23F6E37456B0}"/>
              </a:ext>
            </a:extLst>
          </p:cNvPr>
          <p:cNvSpPr txBox="1">
            <a:spLocks/>
          </p:cNvSpPr>
          <p:nvPr/>
        </p:nvSpPr>
        <p:spPr>
          <a:xfrm>
            <a:off x="4868526" y="2054788"/>
            <a:ext cx="4275474" cy="2949387"/>
          </a:xfrm>
          <a:prstGeom prst="rect">
            <a:avLst/>
          </a:prstGeom>
        </p:spPr>
        <p:txBody>
          <a:bodyPr vert="horz">
            <a:normAutofit fontScale="70000" lnSpcReduction="20000"/>
          </a:bodyPr>
          <a:lstStyle>
            <a:lvl1pPr marL="320040" indent="-320040" algn="l" rtl="0" eaLnBrk="1" latinLnBrk="0" hangingPunct="1">
              <a:spcBef>
                <a:spcPts val="700"/>
              </a:spcBef>
              <a:buClr>
                <a:schemeClr val="accent2"/>
              </a:buClr>
              <a:buSzPct val="80000"/>
              <a:buFont typeface="Wingdings" pitchFamily="2" charset="2"/>
              <a:buChar char="Ø"/>
              <a:defRPr kumimoji="0" sz="2400" kern="1200">
                <a:solidFill>
                  <a:schemeClr val="tx1"/>
                </a:solidFill>
                <a:latin typeface="+mn-lt"/>
                <a:ea typeface="Linux Biolinum G" pitchFamily="2" charset="0"/>
                <a:cs typeface="Linux Biolinum G" pitchFamily="2" charset="0"/>
              </a:defRPr>
            </a:lvl1pPr>
            <a:lvl2pPr marL="640080" indent="-274320" algn="l" rtl="0" eaLnBrk="1" latinLnBrk="0" hangingPunct="1">
              <a:spcBef>
                <a:spcPts val="550"/>
              </a:spcBef>
              <a:buClr>
                <a:schemeClr val="accent1"/>
              </a:buClr>
              <a:buSzPct val="70000"/>
              <a:buFont typeface="Wingdings 2"/>
              <a:buChar char=""/>
              <a:defRPr kumimoji="0" sz="2000" kern="1200">
                <a:solidFill>
                  <a:schemeClr val="tx1"/>
                </a:solidFill>
                <a:latin typeface="+mn-lt"/>
                <a:ea typeface="Linux Biolinum G" pitchFamily="2" charset="0"/>
                <a:cs typeface="Linux Biolinum G" pitchFamily="2" charset="0"/>
              </a:defRPr>
            </a:lvl2pPr>
            <a:lvl3pPr marL="914400" indent="-228600" algn="l" rtl="0" eaLnBrk="1" latinLnBrk="0" hangingPunct="1">
              <a:spcBef>
                <a:spcPts val="500"/>
              </a:spcBef>
              <a:buClr>
                <a:schemeClr val="accent2"/>
              </a:buClr>
              <a:buSzPct val="75000"/>
              <a:buFont typeface="Wingdings"/>
              <a:buChar char=""/>
              <a:defRPr kumimoji="0" sz="1800" kern="1200">
                <a:solidFill>
                  <a:schemeClr val="tx1"/>
                </a:solidFill>
                <a:latin typeface="+mn-lt"/>
                <a:ea typeface="Linux Biolinum G" pitchFamily="2" charset="0"/>
                <a:cs typeface="Linux Biolinum G" pitchFamily="2" charset="0"/>
              </a:defRPr>
            </a:lvl3pPr>
            <a:lvl4pPr marL="1371600" indent="-228600" algn="l" rtl="0" eaLnBrk="1" latinLnBrk="0" hangingPunct="1">
              <a:spcBef>
                <a:spcPts val="400"/>
              </a:spcBef>
              <a:buClr>
                <a:schemeClr val="accent3"/>
              </a:buClr>
              <a:buSzPct val="75000"/>
              <a:buFont typeface="Wingdings"/>
              <a:buChar char=""/>
              <a:defRPr kumimoji="0" sz="1600" kern="1200">
                <a:solidFill>
                  <a:schemeClr val="tx1"/>
                </a:solidFill>
                <a:latin typeface="+mn-lt"/>
                <a:ea typeface="Linux Biolinum G" pitchFamily="2" charset="0"/>
                <a:cs typeface="Linux Biolinum G" pitchFamily="2" charset="0"/>
              </a:defRPr>
            </a:lvl4pPr>
            <a:lvl5pPr marL="1828800" indent="-228600" algn="l" rtl="0" eaLnBrk="1" latinLnBrk="0" hangingPunct="1">
              <a:spcBef>
                <a:spcPts val="400"/>
              </a:spcBef>
              <a:buClr>
                <a:schemeClr val="accent4"/>
              </a:buClr>
              <a:buSzPct val="65000"/>
              <a:buFont typeface="Wingdings"/>
              <a:buChar char=""/>
              <a:defRPr kumimoji="0" sz="1600" kern="1200">
                <a:solidFill>
                  <a:schemeClr val="tx1"/>
                </a:solidFill>
                <a:latin typeface="+mn-lt"/>
                <a:ea typeface="Linux Biolinum G" pitchFamily="2" charset="0"/>
                <a:cs typeface="Linux Biolinum G" pitchFamily="2" charset="0"/>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fr-FR" sz="2800"/>
              <a:t>Inconvénients</a:t>
            </a:r>
          </a:p>
          <a:p>
            <a:endParaRPr lang="fr-FR" sz="2800">
              <a:solidFill>
                <a:schemeClr val="accent6">
                  <a:lumMod val="60000"/>
                  <a:lumOff val="40000"/>
                </a:schemeClr>
              </a:solidFill>
            </a:endParaRPr>
          </a:p>
          <a:p>
            <a:pPr lvl="1"/>
            <a:r>
              <a:rPr lang="fr-FR" sz="2400"/>
              <a:t>Immobilisent des capitaux,</a:t>
            </a:r>
          </a:p>
          <a:p>
            <a:pPr lvl="1"/>
            <a:r>
              <a:rPr lang="fr-FR" sz="2400"/>
              <a:t>Occupent des surfaces,</a:t>
            </a:r>
          </a:p>
          <a:p>
            <a:pPr lvl="1"/>
            <a:r>
              <a:rPr lang="fr-FR" sz="2400"/>
              <a:t>Augmentent les délais de production,</a:t>
            </a:r>
          </a:p>
          <a:p>
            <a:pPr lvl="1"/>
            <a:r>
              <a:rPr lang="fr-FR" sz="2400"/>
              <a:t>Augmentent les risques de pertes dans le cas de produits périssables,</a:t>
            </a:r>
          </a:p>
          <a:p>
            <a:pPr lvl="1"/>
            <a:r>
              <a:rPr lang="fr-FR" sz="2400"/>
              <a:t>Augmentent le risque d’invendus,…</a:t>
            </a:r>
          </a:p>
          <a:p>
            <a:endParaRPr lang="fr-FR" sz="2800"/>
          </a:p>
        </p:txBody>
      </p:sp>
    </p:spTree>
    <p:extLst>
      <p:ext uri="{BB962C8B-B14F-4D97-AF65-F5344CB8AC3E}">
        <p14:creationId xmlns:p14="http://schemas.microsoft.com/office/powerpoint/2010/main" val="1244312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stretch>
            <a:fillRect/>
          </a:stretch>
        </p:blipFill>
        <p:spPr>
          <a:xfrm flipH="1">
            <a:off x="2655888" y="2290763"/>
            <a:ext cx="1816100" cy="1638300"/>
          </a:xfrm>
          <a:prstGeom prst="rect">
            <a:avLst/>
          </a:prstGeom>
        </p:spPr>
      </p:pic>
      <p:sp>
        <p:nvSpPr>
          <p:cNvPr id="2" name="Titre 1"/>
          <p:cNvSpPr>
            <a:spLocks noGrp="1"/>
          </p:cNvSpPr>
          <p:nvPr>
            <p:ph type="title"/>
          </p:nvPr>
        </p:nvSpPr>
        <p:spPr/>
        <p:txBody>
          <a:bodyPr>
            <a:normAutofit/>
          </a:bodyPr>
          <a:lstStyle/>
          <a:p>
            <a:r>
              <a:rPr lang="fr-CA"/>
              <a:t>Le niveau des stocks</a:t>
            </a:r>
            <a:endParaRPr lang="fr-FR"/>
          </a:p>
        </p:txBody>
      </p:sp>
      <p:sp>
        <p:nvSpPr>
          <p:cNvPr id="3" name="Espace réservé du numéro de diapositive 2"/>
          <p:cNvSpPr>
            <a:spLocks noGrp="1"/>
          </p:cNvSpPr>
          <p:nvPr>
            <p:ph type="sldNum" sz="quarter" idx="10"/>
          </p:nvPr>
        </p:nvSpPr>
        <p:spPr/>
        <p:txBody>
          <a:bodyPr>
            <a:normAutofit fontScale="92500" lnSpcReduction="10000"/>
          </a:bodyPr>
          <a:lstStyle/>
          <a:p>
            <a:fld id="{CF4668DC-857F-487D-BFFA-8C0CA5037977}" type="slidenum">
              <a:rPr lang="fr-BE" smtClean="0"/>
              <a:pPr/>
              <a:t>7</a:t>
            </a:fld>
            <a:endParaRPr lang="fr-BE"/>
          </a:p>
        </p:txBody>
      </p:sp>
      <p:sp>
        <p:nvSpPr>
          <p:cNvPr id="22" name="Espace réservé du contenu 21"/>
          <p:cNvSpPr>
            <a:spLocks noGrp="1"/>
          </p:cNvSpPr>
          <p:nvPr>
            <p:ph type="body" sz="quarter" idx="12"/>
          </p:nvPr>
        </p:nvSpPr>
        <p:spPr/>
        <p:txBody>
          <a:bodyPr/>
          <a:lstStyle/>
          <a:p>
            <a:r>
              <a:rPr lang="fr-FR"/>
              <a:t>Les stocks « au cas où »…</a:t>
            </a:r>
          </a:p>
        </p:txBody>
      </p:sp>
      <p:grpSp>
        <p:nvGrpSpPr>
          <p:cNvPr id="12" name="Group 10"/>
          <p:cNvGrpSpPr>
            <a:grpSpLocks/>
          </p:cNvGrpSpPr>
          <p:nvPr/>
        </p:nvGrpSpPr>
        <p:grpSpPr bwMode="auto">
          <a:xfrm>
            <a:off x="1787525" y="5095877"/>
            <a:ext cx="6364288" cy="1236663"/>
            <a:chOff x="1126" y="3210"/>
            <a:chExt cx="4009" cy="779"/>
          </a:xfrm>
          <a:solidFill>
            <a:schemeClr val="bg1">
              <a:lumMod val="75000"/>
            </a:schemeClr>
          </a:solidFill>
        </p:grpSpPr>
        <p:sp>
          <p:nvSpPr>
            <p:cNvPr id="13" name="Freeform 11"/>
            <p:cNvSpPr>
              <a:spLocks/>
            </p:cNvSpPr>
            <p:nvPr/>
          </p:nvSpPr>
          <p:spPr bwMode="auto">
            <a:xfrm>
              <a:off x="1126" y="3210"/>
              <a:ext cx="4009" cy="779"/>
            </a:xfrm>
            <a:custGeom>
              <a:avLst/>
              <a:gdLst>
                <a:gd name="T0" fmla="*/ 0 w 4013"/>
                <a:gd name="T1" fmla="*/ 475 h 475"/>
                <a:gd name="T2" fmla="*/ 55 w 4013"/>
                <a:gd name="T3" fmla="*/ 466 h 475"/>
                <a:gd name="T4" fmla="*/ 109 w 4013"/>
                <a:gd name="T5" fmla="*/ 448 h 475"/>
                <a:gd name="T6" fmla="*/ 155 w 4013"/>
                <a:gd name="T7" fmla="*/ 338 h 475"/>
                <a:gd name="T8" fmla="*/ 237 w 4013"/>
                <a:gd name="T9" fmla="*/ 228 h 475"/>
                <a:gd name="T10" fmla="*/ 347 w 4013"/>
                <a:gd name="T11" fmla="*/ 219 h 475"/>
                <a:gd name="T12" fmla="*/ 411 w 4013"/>
                <a:gd name="T13" fmla="*/ 155 h 475"/>
                <a:gd name="T14" fmla="*/ 466 w 4013"/>
                <a:gd name="T15" fmla="*/ 91 h 475"/>
                <a:gd name="T16" fmla="*/ 548 w 4013"/>
                <a:gd name="T17" fmla="*/ 109 h 475"/>
                <a:gd name="T18" fmla="*/ 567 w 4013"/>
                <a:gd name="T19" fmla="*/ 128 h 475"/>
                <a:gd name="T20" fmla="*/ 621 w 4013"/>
                <a:gd name="T21" fmla="*/ 146 h 475"/>
                <a:gd name="T22" fmla="*/ 649 w 4013"/>
                <a:gd name="T23" fmla="*/ 265 h 475"/>
                <a:gd name="T24" fmla="*/ 676 w 4013"/>
                <a:gd name="T25" fmla="*/ 283 h 475"/>
                <a:gd name="T26" fmla="*/ 731 w 4013"/>
                <a:gd name="T27" fmla="*/ 347 h 475"/>
                <a:gd name="T28" fmla="*/ 804 w 4013"/>
                <a:gd name="T29" fmla="*/ 411 h 475"/>
                <a:gd name="T30" fmla="*/ 859 w 4013"/>
                <a:gd name="T31" fmla="*/ 429 h 475"/>
                <a:gd name="T32" fmla="*/ 932 w 4013"/>
                <a:gd name="T33" fmla="*/ 448 h 475"/>
                <a:gd name="T34" fmla="*/ 996 w 4013"/>
                <a:gd name="T35" fmla="*/ 356 h 475"/>
                <a:gd name="T36" fmla="*/ 1051 w 4013"/>
                <a:gd name="T37" fmla="*/ 338 h 475"/>
                <a:gd name="T38" fmla="*/ 1079 w 4013"/>
                <a:gd name="T39" fmla="*/ 329 h 475"/>
                <a:gd name="T40" fmla="*/ 1143 w 4013"/>
                <a:gd name="T41" fmla="*/ 274 h 475"/>
                <a:gd name="T42" fmla="*/ 1161 w 4013"/>
                <a:gd name="T43" fmla="*/ 219 h 475"/>
                <a:gd name="T44" fmla="*/ 1170 w 4013"/>
                <a:gd name="T45" fmla="*/ 192 h 475"/>
                <a:gd name="T46" fmla="*/ 1188 w 4013"/>
                <a:gd name="T47" fmla="*/ 54 h 475"/>
                <a:gd name="T48" fmla="*/ 1316 w 4013"/>
                <a:gd name="T49" fmla="*/ 64 h 475"/>
                <a:gd name="T50" fmla="*/ 1371 w 4013"/>
                <a:gd name="T51" fmla="*/ 100 h 475"/>
                <a:gd name="T52" fmla="*/ 1536 w 4013"/>
                <a:gd name="T53" fmla="*/ 128 h 475"/>
                <a:gd name="T54" fmla="*/ 1591 w 4013"/>
                <a:gd name="T55" fmla="*/ 228 h 475"/>
                <a:gd name="T56" fmla="*/ 1627 w 4013"/>
                <a:gd name="T57" fmla="*/ 347 h 475"/>
                <a:gd name="T58" fmla="*/ 1673 w 4013"/>
                <a:gd name="T59" fmla="*/ 393 h 475"/>
                <a:gd name="T60" fmla="*/ 1728 w 4013"/>
                <a:gd name="T61" fmla="*/ 411 h 475"/>
                <a:gd name="T62" fmla="*/ 1810 w 4013"/>
                <a:gd name="T63" fmla="*/ 384 h 475"/>
                <a:gd name="T64" fmla="*/ 1856 w 4013"/>
                <a:gd name="T65" fmla="*/ 310 h 475"/>
                <a:gd name="T66" fmla="*/ 1883 w 4013"/>
                <a:gd name="T67" fmla="*/ 301 h 475"/>
                <a:gd name="T68" fmla="*/ 1938 w 4013"/>
                <a:gd name="T69" fmla="*/ 265 h 475"/>
                <a:gd name="T70" fmla="*/ 2039 w 4013"/>
                <a:gd name="T71" fmla="*/ 173 h 475"/>
                <a:gd name="T72" fmla="*/ 2066 w 4013"/>
                <a:gd name="T73" fmla="*/ 155 h 475"/>
                <a:gd name="T74" fmla="*/ 2084 w 4013"/>
                <a:gd name="T75" fmla="*/ 128 h 475"/>
                <a:gd name="T76" fmla="*/ 2121 w 4013"/>
                <a:gd name="T77" fmla="*/ 109 h 475"/>
                <a:gd name="T78" fmla="*/ 2176 w 4013"/>
                <a:gd name="T79" fmla="*/ 73 h 475"/>
                <a:gd name="T80" fmla="*/ 2276 w 4013"/>
                <a:gd name="T81" fmla="*/ 73 h 475"/>
                <a:gd name="T82" fmla="*/ 2432 w 4013"/>
                <a:gd name="T83" fmla="*/ 137 h 475"/>
                <a:gd name="T84" fmla="*/ 2459 w 4013"/>
                <a:gd name="T85" fmla="*/ 118 h 475"/>
                <a:gd name="T86" fmla="*/ 2514 w 4013"/>
                <a:gd name="T87" fmla="*/ 100 h 475"/>
                <a:gd name="T88" fmla="*/ 2615 w 4013"/>
                <a:gd name="T89" fmla="*/ 27 h 475"/>
                <a:gd name="T90" fmla="*/ 2669 w 4013"/>
                <a:gd name="T91" fmla="*/ 9 h 475"/>
                <a:gd name="T92" fmla="*/ 2697 w 4013"/>
                <a:gd name="T93" fmla="*/ 0 h 475"/>
                <a:gd name="T94" fmla="*/ 2761 w 4013"/>
                <a:gd name="T95" fmla="*/ 54 h 475"/>
                <a:gd name="T96" fmla="*/ 2788 w 4013"/>
                <a:gd name="T97" fmla="*/ 137 h 475"/>
                <a:gd name="T98" fmla="*/ 2834 w 4013"/>
                <a:gd name="T99" fmla="*/ 182 h 475"/>
                <a:gd name="T100" fmla="*/ 2944 w 4013"/>
                <a:gd name="T101" fmla="*/ 265 h 475"/>
                <a:gd name="T102" fmla="*/ 3063 w 4013"/>
                <a:gd name="T103" fmla="*/ 374 h 475"/>
                <a:gd name="T104" fmla="*/ 3300 w 4013"/>
                <a:gd name="T105" fmla="*/ 365 h 475"/>
                <a:gd name="T106" fmla="*/ 3392 w 4013"/>
                <a:gd name="T107" fmla="*/ 438 h 475"/>
                <a:gd name="T108" fmla="*/ 3648 w 4013"/>
                <a:gd name="T109" fmla="*/ 429 h 475"/>
                <a:gd name="T110" fmla="*/ 3730 w 4013"/>
                <a:gd name="T111" fmla="*/ 402 h 475"/>
                <a:gd name="T112" fmla="*/ 3849 w 4013"/>
                <a:gd name="T113" fmla="*/ 384 h 475"/>
                <a:gd name="T114" fmla="*/ 4013 w 4013"/>
                <a:gd name="T115" fmla="*/ 393 h 475"/>
                <a:gd name="connsiteX0" fmla="*/ 0 w 10000"/>
                <a:gd name="connsiteY0" fmla="*/ 10000 h 10000"/>
                <a:gd name="connsiteX1" fmla="*/ 137 w 10000"/>
                <a:gd name="connsiteY1" fmla="*/ 9811 h 10000"/>
                <a:gd name="connsiteX2" fmla="*/ 272 w 10000"/>
                <a:gd name="connsiteY2" fmla="*/ 9432 h 10000"/>
                <a:gd name="connsiteX3" fmla="*/ 386 w 10000"/>
                <a:gd name="connsiteY3" fmla="*/ 7116 h 10000"/>
                <a:gd name="connsiteX4" fmla="*/ 591 w 10000"/>
                <a:gd name="connsiteY4" fmla="*/ 4800 h 10000"/>
                <a:gd name="connsiteX5" fmla="*/ 865 w 10000"/>
                <a:gd name="connsiteY5" fmla="*/ 4611 h 10000"/>
                <a:gd name="connsiteX6" fmla="*/ 1024 w 10000"/>
                <a:gd name="connsiteY6" fmla="*/ 3263 h 10000"/>
                <a:gd name="connsiteX7" fmla="*/ 1161 w 10000"/>
                <a:gd name="connsiteY7" fmla="*/ 1916 h 10000"/>
                <a:gd name="connsiteX8" fmla="*/ 1366 w 10000"/>
                <a:gd name="connsiteY8" fmla="*/ 2295 h 10000"/>
                <a:gd name="connsiteX9" fmla="*/ 1413 w 10000"/>
                <a:gd name="connsiteY9" fmla="*/ 2695 h 10000"/>
                <a:gd name="connsiteX10" fmla="*/ 1547 w 10000"/>
                <a:gd name="connsiteY10" fmla="*/ 3074 h 10000"/>
                <a:gd name="connsiteX11" fmla="*/ 1617 w 10000"/>
                <a:gd name="connsiteY11" fmla="*/ 5579 h 10000"/>
                <a:gd name="connsiteX12" fmla="*/ 1685 w 10000"/>
                <a:gd name="connsiteY12" fmla="*/ 5958 h 10000"/>
                <a:gd name="connsiteX13" fmla="*/ 1822 w 10000"/>
                <a:gd name="connsiteY13" fmla="*/ 7305 h 10000"/>
                <a:gd name="connsiteX14" fmla="*/ 2003 w 10000"/>
                <a:gd name="connsiteY14" fmla="*/ 8653 h 10000"/>
                <a:gd name="connsiteX15" fmla="*/ 2141 w 10000"/>
                <a:gd name="connsiteY15" fmla="*/ 9032 h 10000"/>
                <a:gd name="connsiteX16" fmla="*/ 2322 w 10000"/>
                <a:gd name="connsiteY16" fmla="*/ 9432 h 10000"/>
                <a:gd name="connsiteX17" fmla="*/ 2482 w 10000"/>
                <a:gd name="connsiteY17" fmla="*/ 7495 h 10000"/>
                <a:gd name="connsiteX18" fmla="*/ 2619 w 10000"/>
                <a:gd name="connsiteY18" fmla="*/ 7116 h 10000"/>
                <a:gd name="connsiteX19" fmla="*/ 2689 w 10000"/>
                <a:gd name="connsiteY19" fmla="*/ 6926 h 10000"/>
                <a:gd name="connsiteX20" fmla="*/ 2848 w 10000"/>
                <a:gd name="connsiteY20" fmla="*/ 5768 h 10000"/>
                <a:gd name="connsiteX21" fmla="*/ 2893 w 10000"/>
                <a:gd name="connsiteY21" fmla="*/ 4611 h 10000"/>
                <a:gd name="connsiteX22" fmla="*/ 2916 w 10000"/>
                <a:gd name="connsiteY22" fmla="*/ 4042 h 10000"/>
                <a:gd name="connsiteX23" fmla="*/ 2960 w 10000"/>
                <a:gd name="connsiteY23" fmla="*/ 1137 h 10000"/>
                <a:gd name="connsiteX24" fmla="*/ 3279 w 10000"/>
                <a:gd name="connsiteY24" fmla="*/ 1347 h 10000"/>
                <a:gd name="connsiteX25" fmla="*/ 3416 w 10000"/>
                <a:gd name="connsiteY25" fmla="*/ 2105 h 10000"/>
                <a:gd name="connsiteX26" fmla="*/ 3828 w 10000"/>
                <a:gd name="connsiteY26" fmla="*/ 2695 h 10000"/>
                <a:gd name="connsiteX27" fmla="*/ 3965 w 10000"/>
                <a:gd name="connsiteY27" fmla="*/ 4800 h 10000"/>
                <a:gd name="connsiteX28" fmla="*/ 4054 w 10000"/>
                <a:gd name="connsiteY28" fmla="*/ 7305 h 10000"/>
                <a:gd name="connsiteX29" fmla="*/ 4169 w 10000"/>
                <a:gd name="connsiteY29" fmla="*/ 8274 h 10000"/>
                <a:gd name="connsiteX30" fmla="*/ 4306 w 10000"/>
                <a:gd name="connsiteY30" fmla="*/ 8653 h 10000"/>
                <a:gd name="connsiteX31" fmla="*/ 4510 w 10000"/>
                <a:gd name="connsiteY31" fmla="*/ 8084 h 10000"/>
                <a:gd name="connsiteX32" fmla="*/ 4625 w 10000"/>
                <a:gd name="connsiteY32" fmla="*/ 6526 h 10000"/>
                <a:gd name="connsiteX33" fmla="*/ 4692 w 10000"/>
                <a:gd name="connsiteY33" fmla="*/ 6337 h 10000"/>
                <a:gd name="connsiteX34" fmla="*/ 4829 w 10000"/>
                <a:gd name="connsiteY34" fmla="*/ 5579 h 10000"/>
                <a:gd name="connsiteX35" fmla="*/ 5081 w 10000"/>
                <a:gd name="connsiteY35" fmla="*/ 3642 h 10000"/>
                <a:gd name="connsiteX36" fmla="*/ 5148 w 10000"/>
                <a:gd name="connsiteY36" fmla="*/ 3263 h 10000"/>
                <a:gd name="connsiteX37" fmla="*/ 5193 w 10000"/>
                <a:gd name="connsiteY37" fmla="*/ 2695 h 10000"/>
                <a:gd name="connsiteX38" fmla="*/ 5285 w 10000"/>
                <a:gd name="connsiteY38" fmla="*/ 2295 h 10000"/>
                <a:gd name="connsiteX39" fmla="*/ 5422 w 10000"/>
                <a:gd name="connsiteY39" fmla="*/ 1537 h 10000"/>
                <a:gd name="connsiteX40" fmla="*/ 5672 w 10000"/>
                <a:gd name="connsiteY40" fmla="*/ 1537 h 10000"/>
                <a:gd name="connsiteX41" fmla="*/ 6060 w 10000"/>
                <a:gd name="connsiteY41" fmla="*/ 2884 h 10000"/>
                <a:gd name="connsiteX42" fmla="*/ 6128 w 10000"/>
                <a:gd name="connsiteY42" fmla="*/ 2484 h 10000"/>
                <a:gd name="connsiteX43" fmla="*/ 6265 w 10000"/>
                <a:gd name="connsiteY43" fmla="*/ 2105 h 10000"/>
                <a:gd name="connsiteX44" fmla="*/ 6516 w 10000"/>
                <a:gd name="connsiteY44" fmla="*/ 568 h 10000"/>
                <a:gd name="connsiteX45" fmla="*/ 6651 w 10000"/>
                <a:gd name="connsiteY45" fmla="*/ 189 h 10000"/>
                <a:gd name="connsiteX46" fmla="*/ 6721 w 10000"/>
                <a:gd name="connsiteY46" fmla="*/ 0 h 10000"/>
                <a:gd name="connsiteX47" fmla="*/ 6880 w 10000"/>
                <a:gd name="connsiteY47" fmla="*/ 1137 h 10000"/>
                <a:gd name="connsiteX48" fmla="*/ 6947 w 10000"/>
                <a:gd name="connsiteY48" fmla="*/ 2884 h 10000"/>
                <a:gd name="connsiteX49" fmla="*/ 7062 w 10000"/>
                <a:gd name="connsiteY49" fmla="*/ 3832 h 10000"/>
                <a:gd name="connsiteX50" fmla="*/ 7336 w 10000"/>
                <a:gd name="connsiteY50" fmla="*/ 5579 h 10000"/>
                <a:gd name="connsiteX51" fmla="*/ 7633 w 10000"/>
                <a:gd name="connsiteY51" fmla="*/ 7874 h 10000"/>
                <a:gd name="connsiteX52" fmla="*/ 8223 w 10000"/>
                <a:gd name="connsiteY52" fmla="*/ 7684 h 10000"/>
                <a:gd name="connsiteX53" fmla="*/ 8533 w 10000"/>
                <a:gd name="connsiteY53" fmla="*/ 8283 h 10000"/>
                <a:gd name="connsiteX54" fmla="*/ 9090 w 10000"/>
                <a:gd name="connsiteY54" fmla="*/ 9032 h 10000"/>
                <a:gd name="connsiteX55" fmla="*/ 9295 w 10000"/>
                <a:gd name="connsiteY55" fmla="*/ 8463 h 10000"/>
                <a:gd name="connsiteX56" fmla="*/ 9591 w 10000"/>
                <a:gd name="connsiteY56" fmla="*/ 8084 h 10000"/>
                <a:gd name="connsiteX57" fmla="*/ 10000 w 10000"/>
                <a:gd name="connsiteY57" fmla="*/ 8274 h 10000"/>
                <a:gd name="connsiteX0" fmla="*/ 0 w 10000"/>
                <a:gd name="connsiteY0" fmla="*/ 10000 h 10000"/>
                <a:gd name="connsiteX1" fmla="*/ 137 w 10000"/>
                <a:gd name="connsiteY1" fmla="*/ 9811 h 10000"/>
                <a:gd name="connsiteX2" fmla="*/ 272 w 10000"/>
                <a:gd name="connsiteY2" fmla="*/ 9432 h 10000"/>
                <a:gd name="connsiteX3" fmla="*/ 386 w 10000"/>
                <a:gd name="connsiteY3" fmla="*/ 7116 h 10000"/>
                <a:gd name="connsiteX4" fmla="*/ 591 w 10000"/>
                <a:gd name="connsiteY4" fmla="*/ 4800 h 10000"/>
                <a:gd name="connsiteX5" fmla="*/ 865 w 10000"/>
                <a:gd name="connsiteY5" fmla="*/ 4611 h 10000"/>
                <a:gd name="connsiteX6" fmla="*/ 1024 w 10000"/>
                <a:gd name="connsiteY6" fmla="*/ 3263 h 10000"/>
                <a:gd name="connsiteX7" fmla="*/ 1161 w 10000"/>
                <a:gd name="connsiteY7" fmla="*/ 1916 h 10000"/>
                <a:gd name="connsiteX8" fmla="*/ 1366 w 10000"/>
                <a:gd name="connsiteY8" fmla="*/ 2295 h 10000"/>
                <a:gd name="connsiteX9" fmla="*/ 1413 w 10000"/>
                <a:gd name="connsiteY9" fmla="*/ 2695 h 10000"/>
                <a:gd name="connsiteX10" fmla="*/ 1547 w 10000"/>
                <a:gd name="connsiteY10" fmla="*/ 3074 h 10000"/>
                <a:gd name="connsiteX11" fmla="*/ 1617 w 10000"/>
                <a:gd name="connsiteY11" fmla="*/ 5579 h 10000"/>
                <a:gd name="connsiteX12" fmla="*/ 1685 w 10000"/>
                <a:gd name="connsiteY12" fmla="*/ 5958 h 10000"/>
                <a:gd name="connsiteX13" fmla="*/ 1822 w 10000"/>
                <a:gd name="connsiteY13" fmla="*/ 7305 h 10000"/>
                <a:gd name="connsiteX14" fmla="*/ 2003 w 10000"/>
                <a:gd name="connsiteY14" fmla="*/ 8653 h 10000"/>
                <a:gd name="connsiteX15" fmla="*/ 2141 w 10000"/>
                <a:gd name="connsiteY15" fmla="*/ 9032 h 10000"/>
                <a:gd name="connsiteX16" fmla="*/ 2322 w 10000"/>
                <a:gd name="connsiteY16" fmla="*/ 9432 h 10000"/>
                <a:gd name="connsiteX17" fmla="*/ 2482 w 10000"/>
                <a:gd name="connsiteY17" fmla="*/ 7495 h 10000"/>
                <a:gd name="connsiteX18" fmla="*/ 2619 w 10000"/>
                <a:gd name="connsiteY18" fmla="*/ 7116 h 10000"/>
                <a:gd name="connsiteX19" fmla="*/ 2689 w 10000"/>
                <a:gd name="connsiteY19" fmla="*/ 6926 h 10000"/>
                <a:gd name="connsiteX20" fmla="*/ 2848 w 10000"/>
                <a:gd name="connsiteY20" fmla="*/ 5768 h 10000"/>
                <a:gd name="connsiteX21" fmla="*/ 2893 w 10000"/>
                <a:gd name="connsiteY21" fmla="*/ 4611 h 10000"/>
                <a:gd name="connsiteX22" fmla="*/ 2916 w 10000"/>
                <a:gd name="connsiteY22" fmla="*/ 4042 h 10000"/>
                <a:gd name="connsiteX23" fmla="*/ 2960 w 10000"/>
                <a:gd name="connsiteY23" fmla="*/ 1137 h 10000"/>
                <a:gd name="connsiteX24" fmla="*/ 3279 w 10000"/>
                <a:gd name="connsiteY24" fmla="*/ 1347 h 10000"/>
                <a:gd name="connsiteX25" fmla="*/ 3416 w 10000"/>
                <a:gd name="connsiteY25" fmla="*/ 2105 h 10000"/>
                <a:gd name="connsiteX26" fmla="*/ 3828 w 10000"/>
                <a:gd name="connsiteY26" fmla="*/ 2695 h 10000"/>
                <a:gd name="connsiteX27" fmla="*/ 3965 w 10000"/>
                <a:gd name="connsiteY27" fmla="*/ 4800 h 10000"/>
                <a:gd name="connsiteX28" fmla="*/ 4054 w 10000"/>
                <a:gd name="connsiteY28" fmla="*/ 7305 h 10000"/>
                <a:gd name="connsiteX29" fmla="*/ 4169 w 10000"/>
                <a:gd name="connsiteY29" fmla="*/ 8274 h 10000"/>
                <a:gd name="connsiteX30" fmla="*/ 4306 w 10000"/>
                <a:gd name="connsiteY30" fmla="*/ 8653 h 10000"/>
                <a:gd name="connsiteX31" fmla="*/ 4510 w 10000"/>
                <a:gd name="connsiteY31" fmla="*/ 8084 h 10000"/>
                <a:gd name="connsiteX32" fmla="*/ 4625 w 10000"/>
                <a:gd name="connsiteY32" fmla="*/ 6526 h 10000"/>
                <a:gd name="connsiteX33" fmla="*/ 4692 w 10000"/>
                <a:gd name="connsiteY33" fmla="*/ 6337 h 10000"/>
                <a:gd name="connsiteX34" fmla="*/ 4829 w 10000"/>
                <a:gd name="connsiteY34" fmla="*/ 5579 h 10000"/>
                <a:gd name="connsiteX35" fmla="*/ 5081 w 10000"/>
                <a:gd name="connsiteY35" fmla="*/ 3642 h 10000"/>
                <a:gd name="connsiteX36" fmla="*/ 5148 w 10000"/>
                <a:gd name="connsiteY36" fmla="*/ 3263 h 10000"/>
                <a:gd name="connsiteX37" fmla="*/ 5193 w 10000"/>
                <a:gd name="connsiteY37" fmla="*/ 2695 h 10000"/>
                <a:gd name="connsiteX38" fmla="*/ 5285 w 10000"/>
                <a:gd name="connsiteY38" fmla="*/ 2295 h 10000"/>
                <a:gd name="connsiteX39" fmla="*/ 5422 w 10000"/>
                <a:gd name="connsiteY39" fmla="*/ 1537 h 10000"/>
                <a:gd name="connsiteX40" fmla="*/ 5672 w 10000"/>
                <a:gd name="connsiteY40" fmla="*/ 1537 h 10000"/>
                <a:gd name="connsiteX41" fmla="*/ 6060 w 10000"/>
                <a:gd name="connsiteY41" fmla="*/ 2884 h 10000"/>
                <a:gd name="connsiteX42" fmla="*/ 6128 w 10000"/>
                <a:gd name="connsiteY42" fmla="*/ 2484 h 10000"/>
                <a:gd name="connsiteX43" fmla="*/ 6265 w 10000"/>
                <a:gd name="connsiteY43" fmla="*/ 2105 h 10000"/>
                <a:gd name="connsiteX44" fmla="*/ 6516 w 10000"/>
                <a:gd name="connsiteY44" fmla="*/ 568 h 10000"/>
                <a:gd name="connsiteX45" fmla="*/ 6651 w 10000"/>
                <a:gd name="connsiteY45" fmla="*/ 189 h 10000"/>
                <a:gd name="connsiteX46" fmla="*/ 6721 w 10000"/>
                <a:gd name="connsiteY46" fmla="*/ 0 h 10000"/>
                <a:gd name="connsiteX47" fmla="*/ 6880 w 10000"/>
                <a:gd name="connsiteY47" fmla="*/ 1137 h 10000"/>
                <a:gd name="connsiteX48" fmla="*/ 6947 w 10000"/>
                <a:gd name="connsiteY48" fmla="*/ 2884 h 10000"/>
                <a:gd name="connsiteX49" fmla="*/ 7062 w 10000"/>
                <a:gd name="connsiteY49" fmla="*/ 3832 h 10000"/>
                <a:gd name="connsiteX50" fmla="*/ 7336 w 10000"/>
                <a:gd name="connsiteY50" fmla="*/ 5579 h 10000"/>
                <a:gd name="connsiteX51" fmla="*/ 7633 w 10000"/>
                <a:gd name="connsiteY51" fmla="*/ 7874 h 10000"/>
                <a:gd name="connsiteX52" fmla="*/ 8223 w 10000"/>
                <a:gd name="connsiteY52" fmla="*/ 7684 h 10000"/>
                <a:gd name="connsiteX53" fmla="*/ 8533 w 10000"/>
                <a:gd name="connsiteY53" fmla="*/ 8283 h 10000"/>
                <a:gd name="connsiteX54" fmla="*/ 9331 w 10000"/>
                <a:gd name="connsiteY54" fmla="*/ 7574 h 10000"/>
                <a:gd name="connsiteX55" fmla="*/ 9295 w 10000"/>
                <a:gd name="connsiteY55" fmla="*/ 8463 h 10000"/>
                <a:gd name="connsiteX56" fmla="*/ 9591 w 10000"/>
                <a:gd name="connsiteY56" fmla="*/ 8084 h 10000"/>
                <a:gd name="connsiteX57" fmla="*/ 10000 w 10000"/>
                <a:gd name="connsiteY57" fmla="*/ 8274 h 10000"/>
                <a:gd name="connsiteX0" fmla="*/ 0 w 10000"/>
                <a:gd name="connsiteY0" fmla="*/ 10000 h 10000"/>
                <a:gd name="connsiteX1" fmla="*/ 137 w 10000"/>
                <a:gd name="connsiteY1" fmla="*/ 9811 h 10000"/>
                <a:gd name="connsiteX2" fmla="*/ 272 w 10000"/>
                <a:gd name="connsiteY2" fmla="*/ 9432 h 10000"/>
                <a:gd name="connsiteX3" fmla="*/ 386 w 10000"/>
                <a:gd name="connsiteY3" fmla="*/ 7116 h 10000"/>
                <a:gd name="connsiteX4" fmla="*/ 591 w 10000"/>
                <a:gd name="connsiteY4" fmla="*/ 4800 h 10000"/>
                <a:gd name="connsiteX5" fmla="*/ 865 w 10000"/>
                <a:gd name="connsiteY5" fmla="*/ 4611 h 10000"/>
                <a:gd name="connsiteX6" fmla="*/ 1024 w 10000"/>
                <a:gd name="connsiteY6" fmla="*/ 3263 h 10000"/>
                <a:gd name="connsiteX7" fmla="*/ 1161 w 10000"/>
                <a:gd name="connsiteY7" fmla="*/ 1916 h 10000"/>
                <a:gd name="connsiteX8" fmla="*/ 1366 w 10000"/>
                <a:gd name="connsiteY8" fmla="*/ 2295 h 10000"/>
                <a:gd name="connsiteX9" fmla="*/ 1413 w 10000"/>
                <a:gd name="connsiteY9" fmla="*/ 2695 h 10000"/>
                <a:gd name="connsiteX10" fmla="*/ 1547 w 10000"/>
                <a:gd name="connsiteY10" fmla="*/ 3074 h 10000"/>
                <a:gd name="connsiteX11" fmla="*/ 1617 w 10000"/>
                <a:gd name="connsiteY11" fmla="*/ 5579 h 10000"/>
                <a:gd name="connsiteX12" fmla="*/ 1685 w 10000"/>
                <a:gd name="connsiteY12" fmla="*/ 5958 h 10000"/>
                <a:gd name="connsiteX13" fmla="*/ 1822 w 10000"/>
                <a:gd name="connsiteY13" fmla="*/ 7305 h 10000"/>
                <a:gd name="connsiteX14" fmla="*/ 2003 w 10000"/>
                <a:gd name="connsiteY14" fmla="*/ 8653 h 10000"/>
                <a:gd name="connsiteX15" fmla="*/ 2141 w 10000"/>
                <a:gd name="connsiteY15" fmla="*/ 9032 h 10000"/>
                <a:gd name="connsiteX16" fmla="*/ 2322 w 10000"/>
                <a:gd name="connsiteY16" fmla="*/ 9432 h 10000"/>
                <a:gd name="connsiteX17" fmla="*/ 2482 w 10000"/>
                <a:gd name="connsiteY17" fmla="*/ 7495 h 10000"/>
                <a:gd name="connsiteX18" fmla="*/ 2619 w 10000"/>
                <a:gd name="connsiteY18" fmla="*/ 7116 h 10000"/>
                <a:gd name="connsiteX19" fmla="*/ 2689 w 10000"/>
                <a:gd name="connsiteY19" fmla="*/ 6926 h 10000"/>
                <a:gd name="connsiteX20" fmla="*/ 2848 w 10000"/>
                <a:gd name="connsiteY20" fmla="*/ 5768 h 10000"/>
                <a:gd name="connsiteX21" fmla="*/ 2893 w 10000"/>
                <a:gd name="connsiteY21" fmla="*/ 4611 h 10000"/>
                <a:gd name="connsiteX22" fmla="*/ 2916 w 10000"/>
                <a:gd name="connsiteY22" fmla="*/ 4042 h 10000"/>
                <a:gd name="connsiteX23" fmla="*/ 2960 w 10000"/>
                <a:gd name="connsiteY23" fmla="*/ 1137 h 10000"/>
                <a:gd name="connsiteX24" fmla="*/ 3279 w 10000"/>
                <a:gd name="connsiteY24" fmla="*/ 1347 h 10000"/>
                <a:gd name="connsiteX25" fmla="*/ 3416 w 10000"/>
                <a:gd name="connsiteY25" fmla="*/ 2105 h 10000"/>
                <a:gd name="connsiteX26" fmla="*/ 3828 w 10000"/>
                <a:gd name="connsiteY26" fmla="*/ 2695 h 10000"/>
                <a:gd name="connsiteX27" fmla="*/ 3965 w 10000"/>
                <a:gd name="connsiteY27" fmla="*/ 4800 h 10000"/>
                <a:gd name="connsiteX28" fmla="*/ 4054 w 10000"/>
                <a:gd name="connsiteY28" fmla="*/ 7305 h 10000"/>
                <a:gd name="connsiteX29" fmla="*/ 4169 w 10000"/>
                <a:gd name="connsiteY29" fmla="*/ 8274 h 10000"/>
                <a:gd name="connsiteX30" fmla="*/ 4306 w 10000"/>
                <a:gd name="connsiteY30" fmla="*/ 8653 h 10000"/>
                <a:gd name="connsiteX31" fmla="*/ 4510 w 10000"/>
                <a:gd name="connsiteY31" fmla="*/ 8084 h 10000"/>
                <a:gd name="connsiteX32" fmla="*/ 4625 w 10000"/>
                <a:gd name="connsiteY32" fmla="*/ 6526 h 10000"/>
                <a:gd name="connsiteX33" fmla="*/ 4692 w 10000"/>
                <a:gd name="connsiteY33" fmla="*/ 6337 h 10000"/>
                <a:gd name="connsiteX34" fmla="*/ 4829 w 10000"/>
                <a:gd name="connsiteY34" fmla="*/ 5579 h 10000"/>
                <a:gd name="connsiteX35" fmla="*/ 5081 w 10000"/>
                <a:gd name="connsiteY35" fmla="*/ 3642 h 10000"/>
                <a:gd name="connsiteX36" fmla="*/ 5148 w 10000"/>
                <a:gd name="connsiteY36" fmla="*/ 3263 h 10000"/>
                <a:gd name="connsiteX37" fmla="*/ 5193 w 10000"/>
                <a:gd name="connsiteY37" fmla="*/ 2695 h 10000"/>
                <a:gd name="connsiteX38" fmla="*/ 5285 w 10000"/>
                <a:gd name="connsiteY38" fmla="*/ 2295 h 10000"/>
                <a:gd name="connsiteX39" fmla="*/ 5422 w 10000"/>
                <a:gd name="connsiteY39" fmla="*/ 1537 h 10000"/>
                <a:gd name="connsiteX40" fmla="*/ 5672 w 10000"/>
                <a:gd name="connsiteY40" fmla="*/ 1537 h 10000"/>
                <a:gd name="connsiteX41" fmla="*/ 6060 w 10000"/>
                <a:gd name="connsiteY41" fmla="*/ 2884 h 10000"/>
                <a:gd name="connsiteX42" fmla="*/ 6128 w 10000"/>
                <a:gd name="connsiteY42" fmla="*/ 2484 h 10000"/>
                <a:gd name="connsiteX43" fmla="*/ 6265 w 10000"/>
                <a:gd name="connsiteY43" fmla="*/ 2105 h 10000"/>
                <a:gd name="connsiteX44" fmla="*/ 6516 w 10000"/>
                <a:gd name="connsiteY44" fmla="*/ 568 h 10000"/>
                <a:gd name="connsiteX45" fmla="*/ 6651 w 10000"/>
                <a:gd name="connsiteY45" fmla="*/ 189 h 10000"/>
                <a:gd name="connsiteX46" fmla="*/ 6721 w 10000"/>
                <a:gd name="connsiteY46" fmla="*/ 0 h 10000"/>
                <a:gd name="connsiteX47" fmla="*/ 6880 w 10000"/>
                <a:gd name="connsiteY47" fmla="*/ 1137 h 10000"/>
                <a:gd name="connsiteX48" fmla="*/ 6947 w 10000"/>
                <a:gd name="connsiteY48" fmla="*/ 2884 h 10000"/>
                <a:gd name="connsiteX49" fmla="*/ 7062 w 10000"/>
                <a:gd name="connsiteY49" fmla="*/ 3832 h 10000"/>
                <a:gd name="connsiteX50" fmla="*/ 7336 w 10000"/>
                <a:gd name="connsiteY50" fmla="*/ 5579 h 10000"/>
                <a:gd name="connsiteX51" fmla="*/ 7633 w 10000"/>
                <a:gd name="connsiteY51" fmla="*/ 7874 h 10000"/>
                <a:gd name="connsiteX52" fmla="*/ 8223 w 10000"/>
                <a:gd name="connsiteY52" fmla="*/ 7684 h 10000"/>
                <a:gd name="connsiteX53" fmla="*/ 8533 w 10000"/>
                <a:gd name="connsiteY53" fmla="*/ 8283 h 10000"/>
                <a:gd name="connsiteX54" fmla="*/ 9331 w 10000"/>
                <a:gd name="connsiteY54" fmla="*/ 7574 h 10000"/>
                <a:gd name="connsiteX55" fmla="*/ 9591 w 10000"/>
                <a:gd name="connsiteY55" fmla="*/ 8084 h 10000"/>
                <a:gd name="connsiteX56" fmla="*/ 10000 w 10000"/>
                <a:gd name="connsiteY56" fmla="*/ 8274 h 10000"/>
                <a:gd name="connsiteX0" fmla="*/ 0 w 10060"/>
                <a:gd name="connsiteY0" fmla="*/ 10000 h 10149"/>
                <a:gd name="connsiteX1" fmla="*/ 137 w 10060"/>
                <a:gd name="connsiteY1" fmla="*/ 9811 h 10149"/>
                <a:gd name="connsiteX2" fmla="*/ 272 w 10060"/>
                <a:gd name="connsiteY2" fmla="*/ 9432 h 10149"/>
                <a:gd name="connsiteX3" fmla="*/ 386 w 10060"/>
                <a:gd name="connsiteY3" fmla="*/ 7116 h 10149"/>
                <a:gd name="connsiteX4" fmla="*/ 591 w 10060"/>
                <a:gd name="connsiteY4" fmla="*/ 4800 h 10149"/>
                <a:gd name="connsiteX5" fmla="*/ 865 w 10060"/>
                <a:gd name="connsiteY5" fmla="*/ 4611 h 10149"/>
                <a:gd name="connsiteX6" fmla="*/ 1024 w 10060"/>
                <a:gd name="connsiteY6" fmla="*/ 3263 h 10149"/>
                <a:gd name="connsiteX7" fmla="*/ 1161 w 10060"/>
                <a:gd name="connsiteY7" fmla="*/ 1916 h 10149"/>
                <a:gd name="connsiteX8" fmla="*/ 1366 w 10060"/>
                <a:gd name="connsiteY8" fmla="*/ 2295 h 10149"/>
                <a:gd name="connsiteX9" fmla="*/ 1413 w 10060"/>
                <a:gd name="connsiteY9" fmla="*/ 2695 h 10149"/>
                <a:gd name="connsiteX10" fmla="*/ 1547 w 10060"/>
                <a:gd name="connsiteY10" fmla="*/ 3074 h 10149"/>
                <a:gd name="connsiteX11" fmla="*/ 1617 w 10060"/>
                <a:gd name="connsiteY11" fmla="*/ 5579 h 10149"/>
                <a:gd name="connsiteX12" fmla="*/ 1685 w 10060"/>
                <a:gd name="connsiteY12" fmla="*/ 5958 h 10149"/>
                <a:gd name="connsiteX13" fmla="*/ 1822 w 10060"/>
                <a:gd name="connsiteY13" fmla="*/ 7305 h 10149"/>
                <a:gd name="connsiteX14" fmla="*/ 2003 w 10060"/>
                <a:gd name="connsiteY14" fmla="*/ 8653 h 10149"/>
                <a:gd name="connsiteX15" fmla="*/ 2141 w 10060"/>
                <a:gd name="connsiteY15" fmla="*/ 9032 h 10149"/>
                <a:gd name="connsiteX16" fmla="*/ 2322 w 10060"/>
                <a:gd name="connsiteY16" fmla="*/ 9432 h 10149"/>
                <a:gd name="connsiteX17" fmla="*/ 2482 w 10060"/>
                <a:gd name="connsiteY17" fmla="*/ 7495 h 10149"/>
                <a:gd name="connsiteX18" fmla="*/ 2619 w 10060"/>
                <a:gd name="connsiteY18" fmla="*/ 7116 h 10149"/>
                <a:gd name="connsiteX19" fmla="*/ 2689 w 10060"/>
                <a:gd name="connsiteY19" fmla="*/ 6926 h 10149"/>
                <a:gd name="connsiteX20" fmla="*/ 2848 w 10060"/>
                <a:gd name="connsiteY20" fmla="*/ 5768 h 10149"/>
                <a:gd name="connsiteX21" fmla="*/ 2893 w 10060"/>
                <a:gd name="connsiteY21" fmla="*/ 4611 h 10149"/>
                <a:gd name="connsiteX22" fmla="*/ 2916 w 10060"/>
                <a:gd name="connsiteY22" fmla="*/ 4042 h 10149"/>
                <a:gd name="connsiteX23" fmla="*/ 2960 w 10060"/>
                <a:gd name="connsiteY23" fmla="*/ 1137 h 10149"/>
                <a:gd name="connsiteX24" fmla="*/ 3279 w 10060"/>
                <a:gd name="connsiteY24" fmla="*/ 1347 h 10149"/>
                <a:gd name="connsiteX25" fmla="*/ 3416 w 10060"/>
                <a:gd name="connsiteY25" fmla="*/ 2105 h 10149"/>
                <a:gd name="connsiteX26" fmla="*/ 3828 w 10060"/>
                <a:gd name="connsiteY26" fmla="*/ 2695 h 10149"/>
                <a:gd name="connsiteX27" fmla="*/ 3965 w 10060"/>
                <a:gd name="connsiteY27" fmla="*/ 4800 h 10149"/>
                <a:gd name="connsiteX28" fmla="*/ 4054 w 10060"/>
                <a:gd name="connsiteY28" fmla="*/ 7305 h 10149"/>
                <a:gd name="connsiteX29" fmla="*/ 4169 w 10060"/>
                <a:gd name="connsiteY29" fmla="*/ 8274 h 10149"/>
                <a:gd name="connsiteX30" fmla="*/ 4306 w 10060"/>
                <a:gd name="connsiteY30" fmla="*/ 8653 h 10149"/>
                <a:gd name="connsiteX31" fmla="*/ 4510 w 10060"/>
                <a:gd name="connsiteY31" fmla="*/ 8084 h 10149"/>
                <a:gd name="connsiteX32" fmla="*/ 4625 w 10060"/>
                <a:gd name="connsiteY32" fmla="*/ 6526 h 10149"/>
                <a:gd name="connsiteX33" fmla="*/ 4692 w 10060"/>
                <a:gd name="connsiteY33" fmla="*/ 6337 h 10149"/>
                <a:gd name="connsiteX34" fmla="*/ 4829 w 10060"/>
                <a:gd name="connsiteY34" fmla="*/ 5579 h 10149"/>
                <a:gd name="connsiteX35" fmla="*/ 5081 w 10060"/>
                <a:gd name="connsiteY35" fmla="*/ 3642 h 10149"/>
                <a:gd name="connsiteX36" fmla="*/ 5148 w 10060"/>
                <a:gd name="connsiteY36" fmla="*/ 3263 h 10149"/>
                <a:gd name="connsiteX37" fmla="*/ 5193 w 10060"/>
                <a:gd name="connsiteY37" fmla="*/ 2695 h 10149"/>
                <a:gd name="connsiteX38" fmla="*/ 5285 w 10060"/>
                <a:gd name="connsiteY38" fmla="*/ 2295 h 10149"/>
                <a:gd name="connsiteX39" fmla="*/ 5422 w 10060"/>
                <a:gd name="connsiteY39" fmla="*/ 1537 h 10149"/>
                <a:gd name="connsiteX40" fmla="*/ 5672 w 10060"/>
                <a:gd name="connsiteY40" fmla="*/ 1537 h 10149"/>
                <a:gd name="connsiteX41" fmla="*/ 6060 w 10060"/>
                <a:gd name="connsiteY41" fmla="*/ 2884 h 10149"/>
                <a:gd name="connsiteX42" fmla="*/ 6128 w 10060"/>
                <a:gd name="connsiteY42" fmla="*/ 2484 h 10149"/>
                <a:gd name="connsiteX43" fmla="*/ 6265 w 10060"/>
                <a:gd name="connsiteY43" fmla="*/ 2105 h 10149"/>
                <a:gd name="connsiteX44" fmla="*/ 6516 w 10060"/>
                <a:gd name="connsiteY44" fmla="*/ 568 h 10149"/>
                <a:gd name="connsiteX45" fmla="*/ 6651 w 10060"/>
                <a:gd name="connsiteY45" fmla="*/ 189 h 10149"/>
                <a:gd name="connsiteX46" fmla="*/ 6721 w 10060"/>
                <a:gd name="connsiteY46" fmla="*/ 0 h 10149"/>
                <a:gd name="connsiteX47" fmla="*/ 6880 w 10060"/>
                <a:gd name="connsiteY47" fmla="*/ 1137 h 10149"/>
                <a:gd name="connsiteX48" fmla="*/ 6947 w 10060"/>
                <a:gd name="connsiteY48" fmla="*/ 2884 h 10149"/>
                <a:gd name="connsiteX49" fmla="*/ 7062 w 10060"/>
                <a:gd name="connsiteY49" fmla="*/ 3832 h 10149"/>
                <a:gd name="connsiteX50" fmla="*/ 7336 w 10060"/>
                <a:gd name="connsiteY50" fmla="*/ 5579 h 10149"/>
                <a:gd name="connsiteX51" fmla="*/ 7633 w 10060"/>
                <a:gd name="connsiteY51" fmla="*/ 7874 h 10149"/>
                <a:gd name="connsiteX52" fmla="*/ 8223 w 10060"/>
                <a:gd name="connsiteY52" fmla="*/ 7684 h 10149"/>
                <a:gd name="connsiteX53" fmla="*/ 8533 w 10060"/>
                <a:gd name="connsiteY53" fmla="*/ 8283 h 10149"/>
                <a:gd name="connsiteX54" fmla="*/ 9331 w 10060"/>
                <a:gd name="connsiteY54" fmla="*/ 7574 h 10149"/>
                <a:gd name="connsiteX55" fmla="*/ 9591 w 10060"/>
                <a:gd name="connsiteY55" fmla="*/ 8084 h 10149"/>
                <a:gd name="connsiteX56" fmla="*/ 10060 w 10060"/>
                <a:gd name="connsiteY56" fmla="*/ 10149 h 1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060" h="10149">
                  <a:moveTo>
                    <a:pt x="0" y="10000"/>
                  </a:moveTo>
                  <a:cubicBezTo>
                    <a:pt x="45" y="9937"/>
                    <a:pt x="92" y="9895"/>
                    <a:pt x="137" y="9811"/>
                  </a:cubicBezTo>
                  <a:cubicBezTo>
                    <a:pt x="182" y="9705"/>
                    <a:pt x="272" y="9432"/>
                    <a:pt x="272" y="9432"/>
                  </a:cubicBezTo>
                  <a:cubicBezTo>
                    <a:pt x="309" y="8547"/>
                    <a:pt x="326" y="7874"/>
                    <a:pt x="386" y="7116"/>
                  </a:cubicBezTo>
                  <a:cubicBezTo>
                    <a:pt x="409" y="6526"/>
                    <a:pt x="508" y="4926"/>
                    <a:pt x="591" y="4800"/>
                  </a:cubicBezTo>
                  <a:cubicBezTo>
                    <a:pt x="680" y="4653"/>
                    <a:pt x="772" y="4674"/>
                    <a:pt x="865" y="4611"/>
                  </a:cubicBezTo>
                  <a:cubicBezTo>
                    <a:pt x="934" y="4232"/>
                    <a:pt x="987" y="3895"/>
                    <a:pt x="1024" y="3263"/>
                  </a:cubicBezTo>
                  <a:cubicBezTo>
                    <a:pt x="1067" y="2547"/>
                    <a:pt x="1062" y="2189"/>
                    <a:pt x="1161" y="1916"/>
                  </a:cubicBezTo>
                  <a:cubicBezTo>
                    <a:pt x="1174" y="1937"/>
                    <a:pt x="1343" y="2189"/>
                    <a:pt x="1366" y="2295"/>
                  </a:cubicBezTo>
                  <a:cubicBezTo>
                    <a:pt x="1385" y="2379"/>
                    <a:pt x="1393" y="2611"/>
                    <a:pt x="1413" y="2695"/>
                  </a:cubicBezTo>
                  <a:cubicBezTo>
                    <a:pt x="1455" y="2884"/>
                    <a:pt x="1547" y="3074"/>
                    <a:pt x="1547" y="3074"/>
                  </a:cubicBezTo>
                  <a:cubicBezTo>
                    <a:pt x="1580" y="3832"/>
                    <a:pt x="1557" y="4947"/>
                    <a:pt x="1617" y="5579"/>
                  </a:cubicBezTo>
                  <a:cubicBezTo>
                    <a:pt x="1635" y="5768"/>
                    <a:pt x="1662" y="5811"/>
                    <a:pt x="1685" y="5958"/>
                  </a:cubicBezTo>
                  <a:cubicBezTo>
                    <a:pt x="1744" y="6358"/>
                    <a:pt x="1774" y="6842"/>
                    <a:pt x="1822" y="7305"/>
                  </a:cubicBezTo>
                  <a:cubicBezTo>
                    <a:pt x="1856" y="7642"/>
                    <a:pt x="1941" y="8421"/>
                    <a:pt x="2003" y="8653"/>
                  </a:cubicBezTo>
                  <a:cubicBezTo>
                    <a:pt x="2048" y="8821"/>
                    <a:pt x="2141" y="9032"/>
                    <a:pt x="2141" y="9032"/>
                  </a:cubicBezTo>
                  <a:cubicBezTo>
                    <a:pt x="2203" y="9600"/>
                    <a:pt x="2235" y="9684"/>
                    <a:pt x="2322" y="9432"/>
                  </a:cubicBezTo>
                  <a:cubicBezTo>
                    <a:pt x="2402" y="8758"/>
                    <a:pt x="2372" y="7895"/>
                    <a:pt x="2482" y="7495"/>
                  </a:cubicBezTo>
                  <a:cubicBezTo>
                    <a:pt x="2527" y="7326"/>
                    <a:pt x="2574" y="7242"/>
                    <a:pt x="2619" y="7116"/>
                  </a:cubicBezTo>
                  <a:cubicBezTo>
                    <a:pt x="2641" y="7053"/>
                    <a:pt x="2689" y="6926"/>
                    <a:pt x="2689" y="6926"/>
                  </a:cubicBezTo>
                  <a:cubicBezTo>
                    <a:pt x="2739" y="6484"/>
                    <a:pt x="2796" y="6189"/>
                    <a:pt x="2848" y="5768"/>
                  </a:cubicBezTo>
                  <a:cubicBezTo>
                    <a:pt x="2863" y="5389"/>
                    <a:pt x="2878" y="4989"/>
                    <a:pt x="2893" y="4611"/>
                  </a:cubicBezTo>
                  <a:cubicBezTo>
                    <a:pt x="2901" y="4421"/>
                    <a:pt x="2916" y="4042"/>
                    <a:pt x="2916" y="4042"/>
                  </a:cubicBezTo>
                  <a:cubicBezTo>
                    <a:pt x="2896" y="2863"/>
                    <a:pt x="2806" y="1621"/>
                    <a:pt x="2960" y="1137"/>
                  </a:cubicBezTo>
                  <a:cubicBezTo>
                    <a:pt x="3068" y="1200"/>
                    <a:pt x="3175" y="1137"/>
                    <a:pt x="3279" y="1347"/>
                  </a:cubicBezTo>
                  <a:cubicBezTo>
                    <a:pt x="3332" y="1453"/>
                    <a:pt x="3364" y="2000"/>
                    <a:pt x="3416" y="2105"/>
                  </a:cubicBezTo>
                  <a:cubicBezTo>
                    <a:pt x="3568" y="2421"/>
                    <a:pt x="3656" y="2547"/>
                    <a:pt x="3828" y="2695"/>
                  </a:cubicBezTo>
                  <a:cubicBezTo>
                    <a:pt x="3857" y="3432"/>
                    <a:pt x="3900" y="4274"/>
                    <a:pt x="3965" y="4800"/>
                  </a:cubicBezTo>
                  <a:cubicBezTo>
                    <a:pt x="3980" y="5705"/>
                    <a:pt x="3980" y="6589"/>
                    <a:pt x="4054" y="7305"/>
                  </a:cubicBezTo>
                  <a:cubicBezTo>
                    <a:pt x="4089" y="7642"/>
                    <a:pt x="4132" y="7958"/>
                    <a:pt x="4169" y="8274"/>
                  </a:cubicBezTo>
                  <a:cubicBezTo>
                    <a:pt x="4204" y="8568"/>
                    <a:pt x="4306" y="8653"/>
                    <a:pt x="4306" y="8653"/>
                  </a:cubicBezTo>
                  <a:cubicBezTo>
                    <a:pt x="4371" y="8568"/>
                    <a:pt x="4463" y="8589"/>
                    <a:pt x="4510" y="8084"/>
                  </a:cubicBezTo>
                  <a:cubicBezTo>
                    <a:pt x="4555" y="7600"/>
                    <a:pt x="4550" y="6905"/>
                    <a:pt x="4625" y="6526"/>
                  </a:cubicBezTo>
                  <a:cubicBezTo>
                    <a:pt x="4645" y="6421"/>
                    <a:pt x="4672" y="6442"/>
                    <a:pt x="4692" y="6337"/>
                  </a:cubicBezTo>
                  <a:cubicBezTo>
                    <a:pt x="4740" y="6105"/>
                    <a:pt x="4829" y="5579"/>
                    <a:pt x="4829" y="5579"/>
                  </a:cubicBezTo>
                  <a:cubicBezTo>
                    <a:pt x="4877" y="4358"/>
                    <a:pt x="4944" y="4021"/>
                    <a:pt x="5081" y="3642"/>
                  </a:cubicBezTo>
                  <a:cubicBezTo>
                    <a:pt x="5103" y="3516"/>
                    <a:pt x="5128" y="3432"/>
                    <a:pt x="5148" y="3263"/>
                  </a:cubicBezTo>
                  <a:cubicBezTo>
                    <a:pt x="5168" y="3095"/>
                    <a:pt x="5173" y="2842"/>
                    <a:pt x="5193" y="2695"/>
                  </a:cubicBezTo>
                  <a:cubicBezTo>
                    <a:pt x="5221" y="2505"/>
                    <a:pt x="5258" y="2463"/>
                    <a:pt x="5285" y="2295"/>
                  </a:cubicBezTo>
                  <a:cubicBezTo>
                    <a:pt x="5430" y="1411"/>
                    <a:pt x="5275" y="1937"/>
                    <a:pt x="5422" y="1537"/>
                  </a:cubicBezTo>
                  <a:cubicBezTo>
                    <a:pt x="5507" y="779"/>
                    <a:pt x="5569" y="1242"/>
                    <a:pt x="5672" y="1537"/>
                  </a:cubicBezTo>
                  <a:cubicBezTo>
                    <a:pt x="5764" y="2274"/>
                    <a:pt x="5936" y="2547"/>
                    <a:pt x="6060" y="2884"/>
                  </a:cubicBezTo>
                  <a:cubicBezTo>
                    <a:pt x="6083" y="2758"/>
                    <a:pt x="6103" y="2589"/>
                    <a:pt x="6128" y="2484"/>
                  </a:cubicBezTo>
                  <a:cubicBezTo>
                    <a:pt x="6172" y="2316"/>
                    <a:pt x="6265" y="2105"/>
                    <a:pt x="6265" y="2105"/>
                  </a:cubicBezTo>
                  <a:cubicBezTo>
                    <a:pt x="6359" y="1305"/>
                    <a:pt x="6399" y="1011"/>
                    <a:pt x="6516" y="568"/>
                  </a:cubicBezTo>
                  <a:cubicBezTo>
                    <a:pt x="6559" y="400"/>
                    <a:pt x="6606" y="316"/>
                    <a:pt x="6651" y="189"/>
                  </a:cubicBezTo>
                  <a:cubicBezTo>
                    <a:pt x="6673" y="126"/>
                    <a:pt x="6721" y="0"/>
                    <a:pt x="6721" y="0"/>
                  </a:cubicBezTo>
                  <a:cubicBezTo>
                    <a:pt x="6808" y="253"/>
                    <a:pt x="6830" y="484"/>
                    <a:pt x="6880" y="1137"/>
                  </a:cubicBezTo>
                  <a:cubicBezTo>
                    <a:pt x="6932" y="2484"/>
                    <a:pt x="6910" y="1916"/>
                    <a:pt x="6947" y="2884"/>
                  </a:cubicBezTo>
                  <a:cubicBezTo>
                    <a:pt x="6965" y="3305"/>
                    <a:pt x="7025" y="3516"/>
                    <a:pt x="7062" y="3832"/>
                  </a:cubicBezTo>
                  <a:cubicBezTo>
                    <a:pt x="7144" y="4526"/>
                    <a:pt x="7227" y="5284"/>
                    <a:pt x="7336" y="5579"/>
                  </a:cubicBezTo>
                  <a:cubicBezTo>
                    <a:pt x="7411" y="6526"/>
                    <a:pt x="7503" y="7516"/>
                    <a:pt x="7633" y="7874"/>
                  </a:cubicBezTo>
                  <a:cubicBezTo>
                    <a:pt x="7887" y="7705"/>
                    <a:pt x="7982" y="7474"/>
                    <a:pt x="8223" y="7684"/>
                  </a:cubicBezTo>
                  <a:cubicBezTo>
                    <a:pt x="8306" y="8379"/>
                    <a:pt x="8415" y="7967"/>
                    <a:pt x="8533" y="8283"/>
                  </a:cubicBezTo>
                  <a:cubicBezTo>
                    <a:pt x="8744" y="8220"/>
                    <a:pt x="9120" y="7721"/>
                    <a:pt x="9331" y="7574"/>
                  </a:cubicBezTo>
                  <a:cubicBezTo>
                    <a:pt x="9507" y="7541"/>
                    <a:pt x="9480" y="7967"/>
                    <a:pt x="9591" y="8084"/>
                  </a:cubicBezTo>
                  <a:cubicBezTo>
                    <a:pt x="9985" y="8274"/>
                    <a:pt x="9908" y="10149"/>
                    <a:pt x="10060" y="10149"/>
                  </a:cubicBezTo>
                </a:path>
              </a:pathLst>
            </a:custGeom>
            <a:grpFill/>
            <a:ln w="12700" cap="flat" cmpd="sng">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ln w="0"/>
                <a:effectLst>
                  <a:outerShdw blurRad="38100" dist="25400" dir="5400000" algn="ctr" rotWithShape="0">
                    <a:srgbClr val="6E747A">
                      <a:alpha val="43000"/>
                    </a:srgbClr>
                  </a:outerShdw>
                </a:effectLst>
              </a:endParaRPr>
            </a:p>
          </p:txBody>
        </p:sp>
        <p:grpSp>
          <p:nvGrpSpPr>
            <p:cNvPr id="14" name="Group 12"/>
            <p:cNvGrpSpPr>
              <a:grpSpLocks/>
            </p:cNvGrpSpPr>
            <p:nvPr/>
          </p:nvGrpSpPr>
          <p:grpSpPr bwMode="auto">
            <a:xfrm>
              <a:off x="1309" y="3452"/>
              <a:ext cx="2737" cy="368"/>
              <a:chOff x="1400" y="2867"/>
              <a:chExt cx="2737" cy="368"/>
            </a:xfrm>
            <a:grpFill/>
          </p:grpSpPr>
          <p:sp>
            <p:nvSpPr>
              <p:cNvPr id="15" name="Text Box 13"/>
              <p:cNvSpPr txBox="1">
                <a:spLocks noChangeArrowheads="1"/>
              </p:cNvSpPr>
              <p:nvPr/>
            </p:nvSpPr>
            <p:spPr bwMode="auto">
              <a:xfrm>
                <a:off x="1400" y="2991"/>
                <a:ext cx="563" cy="212"/>
              </a:xfrm>
              <a:prstGeom prst="rect">
                <a:avLst/>
              </a:prstGeom>
              <a:no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spAutoFit/>
              </a:bodyPr>
              <a:lstStyle/>
              <a:p>
                <a:pPr algn="l"/>
                <a:r>
                  <a:rPr lang="fr-CA" sz="1600" i="0">
                    <a:ln w="0"/>
                    <a:effectLst>
                      <a:outerShdw blurRad="38100" dist="25400" dir="5400000" algn="ctr" rotWithShape="0">
                        <a:srgbClr val="6E747A">
                          <a:alpha val="43000"/>
                        </a:srgbClr>
                      </a:outerShdw>
                    </a:effectLst>
                  </a:rPr>
                  <a:t>pannes</a:t>
                </a:r>
              </a:p>
            </p:txBody>
          </p:sp>
          <p:sp>
            <p:nvSpPr>
              <p:cNvPr id="16" name="Text Box 14"/>
              <p:cNvSpPr txBox="1">
                <a:spLocks noChangeArrowheads="1"/>
              </p:cNvSpPr>
              <p:nvPr/>
            </p:nvSpPr>
            <p:spPr bwMode="auto">
              <a:xfrm>
                <a:off x="3289" y="2867"/>
                <a:ext cx="848" cy="368"/>
              </a:xfrm>
              <a:prstGeom prst="rect">
                <a:avLst/>
              </a:prstGeom>
              <a:no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r>
                  <a:rPr lang="fr-CA" sz="1600" i="0">
                    <a:ln w="0"/>
                    <a:effectLst>
                      <a:outerShdw blurRad="38100" dist="25400" dir="5400000" algn="ctr" rotWithShape="0">
                        <a:srgbClr val="6E747A">
                          <a:alpha val="43000"/>
                        </a:srgbClr>
                      </a:outerShdw>
                    </a:effectLst>
                  </a:rPr>
                  <a:t>unités </a:t>
                </a:r>
              </a:p>
              <a:p>
                <a:r>
                  <a:rPr lang="fr-CA" sz="1600" i="0">
                    <a:ln w="0"/>
                    <a:effectLst>
                      <a:outerShdw blurRad="38100" dist="25400" dir="5400000" algn="ctr" rotWithShape="0">
                        <a:srgbClr val="6E747A">
                          <a:alpha val="43000"/>
                        </a:srgbClr>
                      </a:outerShdw>
                    </a:effectLst>
                  </a:rPr>
                  <a:t>défectueuses</a:t>
                </a:r>
              </a:p>
            </p:txBody>
          </p:sp>
          <p:sp>
            <p:nvSpPr>
              <p:cNvPr id="17" name="Text Box 15"/>
              <p:cNvSpPr txBox="1">
                <a:spLocks noChangeArrowheads="1"/>
              </p:cNvSpPr>
              <p:nvPr/>
            </p:nvSpPr>
            <p:spPr bwMode="auto">
              <a:xfrm>
                <a:off x="2336" y="2989"/>
                <a:ext cx="509" cy="213"/>
              </a:xfrm>
              <a:prstGeom prst="rect">
                <a:avLst/>
              </a:prstGeom>
              <a:no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pPr algn="l"/>
                <a:r>
                  <a:rPr lang="fr-CA" sz="1600" i="0">
                    <a:ln w="0"/>
                    <a:effectLst>
                      <a:outerShdw blurRad="38100" dist="25400" dir="5400000" algn="ctr" rotWithShape="0">
                        <a:srgbClr val="6E747A">
                          <a:alpha val="43000"/>
                        </a:srgbClr>
                      </a:outerShdw>
                    </a:effectLst>
                  </a:rPr>
                  <a:t>retards</a:t>
                </a:r>
              </a:p>
            </p:txBody>
          </p:sp>
        </p:grpSp>
      </p:grpSp>
      <p:sp>
        <p:nvSpPr>
          <p:cNvPr id="20" name="Text Box 18"/>
          <p:cNvSpPr txBox="1">
            <a:spLocks noChangeArrowheads="1"/>
          </p:cNvSpPr>
          <p:nvPr/>
        </p:nvSpPr>
        <p:spPr bwMode="auto">
          <a:xfrm>
            <a:off x="7216775" y="4858577"/>
            <a:ext cx="1111251" cy="6415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r>
              <a:rPr lang="fr-CA" sz="1800" b="1" i="0"/>
              <a:t>Niveau </a:t>
            </a:r>
          </a:p>
          <a:p>
            <a:r>
              <a:rPr lang="fr-CA" sz="1800" b="1" i="0"/>
              <a:t>de stock</a:t>
            </a:r>
          </a:p>
        </p:txBody>
      </p:sp>
      <p:sp>
        <p:nvSpPr>
          <p:cNvPr id="23" name="Rectangle 22"/>
          <p:cNvSpPr/>
          <p:nvPr/>
        </p:nvSpPr>
        <p:spPr>
          <a:xfrm>
            <a:off x="684213" y="3667125"/>
            <a:ext cx="7626350" cy="939800"/>
          </a:xfrm>
          <a:prstGeom prst="rect">
            <a:avLst/>
          </a:prstGeom>
          <a:solidFill>
            <a:schemeClr val="bg1"/>
          </a:solidFill>
          <a:ln>
            <a:noFill/>
          </a:ln>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6" name="Group 4"/>
          <p:cNvGrpSpPr>
            <a:grpSpLocks/>
          </p:cNvGrpSpPr>
          <p:nvPr/>
        </p:nvGrpSpPr>
        <p:grpSpPr bwMode="auto">
          <a:xfrm>
            <a:off x="684213" y="3570281"/>
            <a:ext cx="7626352" cy="935035"/>
            <a:chOff x="987" y="2057"/>
            <a:chExt cx="4804" cy="589"/>
          </a:xfrm>
          <a:solidFill>
            <a:schemeClr val="accent2">
              <a:lumMod val="60000"/>
              <a:lumOff val="40000"/>
            </a:schemeClr>
          </a:solidFill>
        </p:grpSpPr>
        <p:sp>
          <p:nvSpPr>
            <p:cNvPr id="7" name="Freeform 5"/>
            <p:cNvSpPr>
              <a:spLocks/>
            </p:cNvSpPr>
            <p:nvPr/>
          </p:nvSpPr>
          <p:spPr bwMode="auto">
            <a:xfrm>
              <a:off x="987" y="2057"/>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8" name="Freeform 6"/>
            <p:cNvSpPr>
              <a:spLocks/>
            </p:cNvSpPr>
            <p:nvPr/>
          </p:nvSpPr>
          <p:spPr bwMode="auto">
            <a:xfrm>
              <a:off x="1100" y="2170"/>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9" name="Freeform 7"/>
            <p:cNvSpPr>
              <a:spLocks/>
            </p:cNvSpPr>
            <p:nvPr/>
          </p:nvSpPr>
          <p:spPr bwMode="auto">
            <a:xfrm>
              <a:off x="1213" y="2283"/>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10" name="Freeform 8"/>
            <p:cNvSpPr>
              <a:spLocks/>
            </p:cNvSpPr>
            <p:nvPr/>
          </p:nvSpPr>
          <p:spPr bwMode="auto">
            <a:xfrm>
              <a:off x="1326" y="2396"/>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11" name="Freeform 9"/>
            <p:cNvSpPr>
              <a:spLocks/>
            </p:cNvSpPr>
            <p:nvPr/>
          </p:nvSpPr>
          <p:spPr bwMode="auto">
            <a:xfrm>
              <a:off x="1439" y="2509"/>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grpSp>
      <p:sp>
        <p:nvSpPr>
          <p:cNvPr id="24" name="ZoneTexte 23"/>
          <p:cNvSpPr txBox="1"/>
          <p:nvPr/>
        </p:nvSpPr>
        <p:spPr>
          <a:xfrm rot="16200000">
            <a:off x="8281996" y="5375565"/>
            <a:ext cx="1518364" cy="230832"/>
          </a:xfrm>
          <a:prstGeom prst="rect">
            <a:avLst/>
          </a:prstGeom>
          <a:noFill/>
        </p:spPr>
        <p:txBody>
          <a:bodyPr wrap="none" rtlCol="0">
            <a:spAutoFit/>
          </a:bodyPr>
          <a:lstStyle/>
          <a:p>
            <a:r>
              <a:rPr lang="fr-FR" sz="900"/>
              <a:t>Source image : </a:t>
            </a:r>
            <a:r>
              <a:rPr lang="fr-FR" sz="900" err="1"/>
              <a:t>xkcd</a:t>
            </a:r>
            <a:r>
              <a:rPr lang="fr-FR" sz="900"/>
              <a:t> comics</a:t>
            </a:r>
          </a:p>
        </p:txBody>
      </p:sp>
      <p:sp>
        <p:nvSpPr>
          <p:cNvPr id="19" name="Line 17"/>
          <p:cNvSpPr>
            <a:spLocks noChangeShapeType="1"/>
          </p:cNvSpPr>
          <p:nvPr/>
        </p:nvSpPr>
        <p:spPr bwMode="auto">
          <a:xfrm>
            <a:off x="7196525" y="4364037"/>
            <a:ext cx="0" cy="177323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Tree>
    <p:extLst>
      <p:ext uri="{BB962C8B-B14F-4D97-AF65-F5344CB8AC3E}">
        <p14:creationId xmlns:p14="http://schemas.microsoft.com/office/powerpoint/2010/main" val="2642830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stretch>
            <a:fillRect/>
          </a:stretch>
        </p:blipFill>
        <p:spPr>
          <a:xfrm rot="2867649" flipH="1">
            <a:off x="2951977" y="3312560"/>
            <a:ext cx="1816100" cy="1638300"/>
          </a:xfrm>
          <a:prstGeom prst="rect">
            <a:avLst/>
          </a:prstGeom>
        </p:spPr>
      </p:pic>
      <p:sp>
        <p:nvSpPr>
          <p:cNvPr id="2" name="Titre 1"/>
          <p:cNvSpPr>
            <a:spLocks noGrp="1"/>
          </p:cNvSpPr>
          <p:nvPr>
            <p:ph type="title"/>
          </p:nvPr>
        </p:nvSpPr>
        <p:spPr/>
        <p:txBody>
          <a:bodyPr>
            <a:normAutofit/>
          </a:bodyPr>
          <a:lstStyle/>
          <a:p>
            <a:r>
              <a:rPr lang="fr-CA"/>
              <a:t>Le niveau des stocks</a:t>
            </a:r>
            <a:endParaRPr lang="fr-FR"/>
          </a:p>
        </p:txBody>
      </p:sp>
      <p:sp>
        <p:nvSpPr>
          <p:cNvPr id="3" name="Espace réservé du numéro de diapositive 2"/>
          <p:cNvSpPr>
            <a:spLocks noGrp="1"/>
          </p:cNvSpPr>
          <p:nvPr>
            <p:ph type="sldNum" sz="quarter" idx="10"/>
          </p:nvPr>
        </p:nvSpPr>
        <p:spPr/>
        <p:txBody>
          <a:bodyPr>
            <a:normAutofit fontScale="92500" lnSpcReduction="10000"/>
          </a:bodyPr>
          <a:lstStyle/>
          <a:p>
            <a:fld id="{CF4668DC-857F-487D-BFFA-8C0CA5037977}" type="slidenum">
              <a:rPr lang="fr-BE" smtClean="0"/>
              <a:pPr/>
              <a:t>8</a:t>
            </a:fld>
            <a:endParaRPr lang="fr-BE"/>
          </a:p>
        </p:txBody>
      </p:sp>
      <p:sp>
        <p:nvSpPr>
          <p:cNvPr id="22" name="Espace réservé du contenu 21"/>
          <p:cNvSpPr>
            <a:spLocks noGrp="1"/>
          </p:cNvSpPr>
          <p:nvPr>
            <p:ph type="body" sz="quarter" idx="12"/>
          </p:nvPr>
        </p:nvSpPr>
        <p:spPr/>
        <p:txBody>
          <a:bodyPr/>
          <a:lstStyle/>
          <a:p>
            <a:r>
              <a:rPr lang="fr-FR"/>
              <a:t>Les stocks « au cas où »…</a:t>
            </a:r>
          </a:p>
        </p:txBody>
      </p:sp>
      <p:sp>
        <p:nvSpPr>
          <p:cNvPr id="20" name="Text Box 18"/>
          <p:cNvSpPr txBox="1">
            <a:spLocks noChangeArrowheads="1"/>
          </p:cNvSpPr>
          <p:nvPr/>
        </p:nvSpPr>
        <p:spPr bwMode="auto">
          <a:xfrm>
            <a:off x="7216775" y="5049077"/>
            <a:ext cx="1111251" cy="6415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r>
              <a:rPr lang="fr-CA" sz="1800" b="1" i="0"/>
              <a:t>Niveau </a:t>
            </a:r>
          </a:p>
          <a:p>
            <a:r>
              <a:rPr lang="fr-CA" sz="1800" b="1" i="0"/>
              <a:t>de stock</a:t>
            </a:r>
          </a:p>
        </p:txBody>
      </p:sp>
      <p:sp>
        <p:nvSpPr>
          <p:cNvPr id="23" name="Rectangle 22"/>
          <p:cNvSpPr/>
          <p:nvPr/>
        </p:nvSpPr>
        <p:spPr>
          <a:xfrm>
            <a:off x="684213" y="4695825"/>
            <a:ext cx="7626350" cy="939800"/>
          </a:xfrm>
          <a:prstGeom prst="rect">
            <a:avLst/>
          </a:prstGeom>
          <a:solidFill>
            <a:schemeClr val="bg1"/>
          </a:solidFill>
          <a:ln>
            <a:noFill/>
          </a:ln>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6" name="Group 4"/>
          <p:cNvGrpSpPr>
            <a:grpSpLocks/>
          </p:cNvGrpSpPr>
          <p:nvPr/>
        </p:nvGrpSpPr>
        <p:grpSpPr bwMode="auto">
          <a:xfrm>
            <a:off x="684213" y="4598981"/>
            <a:ext cx="7626352" cy="935035"/>
            <a:chOff x="987" y="2057"/>
            <a:chExt cx="4804" cy="589"/>
          </a:xfrm>
          <a:solidFill>
            <a:schemeClr val="accent2">
              <a:lumMod val="60000"/>
              <a:lumOff val="40000"/>
            </a:schemeClr>
          </a:solidFill>
        </p:grpSpPr>
        <p:sp>
          <p:nvSpPr>
            <p:cNvPr id="7" name="Freeform 5"/>
            <p:cNvSpPr>
              <a:spLocks/>
            </p:cNvSpPr>
            <p:nvPr/>
          </p:nvSpPr>
          <p:spPr bwMode="auto">
            <a:xfrm>
              <a:off x="987" y="2057"/>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8" name="Freeform 6"/>
            <p:cNvSpPr>
              <a:spLocks/>
            </p:cNvSpPr>
            <p:nvPr/>
          </p:nvSpPr>
          <p:spPr bwMode="auto">
            <a:xfrm>
              <a:off x="1100" y="2170"/>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9" name="Freeform 7"/>
            <p:cNvSpPr>
              <a:spLocks/>
            </p:cNvSpPr>
            <p:nvPr/>
          </p:nvSpPr>
          <p:spPr bwMode="auto">
            <a:xfrm>
              <a:off x="1213" y="2283"/>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10" name="Freeform 8"/>
            <p:cNvSpPr>
              <a:spLocks/>
            </p:cNvSpPr>
            <p:nvPr/>
          </p:nvSpPr>
          <p:spPr bwMode="auto">
            <a:xfrm>
              <a:off x="1326" y="2396"/>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11" name="Freeform 9"/>
            <p:cNvSpPr>
              <a:spLocks/>
            </p:cNvSpPr>
            <p:nvPr/>
          </p:nvSpPr>
          <p:spPr bwMode="auto">
            <a:xfrm>
              <a:off x="1439" y="2509"/>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grpSp>
      <p:sp>
        <p:nvSpPr>
          <p:cNvPr id="24" name="ZoneTexte 23"/>
          <p:cNvSpPr txBox="1"/>
          <p:nvPr/>
        </p:nvSpPr>
        <p:spPr>
          <a:xfrm rot="16200000">
            <a:off x="8281996" y="5375565"/>
            <a:ext cx="1518364" cy="230832"/>
          </a:xfrm>
          <a:prstGeom prst="rect">
            <a:avLst/>
          </a:prstGeom>
          <a:noFill/>
        </p:spPr>
        <p:txBody>
          <a:bodyPr wrap="none" rtlCol="0">
            <a:spAutoFit/>
          </a:bodyPr>
          <a:lstStyle/>
          <a:p>
            <a:r>
              <a:rPr lang="fr-FR" sz="900"/>
              <a:t>Source image : </a:t>
            </a:r>
            <a:r>
              <a:rPr lang="fr-FR" sz="900" err="1"/>
              <a:t>xkcd</a:t>
            </a:r>
            <a:r>
              <a:rPr lang="fr-FR" sz="900"/>
              <a:t> comics</a:t>
            </a:r>
          </a:p>
        </p:txBody>
      </p:sp>
      <p:sp>
        <p:nvSpPr>
          <p:cNvPr id="19" name="Line 17"/>
          <p:cNvSpPr>
            <a:spLocks noChangeShapeType="1"/>
          </p:cNvSpPr>
          <p:nvPr/>
        </p:nvSpPr>
        <p:spPr bwMode="auto">
          <a:xfrm>
            <a:off x="7196525" y="5354637"/>
            <a:ext cx="0" cy="782637"/>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grpSp>
        <p:nvGrpSpPr>
          <p:cNvPr id="12" name="Group 10"/>
          <p:cNvGrpSpPr>
            <a:grpSpLocks/>
          </p:cNvGrpSpPr>
          <p:nvPr/>
        </p:nvGrpSpPr>
        <p:grpSpPr bwMode="auto">
          <a:xfrm>
            <a:off x="1787525" y="5095877"/>
            <a:ext cx="6364288" cy="1236663"/>
            <a:chOff x="1126" y="3210"/>
            <a:chExt cx="4009" cy="779"/>
          </a:xfrm>
          <a:solidFill>
            <a:schemeClr val="bg1">
              <a:lumMod val="75000"/>
            </a:schemeClr>
          </a:solidFill>
        </p:grpSpPr>
        <p:sp>
          <p:nvSpPr>
            <p:cNvPr id="13" name="Freeform 11"/>
            <p:cNvSpPr>
              <a:spLocks/>
            </p:cNvSpPr>
            <p:nvPr/>
          </p:nvSpPr>
          <p:spPr bwMode="auto">
            <a:xfrm>
              <a:off x="1126" y="3210"/>
              <a:ext cx="4009" cy="779"/>
            </a:xfrm>
            <a:custGeom>
              <a:avLst/>
              <a:gdLst>
                <a:gd name="T0" fmla="*/ 0 w 4013"/>
                <a:gd name="T1" fmla="*/ 475 h 475"/>
                <a:gd name="T2" fmla="*/ 55 w 4013"/>
                <a:gd name="T3" fmla="*/ 466 h 475"/>
                <a:gd name="T4" fmla="*/ 109 w 4013"/>
                <a:gd name="T5" fmla="*/ 448 h 475"/>
                <a:gd name="T6" fmla="*/ 155 w 4013"/>
                <a:gd name="T7" fmla="*/ 338 h 475"/>
                <a:gd name="T8" fmla="*/ 237 w 4013"/>
                <a:gd name="T9" fmla="*/ 228 h 475"/>
                <a:gd name="T10" fmla="*/ 347 w 4013"/>
                <a:gd name="T11" fmla="*/ 219 h 475"/>
                <a:gd name="T12" fmla="*/ 411 w 4013"/>
                <a:gd name="T13" fmla="*/ 155 h 475"/>
                <a:gd name="T14" fmla="*/ 466 w 4013"/>
                <a:gd name="T15" fmla="*/ 91 h 475"/>
                <a:gd name="T16" fmla="*/ 548 w 4013"/>
                <a:gd name="T17" fmla="*/ 109 h 475"/>
                <a:gd name="T18" fmla="*/ 567 w 4013"/>
                <a:gd name="T19" fmla="*/ 128 h 475"/>
                <a:gd name="T20" fmla="*/ 621 w 4013"/>
                <a:gd name="T21" fmla="*/ 146 h 475"/>
                <a:gd name="T22" fmla="*/ 649 w 4013"/>
                <a:gd name="T23" fmla="*/ 265 h 475"/>
                <a:gd name="T24" fmla="*/ 676 w 4013"/>
                <a:gd name="T25" fmla="*/ 283 h 475"/>
                <a:gd name="T26" fmla="*/ 731 w 4013"/>
                <a:gd name="T27" fmla="*/ 347 h 475"/>
                <a:gd name="T28" fmla="*/ 804 w 4013"/>
                <a:gd name="T29" fmla="*/ 411 h 475"/>
                <a:gd name="T30" fmla="*/ 859 w 4013"/>
                <a:gd name="T31" fmla="*/ 429 h 475"/>
                <a:gd name="T32" fmla="*/ 932 w 4013"/>
                <a:gd name="T33" fmla="*/ 448 h 475"/>
                <a:gd name="T34" fmla="*/ 996 w 4013"/>
                <a:gd name="T35" fmla="*/ 356 h 475"/>
                <a:gd name="T36" fmla="*/ 1051 w 4013"/>
                <a:gd name="T37" fmla="*/ 338 h 475"/>
                <a:gd name="T38" fmla="*/ 1079 w 4013"/>
                <a:gd name="T39" fmla="*/ 329 h 475"/>
                <a:gd name="T40" fmla="*/ 1143 w 4013"/>
                <a:gd name="T41" fmla="*/ 274 h 475"/>
                <a:gd name="T42" fmla="*/ 1161 w 4013"/>
                <a:gd name="T43" fmla="*/ 219 h 475"/>
                <a:gd name="T44" fmla="*/ 1170 w 4013"/>
                <a:gd name="T45" fmla="*/ 192 h 475"/>
                <a:gd name="T46" fmla="*/ 1188 w 4013"/>
                <a:gd name="T47" fmla="*/ 54 h 475"/>
                <a:gd name="T48" fmla="*/ 1316 w 4013"/>
                <a:gd name="T49" fmla="*/ 64 h 475"/>
                <a:gd name="T50" fmla="*/ 1371 w 4013"/>
                <a:gd name="T51" fmla="*/ 100 h 475"/>
                <a:gd name="T52" fmla="*/ 1536 w 4013"/>
                <a:gd name="T53" fmla="*/ 128 h 475"/>
                <a:gd name="T54" fmla="*/ 1591 w 4013"/>
                <a:gd name="T55" fmla="*/ 228 h 475"/>
                <a:gd name="T56" fmla="*/ 1627 w 4013"/>
                <a:gd name="T57" fmla="*/ 347 h 475"/>
                <a:gd name="T58" fmla="*/ 1673 w 4013"/>
                <a:gd name="T59" fmla="*/ 393 h 475"/>
                <a:gd name="T60" fmla="*/ 1728 w 4013"/>
                <a:gd name="T61" fmla="*/ 411 h 475"/>
                <a:gd name="T62" fmla="*/ 1810 w 4013"/>
                <a:gd name="T63" fmla="*/ 384 h 475"/>
                <a:gd name="T64" fmla="*/ 1856 w 4013"/>
                <a:gd name="T65" fmla="*/ 310 h 475"/>
                <a:gd name="T66" fmla="*/ 1883 w 4013"/>
                <a:gd name="T67" fmla="*/ 301 h 475"/>
                <a:gd name="T68" fmla="*/ 1938 w 4013"/>
                <a:gd name="T69" fmla="*/ 265 h 475"/>
                <a:gd name="T70" fmla="*/ 2039 w 4013"/>
                <a:gd name="T71" fmla="*/ 173 h 475"/>
                <a:gd name="T72" fmla="*/ 2066 w 4013"/>
                <a:gd name="T73" fmla="*/ 155 h 475"/>
                <a:gd name="T74" fmla="*/ 2084 w 4013"/>
                <a:gd name="T75" fmla="*/ 128 h 475"/>
                <a:gd name="T76" fmla="*/ 2121 w 4013"/>
                <a:gd name="T77" fmla="*/ 109 h 475"/>
                <a:gd name="T78" fmla="*/ 2176 w 4013"/>
                <a:gd name="T79" fmla="*/ 73 h 475"/>
                <a:gd name="T80" fmla="*/ 2276 w 4013"/>
                <a:gd name="T81" fmla="*/ 73 h 475"/>
                <a:gd name="T82" fmla="*/ 2432 w 4013"/>
                <a:gd name="T83" fmla="*/ 137 h 475"/>
                <a:gd name="T84" fmla="*/ 2459 w 4013"/>
                <a:gd name="T85" fmla="*/ 118 h 475"/>
                <a:gd name="T86" fmla="*/ 2514 w 4013"/>
                <a:gd name="T87" fmla="*/ 100 h 475"/>
                <a:gd name="T88" fmla="*/ 2615 w 4013"/>
                <a:gd name="T89" fmla="*/ 27 h 475"/>
                <a:gd name="T90" fmla="*/ 2669 w 4013"/>
                <a:gd name="T91" fmla="*/ 9 h 475"/>
                <a:gd name="T92" fmla="*/ 2697 w 4013"/>
                <a:gd name="T93" fmla="*/ 0 h 475"/>
                <a:gd name="T94" fmla="*/ 2761 w 4013"/>
                <a:gd name="T95" fmla="*/ 54 h 475"/>
                <a:gd name="T96" fmla="*/ 2788 w 4013"/>
                <a:gd name="T97" fmla="*/ 137 h 475"/>
                <a:gd name="T98" fmla="*/ 2834 w 4013"/>
                <a:gd name="T99" fmla="*/ 182 h 475"/>
                <a:gd name="T100" fmla="*/ 2944 w 4013"/>
                <a:gd name="T101" fmla="*/ 265 h 475"/>
                <a:gd name="T102" fmla="*/ 3063 w 4013"/>
                <a:gd name="T103" fmla="*/ 374 h 475"/>
                <a:gd name="T104" fmla="*/ 3300 w 4013"/>
                <a:gd name="T105" fmla="*/ 365 h 475"/>
                <a:gd name="T106" fmla="*/ 3392 w 4013"/>
                <a:gd name="T107" fmla="*/ 438 h 475"/>
                <a:gd name="T108" fmla="*/ 3648 w 4013"/>
                <a:gd name="T109" fmla="*/ 429 h 475"/>
                <a:gd name="T110" fmla="*/ 3730 w 4013"/>
                <a:gd name="T111" fmla="*/ 402 h 475"/>
                <a:gd name="T112" fmla="*/ 3849 w 4013"/>
                <a:gd name="T113" fmla="*/ 384 h 475"/>
                <a:gd name="T114" fmla="*/ 4013 w 4013"/>
                <a:gd name="T115" fmla="*/ 393 h 475"/>
                <a:gd name="connsiteX0" fmla="*/ 0 w 10000"/>
                <a:gd name="connsiteY0" fmla="*/ 10000 h 10000"/>
                <a:gd name="connsiteX1" fmla="*/ 137 w 10000"/>
                <a:gd name="connsiteY1" fmla="*/ 9811 h 10000"/>
                <a:gd name="connsiteX2" fmla="*/ 272 w 10000"/>
                <a:gd name="connsiteY2" fmla="*/ 9432 h 10000"/>
                <a:gd name="connsiteX3" fmla="*/ 386 w 10000"/>
                <a:gd name="connsiteY3" fmla="*/ 7116 h 10000"/>
                <a:gd name="connsiteX4" fmla="*/ 591 w 10000"/>
                <a:gd name="connsiteY4" fmla="*/ 4800 h 10000"/>
                <a:gd name="connsiteX5" fmla="*/ 865 w 10000"/>
                <a:gd name="connsiteY5" fmla="*/ 4611 h 10000"/>
                <a:gd name="connsiteX6" fmla="*/ 1024 w 10000"/>
                <a:gd name="connsiteY6" fmla="*/ 3263 h 10000"/>
                <a:gd name="connsiteX7" fmla="*/ 1161 w 10000"/>
                <a:gd name="connsiteY7" fmla="*/ 1916 h 10000"/>
                <a:gd name="connsiteX8" fmla="*/ 1366 w 10000"/>
                <a:gd name="connsiteY8" fmla="*/ 2295 h 10000"/>
                <a:gd name="connsiteX9" fmla="*/ 1413 w 10000"/>
                <a:gd name="connsiteY9" fmla="*/ 2695 h 10000"/>
                <a:gd name="connsiteX10" fmla="*/ 1547 w 10000"/>
                <a:gd name="connsiteY10" fmla="*/ 3074 h 10000"/>
                <a:gd name="connsiteX11" fmla="*/ 1617 w 10000"/>
                <a:gd name="connsiteY11" fmla="*/ 5579 h 10000"/>
                <a:gd name="connsiteX12" fmla="*/ 1685 w 10000"/>
                <a:gd name="connsiteY12" fmla="*/ 5958 h 10000"/>
                <a:gd name="connsiteX13" fmla="*/ 1822 w 10000"/>
                <a:gd name="connsiteY13" fmla="*/ 7305 h 10000"/>
                <a:gd name="connsiteX14" fmla="*/ 2003 w 10000"/>
                <a:gd name="connsiteY14" fmla="*/ 8653 h 10000"/>
                <a:gd name="connsiteX15" fmla="*/ 2141 w 10000"/>
                <a:gd name="connsiteY15" fmla="*/ 9032 h 10000"/>
                <a:gd name="connsiteX16" fmla="*/ 2322 w 10000"/>
                <a:gd name="connsiteY16" fmla="*/ 9432 h 10000"/>
                <a:gd name="connsiteX17" fmla="*/ 2482 w 10000"/>
                <a:gd name="connsiteY17" fmla="*/ 7495 h 10000"/>
                <a:gd name="connsiteX18" fmla="*/ 2619 w 10000"/>
                <a:gd name="connsiteY18" fmla="*/ 7116 h 10000"/>
                <a:gd name="connsiteX19" fmla="*/ 2689 w 10000"/>
                <a:gd name="connsiteY19" fmla="*/ 6926 h 10000"/>
                <a:gd name="connsiteX20" fmla="*/ 2848 w 10000"/>
                <a:gd name="connsiteY20" fmla="*/ 5768 h 10000"/>
                <a:gd name="connsiteX21" fmla="*/ 2893 w 10000"/>
                <a:gd name="connsiteY21" fmla="*/ 4611 h 10000"/>
                <a:gd name="connsiteX22" fmla="*/ 2916 w 10000"/>
                <a:gd name="connsiteY22" fmla="*/ 4042 h 10000"/>
                <a:gd name="connsiteX23" fmla="*/ 2960 w 10000"/>
                <a:gd name="connsiteY23" fmla="*/ 1137 h 10000"/>
                <a:gd name="connsiteX24" fmla="*/ 3279 w 10000"/>
                <a:gd name="connsiteY24" fmla="*/ 1347 h 10000"/>
                <a:gd name="connsiteX25" fmla="*/ 3416 w 10000"/>
                <a:gd name="connsiteY25" fmla="*/ 2105 h 10000"/>
                <a:gd name="connsiteX26" fmla="*/ 3828 w 10000"/>
                <a:gd name="connsiteY26" fmla="*/ 2695 h 10000"/>
                <a:gd name="connsiteX27" fmla="*/ 3965 w 10000"/>
                <a:gd name="connsiteY27" fmla="*/ 4800 h 10000"/>
                <a:gd name="connsiteX28" fmla="*/ 4054 w 10000"/>
                <a:gd name="connsiteY28" fmla="*/ 7305 h 10000"/>
                <a:gd name="connsiteX29" fmla="*/ 4169 w 10000"/>
                <a:gd name="connsiteY29" fmla="*/ 8274 h 10000"/>
                <a:gd name="connsiteX30" fmla="*/ 4306 w 10000"/>
                <a:gd name="connsiteY30" fmla="*/ 8653 h 10000"/>
                <a:gd name="connsiteX31" fmla="*/ 4510 w 10000"/>
                <a:gd name="connsiteY31" fmla="*/ 8084 h 10000"/>
                <a:gd name="connsiteX32" fmla="*/ 4625 w 10000"/>
                <a:gd name="connsiteY32" fmla="*/ 6526 h 10000"/>
                <a:gd name="connsiteX33" fmla="*/ 4692 w 10000"/>
                <a:gd name="connsiteY33" fmla="*/ 6337 h 10000"/>
                <a:gd name="connsiteX34" fmla="*/ 4829 w 10000"/>
                <a:gd name="connsiteY34" fmla="*/ 5579 h 10000"/>
                <a:gd name="connsiteX35" fmla="*/ 5081 w 10000"/>
                <a:gd name="connsiteY35" fmla="*/ 3642 h 10000"/>
                <a:gd name="connsiteX36" fmla="*/ 5148 w 10000"/>
                <a:gd name="connsiteY36" fmla="*/ 3263 h 10000"/>
                <a:gd name="connsiteX37" fmla="*/ 5193 w 10000"/>
                <a:gd name="connsiteY37" fmla="*/ 2695 h 10000"/>
                <a:gd name="connsiteX38" fmla="*/ 5285 w 10000"/>
                <a:gd name="connsiteY38" fmla="*/ 2295 h 10000"/>
                <a:gd name="connsiteX39" fmla="*/ 5422 w 10000"/>
                <a:gd name="connsiteY39" fmla="*/ 1537 h 10000"/>
                <a:gd name="connsiteX40" fmla="*/ 5672 w 10000"/>
                <a:gd name="connsiteY40" fmla="*/ 1537 h 10000"/>
                <a:gd name="connsiteX41" fmla="*/ 6060 w 10000"/>
                <a:gd name="connsiteY41" fmla="*/ 2884 h 10000"/>
                <a:gd name="connsiteX42" fmla="*/ 6128 w 10000"/>
                <a:gd name="connsiteY42" fmla="*/ 2484 h 10000"/>
                <a:gd name="connsiteX43" fmla="*/ 6265 w 10000"/>
                <a:gd name="connsiteY43" fmla="*/ 2105 h 10000"/>
                <a:gd name="connsiteX44" fmla="*/ 6516 w 10000"/>
                <a:gd name="connsiteY44" fmla="*/ 568 h 10000"/>
                <a:gd name="connsiteX45" fmla="*/ 6651 w 10000"/>
                <a:gd name="connsiteY45" fmla="*/ 189 h 10000"/>
                <a:gd name="connsiteX46" fmla="*/ 6721 w 10000"/>
                <a:gd name="connsiteY46" fmla="*/ 0 h 10000"/>
                <a:gd name="connsiteX47" fmla="*/ 6880 w 10000"/>
                <a:gd name="connsiteY47" fmla="*/ 1137 h 10000"/>
                <a:gd name="connsiteX48" fmla="*/ 6947 w 10000"/>
                <a:gd name="connsiteY48" fmla="*/ 2884 h 10000"/>
                <a:gd name="connsiteX49" fmla="*/ 7062 w 10000"/>
                <a:gd name="connsiteY49" fmla="*/ 3832 h 10000"/>
                <a:gd name="connsiteX50" fmla="*/ 7336 w 10000"/>
                <a:gd name="connsiteY50" fmla="*/ 5579 h 10000"/>
                <a:gd name="connsiteX51" fmla="*/ 7633 w 10000"/>
                <a:gd name="connsiteY51" fmla="*/ 7874 h 10000"/>
                <a:gd name="connsiteX52" fmla="*/ 8223 w 10000"/>
                <a:gd name="connsiteY52" fmla="*/ 7684 h 10000"/>
                <a:gd name="connsiteX53" fmla="*/ 8533 w 10000"/>
                <a:gd name="connsiteY53" fmla="*/ 8283 h 10000"/>
                <a:gd name="connsiteX54" fmla="*/ 9090 w 10000"/>
                <a:gd name="connsiteY54" fmla="*/ 9032 h 10000"/>
                <a:gd name="connsiteX55" fmla="*/ 9295 w 10000"/>
                <a:gd name="connsiteY55" fmla="*/ 8463 h 10000"/>
                <a:gd name="connsiteX56" fmla="*/ 9591 w 10000"/>
                <a:gd name="connsiteY56" fmla="*/ 8084 h 10000"/>
                <a:gd name="connsiteX57" fmla="*/ 10000 w 10000"/>
                <a:gd name="connsiteY57" fmla="*/ 8274 h 10000"/>
                <a:gd name="connsiteX0" fmla="*/ 0 w 10000"/>
                <a:gd name="connsiteY0" fmla="*/ 10000 h 10000"/>
                <a:gd name="connsiteX1" fmla="*/ 137 w 10000"/>
                <a:gd name="connsiteY1" fmla="*/ 9811 h 10000"/>
                <a:gd name="connsiteX2" fmla="*/ 272 w 10000"/>
                <a:gd name="connsiteY2" fmla="*/ 9432 h 10000"/>
                <a:gd name="connsiteX3" fmla="*/ 386 w 10000"/>
                <a:gd name="connsiteY3" fmla="*/ 7116 h 10000"/>
                <a:gd name="connsiteX4" fmla="*/ 591 w 10000"/>
                <a:gd name="connsiteY4" fmla="*/ 4800 h 10000"/>
                <a:gd name="connsiteX5" fmla="*/ 865 w 10000"/>
                <a:gd name="connsiteY5" fmla="*/ 4611 h 10000"/>
                <a:gd name="connsiteX6" fmla="*/ 1024 w 10000"/>
                <a:gd name="connsiteY6" fmla="*/ 3263 h 10000"/>
                <a:gd name="connsiteX7" fmla="*/ 1161 w 10000"/>
                <a:gd name="connsiteY7" fmla="*/ 1916 h 10000"/>
                <a:gd name="connsiteX8" fmla="*/ 1366 w 10000"/>
                <a:gd name="connsiteY8" fmla="*/ 2295 h 10000"/>
                <a:gd name="connsiteX9" fmla="*/ 1413 w 10000"/>
                <a:gd name="connsiteY9" fmla="*/ 2695 h 10000"/>
                <a:gd name="connsiteX10" fmla="*/ 1547 w 10000"/>
                <a:gd name="connsiteY10" fmla="*/ 3074 h 10000"/>
                <a:gd name="connsiteX11" fmla="*/ 1617 w 10000"/>
                <a:gd name="connsiteY11" fmla="*/ 5579 h 10000"/>
                <a:gd name="connsiteX12" fmla="*/ 1685 w 10000"/>
                <a:gd name="connsiteY12" fmla="*/ 5958 h 10000"/>
                <a:gd name="connsiteX13" fmla="*/ 1822 w 10000"/>
                <a:gd name="connsiteY13" fmla="*/ 7305 h 10000"/>
                <a:gd name="connsiteX14" fmla="*/ 2003 w 10000"/>
                <a:gd name="connsiteY14" fmla="*/ 8653 h 10000"/>
                <a:gd name="connsiteX15" fmla="*/ 2141 w 10000"/>
                <a:gd name="connsiteY15" fmla="*/ 9032 h 10000"/>
                <a:gd name="connsiteX16" fmla="*/ 2322 w 10000"/>
                <a:gd name="connsiteY16" fmla="*/ 9432 h 10000"/>
                <a:gd name="connsiteX17" fmla="*/ 2482 w 10000"/>
                <a:gd name="connsiteY17" fmla="*/ 7495 h 10000"/>
                <a:gd name="connsiteX18" fmla="*/ 2619 w 10000"/>
                <a:gd name="connsiteY18" fmla="*/ 7116 h 10000"/>
                <a:gd name="connsiteX19" fmla="*/ 2689 w 10000"/>
                <a:gd name="connsiteY19" fmla="*/ 6926 h 10000"/>
                <a:gd name="connsiteX20" fmla="*/ 2848 w 10000"/>
                <a:gd name="connsiteY20" fmla="*/ 5768 h 10000"/>
                <a:gd name="connsiteX21" fmla="*/ 2893 w 10000"/>
                <a:gd name="connsiteY21" fmla="*/ 4611 h 10000"/>
                <a:gd name="connsiteX22" fmla="*/ 2916 w 10000"/>
                <a:gd name="connsiteY22" fmla="*/ 4042 h 10000"/>
                <a:gd name="connsiteX23" fmla="*/ 2960 w 10000"/>
                <a:gd name="connsiteY23" fmla="*/ 1137 h 10000"/>
                <a:gd name="connsiteX24" fmla="*/ 3279 w 10000"/>
                <a:gd name="connsiteY24" fmla="*/ 1347 h 10000"/>
                <a:gd name="connsiteX25" fmla="*/ 3416 w 10000"/>
                <a:gd name="connsiteY25" fmla="*/ 2105 h 10000"/>
                <a:gd name="connsiteX26" fmla="*/ 3828 w 10000"/>
                <a:gd name="connsiteY26" fmla="*/ 2695 h 10000"/>
                <a:gd name="connsiteX27" fmla="*/ 3965 w 10000"/>
                <a:gd name="connsiteY27" fmla="*/ 4800 h 10000"/>
                <a:gd name="connsiteX28" fmla="*/ 4054 w 10000"/>
                <a:gd name="connsiteY28" fmla="*/ 7305 h 10000"/>
                <a:gd name="connsiteX29" fmla="*/ 4169 w 10000"/>
                <a:gd name="connsiteY29" fmla="*/ 8274 h 10000"/>
                <a:gd name="connsiteX30" fmla="*/ 4306 w 10000"/>
                <a:gd name="connsiteY30" fmla="*/ 8653 h 10000"/>
                <a:gd name="connsiteX31" fmla="*/ 4510 w 10000"/>
                <a:gd name="connsiteY31" fmla="*/ 8084 h 10000"/>
                <a:gd name="connsiteX32" fmla="*/ 4625 w 10000"/>
                <a:gd name="connsiteY32" fmla="*/ 6526 h 10000"/>
                <a:gd name="connsiteX33" fmla="*/ 4692 w 10000"/>
                <a:gd name="connsiteY33" fmla="*/ 6337 h 10000"/>
                <a:gd name="connsiteX34" fmla="*/ 4829 w 10000"/>
                <a:gd name="connsiteY34" fmla="*/ 5579 h 10000"/>
                <a:gd name="connsiteX35" fmla="*/ 5081 w 10000"/>
                <a:gd name="connsiteY35" fmla="*/ 3642 h 10000"/>
                <a:gd name="connsiteX36" fmla="*/ 5148 w 10000"/>
                <a:gd name="connsiteY36" fmla="*/ 3263 h 10000"/>
                <a:gd name="connsiteX37" fmla="*/ 5193 w 10000"/>
                <a:gd name="connsiteY37" fmla="*/ 2695 h 10000"/>
                <a:gd name="connsiteX38" fmla="*/ 5285 w 10000"/>
                <a:gd name="connsiteY38" fmla="*/ 2295 h 10000"/>
                <a:gd name="connsiteX39" fmla="*/ 5422 w 10000"/>
                <a:gd name="connsiteY39" fmla="*/ 1537 h 10000"/>
                <a:gd name="connsiteX40" fmla="*/ 5672 w 10000"/>
                <a:gd name="connsiteY40" fmla="*/ 1537 h 10000"/>
                <a:gd name="connsiteX41" fmla="*/ 6060 w 10000"/>
                <a:gd name="connsiteY41" fmla="*/ 2884 h 10000"/>
                <a:gd name="connsiteX42" fmla="*/ 6128 w 10000"/>
                <a:gd name="connsiteY42" fmla="*/ 2484 h 10000"/>
                <a:gd name="connsiteX43" fmla="*/ 6265 w 10000"/>
                <a:gd name="connsiteY43" fmla="*/ 2105 h 10000"/>
                <a:gd name="connsiteX44" fmla="*/ 6516 w 10000"/>
                <a:gd name="connsiteY44" fmla="*/ 568 h 10000"/>
                <a:gd name="connsiteX45" fmla="*/ 6651 w 10000"/>
                <a:gd name="connsiteY45" fmla="*/ 189 h 10000"/>
                <a:gd name="connsiteX46" fmla="*/ 6721 w 10000"/>
                <a:gd name="connsiteY46" fmla="*/ 0 h 10000"/>
                <a:gd name="connsiteX47" fmla="*/ 6880 w 10000"/>
                <a:gd name="connsiteY47" fmla="*/ 1137 h 10000"/>
                <a:gd name="connsiteX48" fmla="*/ 6947 w 10000"/>
                <a:gd name="connsiteY48" fmla="*/ 2884 h 10000"/>
                <a:gd name="connsiteX49" fmla="*/ 7062 w 10000"/>
                <a:gd name="connsiteY49" fmla="*/ 3832 h 10000"/>
                <a:gd name="connsiteX50" fmla="*/ 7336 w 10000"/>
                <a:gd name="connsiteY50" fmla="*/ 5579 h 10000"/>
                <a:gd name="connsiteX51" fmla="*/ 7633 w 10000"/>
                <a:gd name="connsiteY51" fmla="*/ 7874 h 10000"/>
                <a:gd name="connsiteX52" fmla="*/ 8223 w 10000"/>
                <a:gd name="connsiteY52" fmla="*/ 7684 h 10000"/>
                <a:gd name="connsiteX53" fmla="*/ 8533 w 10000"/>
                <a:gd name="connsiteY53" fmla="*/ 8283 h 10000"/>
                <a:gd name="connsiteX54" fmla="*/ 9331 w 10000"/>
                <a:gd name="connsiteY54" fmla="*/ 7574 h 10000"/>
                <a:gd name="connsiteX55" fmla="*/ 9295 w 10000"/>
                <a:gd name="connsiteY55" fmla="*/ 8463 h 10000"/>
                <a:gd name="connsiteX56" fmla="*/ 9591 w 10000"/>
                <a:gd name="connsiteY56" fmla="*/ 8084 h 10000"/>
                <a:gd name="connsiteX57" fmla="*/ 10000 w 10000"/>
                <a:gd name="connsiteY57" fmla="*/ 8274 h 10000"/>
                <a:gd name="connsiteX0" fmla="*/ 0 w 10000"/>
                <a:gd name="connsiteY0" fmla="*/ 10000 h 10000"/>
                <a:gd name="connsiteX1" fmla="*/ 137 w 10000"/>
                <a:gd name="connsiteY1" fmla="*/ 9811 h 10000"/>
                <a:gd name="connsiteX2" fmla="*/ 272 w 10000"/>
                <a:gd name="connsiteY2" fmla="*/ 9432 h 10000"/>
                <a:gd name="connsiteX3" fmla="*/ 386 w 10000"/>
                <a:gd name="connsiteY3" fmla="*/ 7116 h 10000"/>
                <a:gd name="connsiteX4" fmla="*/ 591 w 10000"/>
                <a:gd name="connsiteY4" fmla="*/ 4800 h 10000"/>
                <a:gd name="connsiteX5" fmla="*/ 865 w 10000"/>
                <a:gd name="connsiteY5" fmla="*/ 4611 h 10000"/>
                <a:gd name="connsiteX6" fmla="*/ 1024 w 10000"/>
                <a:gd name="connsiteY6" fmla="*/ 3263 h 10000"/>
                <a:gd name="connsiteX7" fmla="*/ 1161 w 10000"/>
                <a:gd name="connsiteY7" fmla="*/ 1916 h 10000"/>
                <a:gd name="connsiteX8" fmla="*/ 1366 w 10000"/>
                <a:gd name="connsiteY8" fmla="*/ 2295 h 10000"/>
                <a:gd name="connsiteX9" fmla="*/ 1413 w 10000"/>
                <a:gd name="connsiteY9" fmla="*/ 2695 h 10000"/>
                <a:gd name="connsiteX10" fmla="*/ 1547 w 10000"/>
                <a:gd name="connsiteY10" fmla="*/ 3074 h 10000"/>
                <a:gd name="connsiteX11" fmla="*/ 1617 w 10000"/>
                <a:gd name="connsiteY11" fmla="*/ 5579 h 10000"/>
                <a:gd name="connsiteX12" fmla="*/ 1685 w 10000"/>
                <a:gd name="connsiteY12" fmla="*/ 5958 h 10000"/>
                <a:gd name="connsiteX13" fmla="*/ 1822 w 10000"/>
                <a:gd name="connsiteY13" fmla="*/ 7305 h 10000"/>
                <a:gd name="connsiteX14" fmla="*/ 2003 w 10000"/>
                <a:gd name="connsiteY14" fmla="*/ 8653 h 10000"/>
                <a:gd name="connsiteX15" fmla="*/ 2141 w 10000"/>
                <a:gd name="connsiteY15" fmla="*/ 9032 h 10000"/>
                <a:gd name="connsiteX16" fmla="*/ 2322 w 10000"/>
                <a:gd name="connsiteY16" fmla="*/ 9432 h 10000"/>
                <a:gd name="connsiteX17" fmla="*/ 2482 w 10000"/>
                <a:gd name="connsiteY17" fmla="*/ 7495 h 10000"/>
                <a:gd name="connsiteX18" fmla="*/ 2619 w 10000"/>
                <a:gd name="connsiteY18" fmla="*/ 7116 h 10000"/>
                <a:gd name="connsiteX19" fmla="*/ 2689 w 10000"/>
                <a:gd name="connsiteY19" fmla="*/ 6926 h 10000"/>
                <a:gd name="connsiteX20" fmla="*/ 2848 w 10000"/>
                <a:gd name="connsiteY20" fmla="*/ 5768 h 10000"/>
                <a:gd name="connsiteX21" fmla="*/ 2893 w 10000"/>
                <a:gd name="connsiteY21" fmla="*/ 4611 h 10000"/>
                <a:gd name="connsiteX22" fmla="*/ 2916 w 10000"/>
                <a:gd name="connsiteY22" fmla="*/ 4042 h 10000"/>
                <a:gd name="connsiteX23" fmla="*/ 2960 w 10000"/>
                <a:gd name="connsiteY23" fmla="*/ 1137 h 10000"/>
                <a:gd name="connsiteX24" fmla="*/ 3279 w 10000"/>
                <a:gd name="connsiteY24" fmla="*/ 1347 h 10000"/>
                <a:gd name="connsiteX25" fmla="*/ 3416 w 10000"/>
                <a:gd name="connsiteY25" fmla="*/ 2105 h 10000"/>
                <a:gd name="connsiteX26" fmla="*/ 3828 w 10000"/>
                <a:gd name="connsiteY26" fmla="*/ 2695 h 10000"/>
                <a:gd name="connsiteX27" fmla="*/ 3965 w 10000"/>
                <a:gd name="connsiteY27" fmla="*/ 4800 h 10000"/>
                <a:gd name="connsiteX28" fmla="*/ 4054 w 10000"/>
                <a:gd name="connsiteY28" fmla="*/ 7305 h 10000"/>
                <a:gd name="connsiteX29" fmla="*/ 4169 w 10000"/>
                <a:gd name="connsiteY29" fmla="*/ 8274 h 10000"/>
                <a:gd name="connsiteX30" fmla="*/ 4306 w 10000"/>
                <a:gd name="connsiteY30" fmla="*/ 8653 h 10000"/>
                <a:gd name="connsiteX31" fmla="*/ 4510 w 10000"/>
                <a:gd name="connsiteY31" fmla="*/ 8084 h 10000"/>
                <a:gd name="connsiteX32" fmla="*/ 4625 w 10000"/>
                <a:gd name="connsiteY32" fmla="*/ 6526 h 10000"/>
                <a:gd name="connsiteX33" fmla="*/ 4692 w 10000"/>
                <a:gd name="connsiteY33" fmla="*/ 6337 h 10000"/>
                <a:gd name="connsiteX34" fmla="*/ 4829 w 10000"/>
                <a:gd name="connsiteY34" fmla="*/ 5579 h 10000"/>
                <a:gd name="connsiteX35" fmla="*/ 5081 w 10000"/>
                <a:gd name="connsiteY35" fmla="*/ 3642 h 10000"/>
                <a:gd name="connsiteX36" fmla="*/ 5148 w 10000"/>
                <a:gd name="connsiteY36" fmla="*/ 3263 h 10000"/>
                <a:gd name="connsiteX37" fmla="*/ 5193 w 10000"/>
                <a:gd name="connsiteY37" fmla="*/ 2695 h 10000"/>
                <a:gd name="connsiteX38" fmla="*/ 5285 w 10000"/>
                <a:gd name="connsiteY38" fmla="*/ 2295 h 10000"/>
                <a:gd name="connsiteX39" fmla="*/ 5422 w 10000"/>
                <a:gd name="connsiteY39" fmla="*/ 1537 h 10000"/>
                <a:gd name="connsiteX40" fmla="*/ 5672 w 10000"/>
                <a:gd name="connsiteY40" fmla="*/ 1537 h 10000"/>
                <a:gd name="connsiteX41" fmla="*/ 6060 w 10000"/>
                <a:gd name="connsiteY41" fmla="*/ 2884 h 10000"/>
                <a:gd name="connsiteX42" fmla="*/ 6128 w 10000"/>
                <a:gd name="connsiteY42" fmla="*/ 2484 h 10000"/>
                <a:gd name="connsiteX43" fmla="*/ 6265 w 10000"/>
                <a:gd name="connsiteY43" fmla="*/ 2105 h 10000"/>
                <a:gd name="connsiteX44" fmla="*/ 6516 w 10000"/>
                <a:gd name="connsiteY44" fmla="*/ 568 h 10000"/>
                <a:gd name="connsiteX45" fmla="*/ 6651 w 10000"/>
                <a:gd name="connsiteY45" fmla="*/ 189 h 10000"/>
                <a:gd name="connsiteX46" fmla="*/ 6721 w 10000"/>
                <a:gd name="connsiteY46" fmla="*/ 0 h 10000"/>
                <a:gd name="connsiteX47" fmla="*/ 6880 w 10000"/>
                <a:gd name="connsiteY47" fmla="*/ 1137 h 10000"/>
                <a:gd name="connsiteX48" fmla="*/ 6947 w 10000"/>
                <a:gd name="connsiteY48" fmla="*/ 2884 h 10000"/>
                <a:gd name="connsiteX49" fmla="*/ 7062 w 10000"/>
                <a:gd name="connsiteY49" fmla="*/ 3832 h 10000"/>
                <a:gd name="connsiteX50" fmla="*/ 7336 w 10000"/>
                <a:gd name="connsiteY50" fmla="*/ 5579 h 10000"/>
                <a:gd name="connsiteX51" fmla="*/ 7633 w 10000"/>
                <a:gd name="connsiteY51" fmla="*/ 7874 h 10000"/>
                <a:gd name="connsiteX52" fmla="*/ 8223 w 10000"/>
                <a:gd name="connsiteY52" fmla="*/ 7684 h 10000"/>
                <a:gd name="connsiteX53" fmla="*/ 8533 w 10000"/>
                <a:gd name="connsiteY53" fmla="*/ 8283 h 10000"/>
                <a:gd name="connsiteX54" fmla="*/ 9331 w 10000"/>
                <a:gd name="connsiteY54" fmla="*/ 7574 h 10000"/>
                <a:gd name="connsiteX55" fmla="*/ 9591 w 10000"/>
                <a:gd name="connsiteY55" fmla="*/ 8084 h 10000"/>
                <a:gd name="connsiteX56" fmla="*/ 10000 w 10000"/>
                <a:gd name="connsiteY56" fmla="*/ 8274 h 10000"/>
                <a:gd name="connsiteX0" fmla="*/ 0 w 10060"/>
                <a:gd name="connsiteY0" fmla="*/ 10000 h 10149"/>
                <a:gd name="connsiteX1" fmla="*/ 137 w 10060"/>
                <a:gd name="connsiteY1" fmla="*/ 9811 h 10149"/>
                <a:gd name="connsiteX2" fmla="*/ 272 w 10060"/>
                <a:gd name="connsiteY2" fmla="*/ 9432 h 10149"/>
                <a:gd name="connsiteX3" fmla="*/ 386 w 10060"/>
                <a:gd name="connsiteY3" fmla="*/ 7116 h 10149"/>
                <a:gd name="connsiteX4" fmla="*/ 591 w 10060"/>
                <a:gd name="connsiteY4" fmla="*/ 4800 h 10149"/>
                <a:gd name="connsiteX5" fmla="*/ 865 w 10060"/>
                <a:gd name="connsiteY5" fmla="*/ 4611 h 10149"/>
                <a:gd name="connsiteX6" fmla="*/ 1024 w 10060"/>
                <a:gd name="connsiteY6" fmla="*/ 3263 h 10149"/>
                <a:gd name="connsiteX7" fmla="*/ 1161 w 10060"/>
                <a:gd name="connsiteY7" fmla="*/ 1916 h 10149"/>
                <a:gd name="connsiteX8" fmla="*/ 1366 w 10060"/>
                <a:gd name="connsiteY8" fmla="*/ 2295 h 10149"/>
                <a:gd name="connsiteX9" fmla="*/ 1413 w 10060"/>
                <a:gd name="connsiteY9" fmla="*/ 2695 h 10149"/>
                <a:gd name="connsiteX10" fmla="*/ 1547 w 10060"/>
                <a:gd name="connsiteY10" fmla="*/ 3074 h 10149"/>
                <a:gd name="connsiteX11" fmla="*/ 1617 w 10060"/>
                <a:gd name="connsiteY11" fmla="*/ 5579 h 10149"/>
                <a:gd name="connsiteX12" fmla="*/ 1685 w 10060"/>
                <a:gd name="connsiteY12" fmla="*/ 5958 h 10149"/>
                <a:gd name="connsiteX13" fmla="*/ 1822 w 10060"/>
                <a:gd name="connsiteY13" fmla="*/ 7305 h 10149"/>
                <a:gd name="connsiteX14" fmla="*/ 2003 w 10060"/>
                <a:gd name="connsiteY14" fmla="*/ 8653 h 10149"/>
                <a:gd name="connsiteX15" fmla="*/ 2141 w 10060"/>
                <a:gd name="connsiteY15" fmla="*/ 9032 h 10149"/>
                <a:gd name="connsiteX16" fmla="*/ 2322 w 10060"/>
                <a:gd name="connsiteY16" fmla="*/ 9432 h 10149"/>
                <a:gd name="connsiteX17" fmla="*/ 2482 w 10060"/>
                <a:gd name="connsiteY17" fmla="*/ 7495 h 10149"/>
                <a:gd name="connsiteX18" fmla="*/ 2619 w 10060"/>
                <a:gd name="connsiteY18" fmla="*/ 7116 h 10149"/>
                <a:gd name="connsiteX19" fmla="*/ 2689 w 10060"/>
                <a:gd name="connsiteY19" fmla="*/ 6926 h 10149"/>
                <a:gd name="connsiteX20" fmla="*/ 2848 w 10060"/>
                <a:gd name="connsiteY20" fmla="*/ 5768 h 10149"/>
                <a:gd name="connsiteX21" fmla="*/ 2893 w 10060"/>
                <a:gd name="connsiteY21" fmla="*/ 4611 h 10149"/>
                <a:gd name="connsiteX22" fmla="*/ 2916 w 10060"/>
                <a:gd name="connsiteY22" fmla="*/ 4042 h 10149"/>
                <a:gd name="connsiteX23" fmla="*/ 2960 w 10060"/>
                <a:gd name="connsiteY23" fmla="*/ 1137 h 10149"/>
                <a:gd name="connsiteX24" fmla="*/ 3279 w 10060"/>
                <a:gd name="connsiteY24" fmla="*/ 1347 h 10149"/>
                <a:gd name="connsiteX25" fmla="*/ 3416 w 10060"/>
                <a:gd name="connsiteY25" fmla="*/ 2105 h 10149"/>
                <a:gd name="connsiteX26" fmla="*/ 3828 w 10060"/>
                <a:gd name="connsiteY26" fmla="*/ 2695 h 10149"/>
                <a:gd name="connsiteX27" fmla="*/ 3965 w 10060"/>
                <a:gd name="connsiteY27" fmla="*/ 4800 h 10149"/>
                <a:gd name="connsiteX28" fmla="*/ 4054 w 10060"/>
                <a:gd name="connsiteY28" fmla="*/ 7305 h 10149"/>
                <a:gd name="connsiteX29" fmla="*/ 4169 w 10060"/>
                <a:gd name="connsiteY29" fmla="*/ 8274 h 10149"/>
                <a:gd name="connsiteX30" fmla="*/ 4306 w 10060"/>
                <a:gd name="connsiteY30" fmla="*/ 8653 h 10149"/>
                <a:gd name="connsiteX31" fmla="*/ 4510 w 10060"/>
                <a:gd name="connsiteY31" fmla="*/ 8084 h 10149"/>
                <a:gd name="connsiteX32" fmla="*/ 4625 w 10060"/>
                <a:gd name="connsiteY32" fmla="*/ 6526 h 10149"/>
                <a:gd name="connsiteX33" fmla="*/ 4692 w 10060"/>
                <a:gd name="connsiteY33" fmla="*/ 6337 h 10149"/>
                <a:gd name="connsiteX34" fmla="*/ 4829 w 10060"/>
                <a:gd name="connsiteY34" fmla="*/ 5579 h 10149"/>
                <a:gd name="connsiteX35" fmla="*/ 5081 w 10060"/>
                <a:gd name="connsiteY35" fmla="*/ 3642 h 10149"/>
                <a:gd name="connsiteX36" fmla="*/ 5148 w 10060"/>
                <a:gd name="connsiteY36" fmla="*/ 3263 h 10149"/>
                <a:gd name="connsiteX37" fmla="*/ 5193 w 10060"/>
                <a:gd name="connsiteY37" fmla="*/ 2695 h 10149"/>
                <a:gd name="connsiteX38" fmla="*/ 5285 w 10060"/>
                <a:gd name="connsiteY38" fmla="*/ 2295 h 10149"/>
                <a:gd name="connsiteX39" fmla="*/ 5422 w 10060"/>
                <a:gd name="connsiteY39" fmla="*/ 1537 h 10149"/>
                <a:gd name="connsiteX40" fmla="*/ 5672 w 10060"/>
                <a:gd name="connsiteY40" fmla="*/ 1537 h 10149"/>
                <a:gd name="connsiteX41" fmla="*/ 6060 w 10060"/>
                <a:gd name="connsiteY41" fmla="*/ 2884 h 10149"/>
                <a:gd name="connsiteX42" fmla="*/ 6128 w 10060"/>
                <a:gd name="connsiteY42" fmla="*/ 2484 h 10149"/>
                <a:gd name="connsiteX43" fmla="*/ 6265 w 10060"/>
                <a:gd name="connsiteY43" fmla="*/ 2105 h 10149"/>
                <a:gd name="connsiteX44" fmla="*/ 6516 w 10060"/>
                <a:gd name="connsiteY44" fmla="*/ 568 h 10149"/>
                <a:gd name="connsiteX45" fmla="*/ 6651 w 10060"/>
                <a:gd name="connsiteY45" fmla="*/ 189 h 10149"/>
                <a:gd name="connsiteX46" fmla="*/ 6721 w 10060"/>
                <a:gd name="connsiteY46" fmla="*/ 0 h 10149"/>
                <a:gd name="connsiteX47" fmla="*/ 6880 w 10060"/>
                <a:gd name="connsiteY47" fmla="*/ 1137 h 10149"/>
                <a:gd name="connsiteX48" fmla="*/ 6947 w 10060"/>
                <a:gd name="connsiteY48" fmla="*/ 2884 h 10149"/>
                <a:gd name="connsiteX49" fmla="*/ 7062 w 10060"/>
                <a:gd name="connsiteY49" fmla="*/ 3832 h 10149"/>
                <a:gd name="connsiteX50" fmla="*/ 7336 w 10060"/>
                <a:gd name="connsiteY50" fmla="*/ 5579 h 10149"/>
                <a:gd name="connsiteX51" fmla="*/ 7633 w 10060"/>
                <a:gd name="connsiteY51" fmla="*/ 7874 h 10149"/>
                <a:gd name="connsiteX52" fmla="*/ 8223 w 10060"/>
                <a:gd name="connsiteY52" fmla="*/ 7684 h 10149"/>
                <a:gd name="connsiteX53" fmla="*/ 8533 w 10060"/>
                <a:gd name="connsiteY53" fmla="*/ 8283 h 10149"/>
                <a:gd name="connsiteX54" fmla="*/ 9331 w 10060"/>
                <a:gd name="connsiteY54" fmla="*/ 7574 h 10149"/>
                <a:gd name="connsiteX55" fmla="*/ 9591 w 10060"/>
                <a:gd name="connsiteY55" fmla="*/ 8084 h 10149"/>
                <a:gd name="connsiteX56" fmla="*/ 10060 w 10060"/>
                <a:gd name="connsiteY56" fmla="*/ 10149 h 1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060" h="10149">
                  <a:moveTo>
                    <a:pt x="0" y="10000"/>
                  </a:moveTo>
                  <a:cubicBezTo>
                    <a:pt x="45" y="9937"/>
                    <a:pt x="92" y="9895"/>
                    <a:pt x="137" y="9811"/>
                  </a:cubicBezTo>
                  <a:cubicBezTo>
                    <a:pt x="182" y="9705"/>
                    <a:pt x="272" y="9432"/>
                    <a:pt x="272" y="9432"/>
                  </a:cubicBezTo>
                  <a:cubicBezTo>
                    <a:pt x="309" y="8547"/>
                    <a:pt x="326" y="7874"/>
                    <a:pt x="386" y="7116"/>
                  </a:cubicBezTo>
                  <a:cubicBezTo>
                    <a:pt x="409" y="6526"/>
                    <a:pt x="508" y="4926"/>
                    <a:pt x="591" y="4800"/>
                  </a:cubicBezTo>
                  <a:cubicBezTo>
                    <a:pt x="680" y="4653"/>
                    <a:pt x="772" y="4674"/>
                    <a:pt x="865" y="4611"/>
                  </a:cubicBezTo>
                  <a:cubicBezTo>
                    <a:pt x="934" y="4232"/>
                    <a:pt x="987" y="3895"/>
                    <a:pt x="1024" y="3263"/>
                  </a:cubicBezTo>
                  <a:cubicBezTo>
                    <a:pt x="1067" y="2547"/>
                    <a:pt x="1062" y="2189"/>
                    <a:pt x="1161" y="1916"/>
                  </a:cubicBezTo>
                  <a:cubicBezTo>
                    <a:pt x="1174" y="1937"/>
                    <a:pt x="1343" y="2189"/>
                    <a:pt x="1366" y="2295"/>
                  </a:cubicBezTo>
                  <a:cubicBezTo>
                    <a:pt x="1385" y="2379"/>
                    <a:pt x="1393" y="2611"/>
                    <a:pt x="1413" y="2695"/>
                  </a:cubicBezTo>
                  <a:cubicBezTo>
                    <a:pt x="1455" y="2884"/>
                    <a:pt x="1547" y="3074"/>
                    <a:pt x="1547" y="3074"/>
                  </a:cubicBezTo>
                  <a:cubicBezTo>
                    <a:pt x="1580" y="3832"/>
                    <a:pt x="1557" y="4947"/>
                    <a:pt x="1617" y="5579"/>
                  </a:cubicBezTo>
                  <a:cubicBezTo>
                    <a:pt x="1635" y="5768"/>
                    <a:pt x="1662" y="5811"/>
                    <a:pt x="1685" y="5958"/>
                  </a:cubicBezTo>
                  <a:cubicBezTo>
                    <a:pt x="1744" y="6358"/>
                    <a:pt x="1774" y="6842"/>
                    <a:pt x="1822" y="7305"/>
                  </a:cubicBezTo>
                  <a:cubicBezTo>
                    <a:pt x="1856" y="7642"/>
                    <a:pt x="1941" y="8421"/>
                    <a:pt x="2003" y="8653"/>
                  </a:cubicBezTo>
                  <a:cubicBezTo>
                    <a:pt x="2048" y="8821"/>
                    <a:pt x="2141" y="9032"/>
                    <a:pt x="2141" y="9032"/>
                  </a:cubicBezTo>
                  <a:cubicBezTo>
                    <a:pt x="2203" y="9600"/>
                    <a:pt x="2235" y="9684"/>
                    <a:pt x="2322" y="9432"/>
                  </a:cubicBezTo>
                  <a:cubicBezTo>
                    <a:pt x="2402" y="8758"/>
                    <a:pt x="2372" y="7895"/>
                    <a:pt x="2482" y="7495"/>
                  </a:cubicBezTo>
                  <a:cubicBezTo>
                    <a:pt x="2527" y="7326"/>
                    <a:pt x="2574" y="7242"/>
                    <a:pt x="2619" y="7116"/>
                  </a:cubicBezTo>
                  <a:cubicBezTo>
                    <a:pt x="2641" y="7053"/>
                    <a:pt x="2689" y="6926"/>
                    <a:pt x="2689" y="6926"/>
                  </a:cubicBezTo>
                  <a:cubicBezTo>
                    <a:pt x="2739" y="6484"/>
                    <a:pt x="2796" y="6189"/>
                    <a:pt x="2848" y="5768"/>
                  </a:cubicBezTo>
                  <a:cubicBezTo>
                    <a:pt x="2863" y="5389"/>
                    <a:pt x="2878" y="4989"/>
                    <a:pt x="2893" y="4611"/>
                  </a:cubicBezTo>
                  <a:cubicBezTo>
                    <a:pt x="2901" y="4421"/>
                    <a:pt x="2916" y="4042"/>
                    <a:pt x="2916" y="4042"/>
                  </a:cubicBezTo>
                  <a:cubicBezTo>
                    <a:pt x="2896" y="2863"/>
                    <a:pt x="2806" y="1621"/>
                    <a:pt x="2960" y="1137"/>
                  </a:cubicBezTo>
                  <a:cubicBezTo>
                    <a:pt x="3068" y="1200"/>
                    <a:pt x="3175" y="1137"/>
                    <a:pt x="3279" y="1347"/>
                  </a:cubicBezTo>
                  <a:cubicBezTo>
                    <a:pt x="3332" y="1453"/>
                    <a:pt x="3364" y="2000"/>
                    <a:pt x="3416" y="2105"/>
                  </a:cubicBezTo>
                  <a:cubicBezTo>
                    <a:pt x="3568" y="2421"/>
                    <a:pt x="3656" y="2547"/>
                    <a:pt x="3828" y="2695"/>
                  </a:cubicBezTo>
                  <a:cubicBezTo>
                    <a:pt x="3857" y="3432"/>
                    <a:pt x="3900" y="4274"/>
                    <a:pt x="3965" y="4800"/>
                  </a:cubicBezTo>
                  <a:cubicBezTo>
                    <a:pt x="3980" y="5705"/>
                    <a:pt x="3980" y="6589"/>
                    <a:pt x="4054" y="7305"/>
                  </a:cubicBezTo>
                  <a:cubicBezTo>
                    <a:pt x="4089" y="7642"/>
                    <a:pt x="4132" y="7958"/>
                    <a:pt x="4169" y="8274"/>
                  </a:cubicBezTo>
                  <a:cubicBezTo>
                    <a:pt x="4204" y="8568"/>
                    <a:pt x="4306" y="8653"/>
                    <a:pt x="4306" y="8653"/>
                  </a:cubicBezTo>
                  <a:cubicBezTo>
                    <a:pt x="4371" y="8568"/>
                    <a:pt x="4463" y="8589"/>
                    <a:pt x="4510" y="8084"/>
                  </a:cubicBezTo>
                  <a:cubicBezTo>
                    <a:pt x="4555" y="7600"/>
                    <a:pt x="4550" y="6905"/>
                    <a:pt x="4625" y="6526"/>
                  </a:cubicBezTo>
                  <a:cubicBezTo>
                    <a:pt x="4645" y="6421"/>
                    <a:pt x="4672" y="6442"/>
                    <a:pt x="4692" y="6337"/>
                  </a:cubicBezTo>
                  <a:cubicBezTo>
                    <a:pt x="4740" y="6105"/>
                    <a:pt x="4829" y="5579"/>
                    <a:pt x="4829" y="5579"/>
                  </a:cubicBezTo>
                  <a:cubicBezTo>
                    <a:pt x="4877" y="4358"/>
                    <a:pt x="4944" y="4021"/>
                    <a:pt x="5081" y="3642"/>
                  </a:cubicBezTo>
                  <a:cubicBezTo>
                    <a:pt x="5103" y="3516"/>
                    <a:pt x="5128" y="3432"/>
                    <a:pt x="5148" y="3263"/>
                  </a:cubicBezTo>
                  <a:cubicBezTo>
                    <a:pt x="5168" y="3095"/>
                    <a:pt x="5173" y="2842"/>
                    <a:pt x="5193" y="2695"/>
                  </a:cubicBezTo>
                  <a:cubicBezTo>
                    <a:pt x="5221" y="2505"/>
                    <a:pt x="5258" y="2463"/>
                    <a:pt x="5285" y="2295"/>
                  </a:cubicBezTo>
                  <a:cubicBezTo>
                    <a:pt x="5430" y="1411"/>
                    <a:pt x="5275" y="1937"/>
                    <a:pt x="5422" y="1537"/>
                  </a:cubicBezTo>
                  <a:cubicBezTo>
                    <a:pt x="5507" y="779"/>
                    <a:pt x="5569" y="1242"/>
                    <a:pt x="5672" y="1537"/>
                  </a:cubicBezTo>
                  <a:cubicBezTo>
                    <a:pt x="5764" y="2274"/>
                    <a:pt x="5936" y="2547"/>
                    <a:pt x="6060" y="2884"/>
                  </a:cubicBezTo>
                  <a:cubicBezTo>
                    <a:pt x="6083" y="2758"/>
                    <a:pt x="6103" y="2589"/>
                    <a:pt x="6128" y="2484"/>
                  </a:cubicBezTo>
                  <a:cubicBezTo>
                    <a:pt x="6172" y="2316"/>
                    <a:pt x="6265" y="2105"/>
                    <a:pt x="6265" y="2105"/>
                  </a:cubicBezTo>
                  <a:cubicBezTo>
                    <a:pt x="6359" y="1305"/>
                    <a:pt x="6399" y="1011"/>
                    <a:pt x="6516" y="568"/>
                  </a:cubicBezTo>
                  <a:cubicBezTo>
                    <a:pt x="6559" y="400"/>
                    <a:pt x="6606" y="316"/>
                    <a:pt x="6651" y="189"/>
                  </a:cubicBezTo>
                  <a:cubicBezTo>
                    <a:pt x="6673" y="126"/>
                    <a:pt x="6721" y="0"/>
                    <a:pt x="6721" y="0"/>
                  </a:cubicBezTo>
                  <a:cubicBezTo>
                    <a:pt x="6808" y="253"/>
                    <a:pt x="6830" y="484"/>
                    <a:pt x="6880" y="1137"/>
                  </a:cubicBezTo>
                  <a:cubicBezTo>
                    <a:pt x="6932" y="2484"/>
                    <a:pt x="6910" y="1916"/>
                    <a:pt x="6947" y="2884"/>
                  </a:cubicBezTo>
                  <a:cubicBezTo>
                    <a:pt x="6965" y="3305"/>
                    <a:pt x="7025" y="3516"/>
                    <a:pt x="7062" y="3832"/>
                  </a:cubicBezTo>
                  <a:cubicBezTo>
                    <a:pt x="7144" y="4526"/>
                    <a:pt x="7227" y="5284"/>
                    <a:pt x="7336" y="5579"/>
                  </a:cubicBezTo>
                  <a:cubicBezTo>
                    <a:pt x="7411" y="6526"/>
                    <a:pt x="7503" y="7516"/>
                    <a:pt x="7633" y="7874"/>
                  </a:cubicBezTo>
                  <a:cubicBezTo>
                    <a:pt x="7887" y="7705"/>
                    <a:pt x="7982" y="7474"/>
                    <a:pt x="8223" y="7684"/>
                  </a:cubicBezTo>
                  <a:cubicBezTo>
                    <a:pt x="8306" y="8379"/>
                    <a:pt x="8415" y="7967"/>
                    <a:pt x="8533" y="8283"/>
                  </a:cubicBezTo>
                  <a:cubicBezTo>
                    <a:pt x="8744" y="8220"/>
                    <a:pt x="9120" y="7721"/>
                    <a:pt x="9331" y="7574"/>
                  </a:cubicBezTo>
                  <a:cubicBezTo>
                    <a:pt x="9507" y="7541"/>
                    <a:pt x="9480" y="7967"/>
                    <a:pt x="9591" y="8084"/>
                  </a:cubicBezTo>
                  <a:cubicBezTo>
                    <a:pt x="9985" y="8274"/>
                    <a:pt x="9908" y="10149"/>
                    <a:pt x="10060" y="10149"/>
                  </a:cubicBezTo>
                </a:path>
              </a:pathLst>
            </a:custGeom>
            <a:grpFill/>
            <a:ln w="12700" cap="flat" cmpd="sng">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ln w="0"/>
                <a:effectLst>
                  <a:outerShdw blurRad="38100" dist="25400" dir="5400000" algn="ctr" rotWithShape="0">
                    <a:srgbClr val="6E747A">
                      <a:alpha val="43000"/>
                    </a:srgbClr>
                  </a:outerShdw>
                </a:effectLst>
              </a:endParaRPr>
            </a:p>
          </p:txBody>
        </p:sp>
        <p:grpSp>
          <p:nvGrpSpPr>
            <p:cNvPr id="14" name="Group 12"/>
            <p:cNvGrpSpPr>
              <a:grpSpLocks/>
            </p:cNvGrpSpPr>
            <p:nvPr/>
          </p:nvGrpSpPr>
          <p:grpSpPr bwMode="auto">
            <a:xfrm>
              <a:off x="1309" y="3452"/>
              <a:ext cx="2737" cy="368"/>
              <a:chOff x="1400" y="2867"/>
              <a:chExt cx="2737" cy="368"/>
            </a:xfrm>
            <a:grpFill/>
          </p:grpSpPr>
          <p:sp>
            <p:nvSpPr>
              <p:cNvPr id="15" name="Text Box 13"/>
              <p:cNvSpPr txBox="1">
                <a:spLocks noChangeArrowheads="1"/>
              </p:cNvSpPr>
              <p:nvPr/>
            </p:nvSpPr>
            <p:spPr bwMode="auto">
              <a:xfrm>
                <a:off x="1400" y="2991"/>
                <a:ext cx="563" cy="212"/>
              </a:xfrm>
              <a:prstGeom prst="rect">
                <a:avLst/>
              </a:prstGeom>
              <a:no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spAutoFit/>
              </a:bodyPr>
              <a:lstStyle/>
              <a:p>
                <a:pPr algn="l"/>
                <a:r>
                  <a:rPr lang="fr-CA" sz="1600" i="0">
                    <a:ln w="0"/>
                    <a:effectLst>
                      <a:outerShdw blurRad="38100" dist="25400" dir="5400000" algn="ctr" rotWithShape="0">
                        <a:srgbClr val="6E747A">
                          <a:alpha val="43000"/>
                        </a:srgbClr>
                      </a:outerShdw>
                    </a:effectLst>
                  </a:rPr>
                  <a:t>pannes</a:t>
                </a:r>
              </a:p>
            </p:txBody>
          </p:sp>
          <p:sp>
            <p:nvSpPr>
              <p:cNvPr id="16" name="Text Box 14"/>
              <p:cNvSpPr txBox="1">
                <a:spLocks noChangeArrowheads="1"/>
              </p:cNvSpPr>
              <p:nvPr/>
            </p:nvSpPr>
            <p:spPr bwMode="auto">
              <a:xfrm>
                <a:off x="3289" y="2867"/>
                <a:ext cx="848" cy="368"/>
              </a:xfrm>
              <a:prstGeom prst="rect">
                <a:avLst/>
              </a:prstGeom>
              <a:no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r>
                  <a:rPr lang="fr-CA" sz="1600" i="0">
                    <a:ln w="0"/>
                    <a:effectLst>
                      <a:outerShdw blurRad="38100" dist="25400" dir="5400000" algn="ctr" rotWithShape="0">
                        <a:srgbClr val="6E747A">
                          <a:alpha val="43000"/>
                        </a:srgbClr>
                      </a:outerShdw>
                    </a:effectLst>
                  </a:rPr>
                  <a:t>unités </a:t>
                </a:r>
              </a:p>
              <a:p>
                <a:r>
                  <a:rPr lang="fr-CA" sz="1600" i="0">
                    <a:ln w="0"/>
                    <a:effectLst>
                      <a:outerShdw blurRad="38100" dist="25400" dir="5400000" algn="ctr" rotWithShape="0">
                        <a:srgbClr val="6E747A">
                          <a:alpha val="43000"/>
                        </a:srgbClr>
                      </a:outerShdw>
                    </a:effectLst>
                  </a:rPr>
                  <a:t>défectueuses</a:t>
                </a:r>
              </a:p>
            </p:txBody>
          </p:sp>
          <p:sp>
            <p:nvSpPr>
              <p:cNvPr id="17" name="Text Box 15"/>
              <p:cNvSpPr txBox="1">
                <a:spLocks noChangeArrowheads="1"/>
              </p:cNvSpPr>
              <p:nvPr/>
            </p:nvSpPr>
            <p:spPr bwMode="auto">
              <a:xfrm>
                <a:off x="2336" y="2989"/>
                <a:ext cx="509" cy="213"/>
              </a:xfrm>
              <a:prstGeom prst="rect">
                <a:avLst/>
              </a:prstGeom>
              <a:no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pPr algn="l"/>
                <a:r>
                  <a:rPr lang="fr-CA" sz="1600" i="0">
                    <a:ln w="0"/>
                    <a:effectLst>
                      <a:outerShdw blurRad="38100" dist="25400" dir="5400000" algn="ctr" rotWithShape="0">
                        <a:srgbClr val="6E747A">
                          <a:alpha val="43000"/>
                        </a:srgbClr>
                      </a:outerShdw>
                    </a:effectLst>
                  </a:rPr>
                  <a:t>retards</a:t>
                </a:r>
              </a:p>
            </p:txBody>
          </p:sp>
        </p:grpSp>
      </p:grpSp>
      <p:sp>
        <p:nvSpPr>
          <p:cNvPr id="25" name="Text Box 18"/>
          <p:cNvSpPr txBox="1">
            <a:spLocks noChangeArrowheads="1"/>
          </p:cNvSpPr>
          <p:nvPr/>
        </p:nvSpPr>
        <p:spPr bwMode="auto">
          <a:xfrm>
            <a:off x="7216775" y="5379277"/>
            <a:ext cx="1111251" cy="6415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r>
              <a:rPr lang="fr-CA" sz="1800" b="1" i="0"/>
              <a:t>Niveau </a:t>
            </a:r>
          </a:p>
          <a:p>
            <a:r>
              <a:rPr lang="fr-CA" sz="1800" b="1" i="0"/>
              <a:t>de stock</a:t>
            </a:r>
          </a:p>
        </p:txBody>
      </p:sp>
    </p:spTree>
    <p:extLst>
      <p:ext uri="{BB962C8B-B14F-4D97-AF65-F5344CB8AC3E}">
        <p14:creationId xmlns:p14="http://schemas.microsoft.com/office/powerpoint/2010/main" val="299224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duotone>
              <a:schemeClr val="accent3">
                <a:shade val="45000"/>
                <a:satMod val="135000"/>
              </a:schemeClr>
              <a:prstClr val="white"/>
            </a:duotone>
          </a:blip>
          <a:stretch>
            <a:fillRect/>
          </a:stretch>
        </p:blipFill>
        <p:spPr>
          <a:xfrm flipH="1">
            <a:off x="1042988" y="3312560"/>
            <a:ext cx="1816100" cy="1638300"/>
          </a:xfrm>
          <a:prstGeom prst="rect">
            <a:avLst/>
          </a:prstGeom>
        </p:spPr>
      </p:pic>
      <p:sp>
        <p:nvSpPr>
          <p:cNvPr id="2" name="Titre 1"/>
          <p:cNvSpPr>
            <a:spLocks noGrp="1"/>
          </p:cNvSpPr>
          <p:nvPr>
            <p:ph type="title"/>
          </p:nvPr>
        </p:nvSpPr>
        <p:spPr/>
        <p:txBody>
          <a:bodyPr>
            <a:normAutofit/>
          </a:bodyPr>
          <a:lstStyle/>
          <a:p>
            <a:r>
              <a:rPr lang="fr-CA"/>
              <a:t>Le niveau des stocks</a:t>
            </a:r>
            <a:endParaRPr lang="fr-FR"/>
          </a:p>
        </p:txBody>
      </p:sp>
      <p:sp>
        <p:nvSpPr>
          <p:cNvPr id="3" name="Espace réservé du numéro de diapositive 2"/>
          <p:cNvSpPr>
            <a:spLocks noGrp="1"/>
          </p:cNvSpPr>
          <p:nvPr>
            <p:ph type="sldNum" sz="quarter" idx="10"/>
          </p:nvPr>
        </p:nvSpPr>
        <p:spPr/>
        <p:txBody>
          <a:bodyPr>
            <a:normAutofit fontScale="92500" lnSpcReduction="10000"/>
          </a:bodyPr>
          <a:lstStyle/>
          <a:p>
            <a:fld id="{CF4668DC-857F-487D-BFFA-8C0CA5037977}" type="slidenum">
              <a:rPr lang="fr-BE" smtClean="0"/>
              <a:pPr/>
              <a:t>9</a:t>
            </a:fld>
            <a:endParaRPr lang="fr-BE"/>
          </a:p>
        </p:txBody>
      </p:sp>
      <p:sp>
        <p:nvSpPr>
          <p:cNvPr id="22" name="Espace réservé du contenu 21"/>
          <p:cNvSpPr>
            <a:spLocks noGrp="1"/>
          </p:cNvSpPr>
          <p:nvPr>
            <p:ph type="body" sz="quarter" idx="12"/>
          </p:nvPr>
        </p:nvSpPr>
        <p:spPr/>
        <p:txBody>
          <a:bodyPr/>
          <a:lstStyle/>
          <a:p>
            <a:r>
              <a:rPr lang="fr-FR"/>
              <a:t>Les stocks « au cas où »…</a:t>
            </a:r>
          </a:p>
        </p:txBody>
      </p:sp>
      <p:sp>
        <p:nvSpPr>
          <p:cNvPr id="20" name="Text Box 18"/>
          <p:cNvSpPr txBox="1">
            <a:spLocks noChangeArrowheads="1"/>
          </p:cNvSpPr>
          <p:nvPr/>
        </p:nvSpPr>
        <p:spPr bwMode="auto">
          <a:xfrm>
            <a:off x="7216775" y="5049077"/>
            <a:ext cx="1111251" cy="6415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r>
              <a:rPr lang="fr-CA" sz="1800" b="1" i="0"/>
              <a:t>Niveau </a:t>
            </a:r>
          </a:p>
          <a:p>
            <a:r>
              <a:rPr lang="fr-CA" sz="1800" b="1" i="0"/>
              <a:t>de stock</a:t>
            </a:r>
          </a:p>
        </p:txBody>
      </p:sp>
      <p:sp>
        <p:nvSpPr>
          <p:cNvPr id="23" name="Rectangle 22"/>
          <p:cNvSpPr/>
          <p:nvPr/>
        </p:nvSpPr>
        <p:spPr>
          <a:xfrm>
            <a:off x="684213" y="4695825"/>
            <a:ext cx="7626350" cy="939800"/>
          </a:xfrm>
          <a:prstGeom prst="rect">
            <a:avLst/>
          </a:prstGeom>
          <a:solidFill>
            <a:schemeClr val="bg1"/>
          </a:solidFill>
          <a:ln>
            <a:noFill/>
          </a:ln>
          <a:effectLst/>
          <a:scene3d>
            <a:camera prst="orthographicFront">
              <a:rot lat="0" lon="0" rev="0"/>
            </a:camera>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6" name="Group 4"/>
          <p:cNvGrpSpPr>
            <a:grpSpLocks/>
          </p:cNvGrpSpPr>
          <p:nvPr/>
        </p:nvGrpSpPr>
        <p:grpSpPr bwMode="auto">
          <a:xfrm>
            <a:off x="684213" y="4598981"/>
            <a:ext cx="7626352" cy="935035"/>
            <a:chOff x="987" y="2057"/>
            <a:chExt cx="4804" cy="589"/>
          </a:xfrm>
          <a:solidFill>
            <a:schemeClr val="accent2">
              <a:lumMod val="60000"/>
              <a:lumOff val="40000"/>
            </a:schemeClr>
          </a:solidFill>
        </p:grpSpPr>
        <p:sp>
          <p:nvSpPr>
            <p:cNvPr id="7" name="Freeform 5"/>
            <p:cNvSpPr>
              <a:spLocks/>
            </p:cNvSpPr>
            <p:nvPr/>
          </p:nvSpPr>
          <p:spPr bwMode="auto">
            <a:xfrm>
              <a:off x="987" y="2057"/>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8" name="Freeform 6"/>
            <p:cNvSpPr>
              <a:spLocks/>
            </p:cNvSpPr>
            <p:nvPr/>
          </p:nvSpPr>
          <p:spPr bwMode="auto">
            <a:xfrm>
              <a:off x="1100" y="2170"/>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9" name="Freeform 7"/>
            <p:cNvSpPr>
              <a:spLocks/>
            </p:cNvSpPr>
            <p:nvPr/>
          </p:nvSpPr>
          <p:spPr bwMode="auto">
            <a:xfrm>
              <a:off x="1213" y="2283"/>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10" name="Freeform 8"/>
            <p:cNvSpPr>
              <a:spLocks/>
            </p:cNvSpPr>
            <p:nvPr/>
          </p:nvSpPr>
          <p:spPr bwMode="auto">
            <a:xfrm>
              <a:off x="1326" y="2396"/>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sp>
          <p:nvSpPr>
            <p:cNvPr id="11" name="Freeform 9"/>
            <p:cNvSpPr>
              <a:spLocks/>
            </p:cNvSpPr>
            <p:nvPr/>
          </p:nvSpPr>
          <p:spPr bwMode="auto">
            <a:xfrm>
              <a:off x="1439" y="2509"/>
              <a:ext cx="4352" cy="137"/>
            </a:xfrm>
            <a:custGeom>
              <a:avLst/>
              <a:gdLst>
                <a:gd name="T0" fmla="*/ 0 w 4352"/>
                <a:gd name="T1" fmla="*/ 64 h 137"/>
                <a:gd name="T2" fmla="*/ 238 w 4352"/>
                <a:gd name="T3" fmla="*/ 55 h 137"/>
                <a:gd name="T4" fmla="*/ 311 w 4352"/>
                <a:gd name="T5" fmla="*/ 0 h 137"/>
                <a:gd name="T6" fmla="*/ 375 w 4352"/>
                <a:gd name="T7" fmla="*/ 64 h 137"/>
                <a:gd name="T8" fmla="*/ 485 w 4352"/>
                <a:gd name="T9" fmla="*/ 82 h 137"/>
                <a:gd name="T10" fmla="*/ 622 w 4352"/>
                <a:gd name="T11" fmla="*/ 55 h 137"/>
                <a:gd name="T12" fmla="*/ 695 w 4352"/>
                <a:gd name="T13" fmla="*/ 9 h 137"/>
                <a:gd name="T14" fmla="*/ 832 w 4352"/>
                <a:gd name="T15" fmla="*/ 82 h 137"/>
                <a:gd name="T16" fmla="*/ 851 w 4352"/>
                <a:gd name="T17" fmla="*/ 101 h 137"/>
                <a:gd name="T18" fmla="*/ 942 w 4352"/>
                <a:gd name="T19" fmla="*/ 128 h 137"/>
                <a:gd name="T20" fmla="*/ 1143 w 4352"/>
                <a:gd name="T21" fmla="*/ 119 h 137"/>
                <a:gd name="T22" fmla="*/ 1198 w 4352"/>
                <a:gd name="T23" fmla="*/ 101 h 137"/>
                <a:gd name="T24" fmla="*/ 1226 w 4352"/>
                <a:gd name="T25" fmla="*/ 92 h 137"/>
                <a:gd name="T26" fmla="*/ 1299 w 4352"/>
                <a:gd name="T27" fmla="*/ 37 h 137"/>
                <a:gd name="T28" fmla="*/ 1445 w 4352"/>
                <a:gd name="T29" fmla="*/ 92 h 137"/>
                <a:gd name="T30" fmla="*/ 1802 w 4352"/>
                <a:gd name="T31" fmla="*/ 37 h 137"/>
                <a:gd name="T32" fmla="*/ 1920 w 4352"/>
                <a:gd name="T33" fmla="*/ 92 h 137"/>
                <a:gd name="T34" fmla="*/ 2186 w 4352"/>
                <a:gd name="T35" fmla="*/ 55 h 137"/>
                <a:gd name="T36" fmla="*/ 2259 w 4352"/>
                <a:gd name="T37" fmla="*/ 9 h 137"/>
                <a:gd name="T38" fmla="*/ 2368 w 4352"/>
                <a:gd name="T39" fmla="*/ 64 h 137"/>
                <a:gd name="T40" fmla="*/ 2643 w 4352"/>
                <a:gd name="T41" fmla="*/ 137 h 137"/>
                <a:gd name="T42" fmla="*/ 2871 w 4352"/>
                <a:gd name="T43" fmla="*/ 101 h 137"/>
                <a:gd name="T44" fmla="*/ 2963 w 4352"/>
                <a:gd name="T45" fmla="*/ 28 h 137"/>
                <a:gd name="T46" fmla="*/ 3018 w 4352"/>
                <a:gd name="T47" fmla="*/ 55 h 137"/>
                <a:gd name="T48" fmla="*/ 3091 w 4352"/>
                <a:gd name="T49" fmla="*/ 73 h 137"/>
                <a:gd name="T50" fmla="*/ 3237 w 4352"/>
                <a:gd name="T51" fmla="*/ 46 h 137"/>
                <a:gd name="T52" fmla="*/ 3292 w 4352"/>
                <a:gd name="T53" fmla="*/ 18 h 137"/>
                <a:gd name="T54" fmla="*/ 3484 w 4352"/>
                <a:gd name="T55" fmla="*/ 82 h 137"/>
                <a:gd name="T56" fmla="*/ 3712 w 4352"/>
                <a:gd name="T57" fmla="*/ 64 h 137"/>
                <a:gd name="T58" fmla="*/ 3804 w 4352"/>
                <a:gd name="T59" fmla="*/ 37 h 137"/>
                <a:gd name="T60" fmla="*/ 4069 w 4352"/>
                <a:gd name="T61" fmla="*/ 101 h 137"/>
                <a:gd name="T62" fmla="*/ 4224 w 4352"/>
                <a:gd name="T63" fmla="*/ 82 h 137"/>
                <a:gd name="T64" fmla="*/ 4279 w 4352"/>
                <a:gd name="T65" fmla="*/ 64 h 137"/>
                <a:gd name="T66" fmla="*/ 4307 w 4352"/>
                <a:gd name="T67" fmla="*/ 55 h 137"/>
                <a:gd name="T68" fmla="*/ 4352 w 4352"/>
                <a:gd name="T69" fmla="*/ 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52" h="137">
                  <a:moveTo>
                    <a:pt x="0" y="64"/>
                  </a:moveTo>
                  <a:cubicBezTo>
                    <a:pt x="68" y="69"/>
                    <a:pt x="170" y="88"/>
                    <a:pt x="238" y="55"/>
                  </a:cubicBezTo>
                  <a:cubicBezTo>
                    <a:pt x="266" y="41"/>
                    <a:pt x="285" y="17"/>
                    <a:pt x="311" y="0"/>
                  </a:cubicBezTo>
                  <a:cubicBezTo>
                    <a:pt x="346" y="33"/>
                    <a:pt x="324" y="12"/>
                    <a:pt x="375" y="64"/>
                  </a:cubicBezTo>
                  <a:cubicBezTo>
                    <a:pt x="401" y="91"/>
                    <a:pt x="485" y="82"/>
                    <a:pt x="485" y="82"/>
                  </a:cubicBezTo>
                  <a:cubicBezTo>
                    <a:pt x="586" y="71"/>
                    <a:pt x="541" y="82"/>
                    <a:pt x="622" y="55"/>
                  </a:cubicBezTo>
                  <a:cubicBezTo>
                    <a:pt x="652" y="45"/>
                    <a:pt x="664" y="19"/>
                    <a:pt x="695" y="9"/>
                  </a:cubicBezTo>
                  <a:cubicBezTo>
                    <a:pt x="743" y="25"/>
                    <a:pt x="795" y="45"/>
                    <a:pt x="832" y="82"/>
                  </a:cubicBezTo>
                  <a:cubicBezTo>
                    <a:pt x="838" y="88"/>
                    <a:pt x="843" y="97"/>
                    <a:pt x="851" y="101"/>
                  </a:cubicBezTo>
                  <a:cubicBezTo>
                    <a:pt x="872" y="111"/>
                    <a:pt x="917" y="122"/>
                    <a:pt x="942" y="128"/>
                  </a:cubicBezTo>
                  <a:cubicBezTo>
                    <a:pt x="1009" y="125"/>
                    <a:pt x="1076" y="126"/>
                    <a:pt x="1143" y="119"/>
                  </a:cubicBezTo>
                  <a:cubicBezTo>
                    <a:pt x="1162" y="117"/>
                    <a:pt x="1180" y="107"/>
                    <a:pt x="1198" y="101"/>
                  </a:cubicBezTo>
                  <a:cubicBezTo>
                    <a:pt x="1207" y="98"/>
                    <a:pt x="1226" y="92"/>
                    <a:pt x="1226" y="92"/>
                  </a:cubicBezTo>
                  <a:cubicBezTo>
                    <a:pt x="1287" y="50"/>
                    <a:pt x="1264" y="70"/>
                    <a:pt x="1299" y="37"/>
                  </a:cubicBezTo>
                  <a:cubicBezTo>
                    <a:pt x="1343" y="66"/>
                    <a:pt x="1395" y="78"/>
                    <a:pt x="1445" y="92"/>
                  </a:cubicBezTo>
                  <a:cubicBezTo>
                    <a:pt x="1571" y="87"/>
                    <a:pt x="1695" y="106"/>
                    <a:pt x="1802" y="37"/>
                  </a:cubicBezTo>
                  <a:cubicBezTo>
                    <a:pt x="1846" y="48"/>
                    <a:pt x="1878" y="76"/>
                    <a:pt x="1920" y="92"/>
                  </a:cubicBezTo>
                  <a:cubicBezTo>
                    <a:pt x="2049" y="85"/>
                    <a:pt x="2084" y="80"/>
                    <a:pt x="2186" y="55"/>
                  </a:cubicBezTo>
                  <a:cubicBezTo>
                    <a:pt x="2212" y="37"/>
                    <a:pt x="2237" y="31"/>
                    <a:pt x="2259" y="9"/>
                  </a:cubicBezTo>
                  <a:cubicBezTo>
                    <a:pt x="2299" y="22"/>
                    <a:pt x="2328" y="51"/>
                    <a:pt x="2368" y="64"/>
                  </a:cubicBezTo>
                  <a:cubicBezTo>
                    <a:pt x="2441" y="133"/>
                    <a:pt x="2549" y="130"/>
                    <a:pt x="2643" y="137"/>
                  </a:cubicBezTo>
                  <a:cubicBezTo>
                    <a:pt x="2726" y="131"/>
                    <a:pt x="2794" y="127"/>
                    <a:pt x="2871" y="101"/>
                  </a:cubicBezTo>
                  <a:cubicBezTo>
                    <a:pt x="2899" y="73"/>
                    <a:pt x="2934" y="55"/>
                    <a:pt x="2963" y="28"/>
                  </a:cubicBezTo>
                  <a:cubicBezTo>
                    <a:pt x="2992" y="48"/>
                    <a:pt x="2985" y="46"/>
                    <a:pt x="3018" y="55"/>
                  </a:cubicBezTo>
                  <a:cubicBezTo>
                    <a:pt x="3042" y="61"/>
                    <a:pt x="3091" y="73"/>
                    <a:pt x="3091" y="73"/>
                  </a:cubicBezTo>
                  <a:cubicBezTo>
                    <a:pt x="3201" y="62"/>
                    <a:pt x="3153" y="73"/>
                    <a:pt x="3237" y="46"/>
                  </a:cubicBezTo>
                  <a:cubicBezTo>
                    <a:pt x="3257" y="40"/>
                    <a:pt x="3273" y="25"/>
                    <a:pt x="3292" y="18"/>
                  </a:cubicBezTo>
                  <a:cubicBezTo>
                    <a:pt x="3358" y="42"/>
                    <a:pt x="3414" y="68"/>
                    <a:pt x="3484" y="82"/>
                  </a:cubicBezTo>
                  <a:cubicBezTo>
                    <a:pt x="3578" y="77"/>
                    <a:pt x="3630" y="79"/>
                    <a:pt x="3712" y="64"/>
                  </a:cubicBezTo>
                  <a:cubicBezTo>
                    <a:pt x="3743" y="58"/>
                    <a:pt x="3804" y="37"/>
                    <a:pt x="3804" y="37"/>
                  </a:cubicBezTo>
                  <a:cubicBezTo>
                    <a:pt x="3894" y="55"/>
                    <a:pt x="3980" y="86"/>
                    <a:pt x="4069" y="101"/>
                  </a:cubicBezTo>
                  <a:cubicBezTo>
                    <a:pt x="4238" y="89"/>
                    <a:pt x="4150" y="107"/>
                    <a:pt x="4224" y="82"/>
                  </a:cubicBezTo>
                  <a:cubicBezTo>
                    <a:pt x="4242" y="76"/>
                    <a:pt x="4261" y="70"/>
                    <a:pt x="4279" y="64"/>
                  </a:cubicBezTo>
                  <a:cubicBezTo>
                    <a:pt x="4288" y="61"/>
                    <a:pt x="4307" y="55"/>
                    <a:pt x="4307" y="55"/>
                  </a:cubicBezTo>
                  <a:cubicBezTo>
                    <a:pt x="4339" y="34"/>
                    <a:pt x="4323" y="37"/>
                    <a:pt x="4352" y="37"/>
                  </a:cubicBezTo>
                </a:path>
              </a:pathLst>
            </a:custGeom>
            <a:grpFill/>
            <a:ln w="28575" cap="flat" cmpd="sng">
              <a:solidFill>
                <a:schemeClr val="accent2"/>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grpSp>
      <p:sp>
        <p:nvSpPr>
          <p:cNvPr id="24" name="ZoneTexte 23"/>
          <p:cNvSpPr txBox="1"/>
          <p:nvPr/>
        </p:nvSpPr>
        <p:spPr>
          <a:xfrm rot="16200000">
            <a:off x="8281996" y="5375565"/>
            <a:ext cx="1518364" cy="230832"/>
          </a:xfrm>
          <a:prstGeom prst="rect">
            <a:avLst/>
          </a:prstGeom>
          <a:noFill/>
        </p:spPr>
        <p:txBody>
          <a:bodyPr wrap="none" rtlCol="0">
            <a:spAutoFit/>
          </a:bodyPr>
          <a:lstStyle/>
          <a:p>
            <a:r>
              <a:rPr lang="fr-FR" sz="900"/>
              <a:t>Source image : </a:t>
            </a:r>
            <a:r>
              <a:rPr lang="fr-FR" sz="900" err="1"/>
              <a:t>xkcd</a:t>
            </a:r>
            <a:r>
              <a:rPr lang="fr-FR" sz="900"/>
              <a:t> comics</a:t>
            </a:r>
          </a:p>
        </p:txBody>
      </p:sp>
      <p:sp>
        <p:nvSpPr>
          <p:cNvPr id="19" name="Line 17"/>
          <p:cNvSpPr>
            <a:spLocks noChangeShapeType="1"/>
          </p:cNvSpPr>
          <p:nvPr/>
        </p:nvSpPr>
        <p:spPr bwMode="auto">
          <a:xfrm>
            <a:off x="7196525" y="5379277"/>
            <a:ext cx="0" cy="870886"/>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p>
        </p:txBody>
      </p:sp>
      <p:grpSp>
        <p:nvGrpSpPr>
          <p:cNvPr id="12" name="Group 10"/>
          <p:cNvGrpSpPr>
            <a:grpSpLocks/>
          </p:cNvGrpSpPr>
          <p:nvPr/>
        </p:nvGrpSpPr>
        <p:grpSpPr bwMode="auto">
          <a:xfrm>
            <a:off x="1787525" y="5791200"/>
            <a:ext cx="6364288" cy="541340"/>
            <a:chOff x="1126" y="3210"/>
            <a:chExt cx="4009" cy="779"/>
          </a:xfrm>
          <a:solidFill>
            <a:schemeClr val="bg1">
              <a:lumMod val="75000"/>
            </a:schemeClr>
          </a:solidFill>
        </p:grpSpPr>
        <p:sp>
          <p:nvSpPr>
            <p:cNvPr id="13" name="Freeform 11"/>
            <p:cNvSpPr>
              <a:spLocks/>
            </p:cNvSpPr>
            <p:nvPr/>
          </p:nvSpPr>
          <p:spPr bwMode="auto">
            <a:xfrm>
              <a:off x="1126" y="3210"/>
              <a:ext cx="4009" cy="779"/>
            </a:xfrm>
            <a:custGeom>
              <a:avLst/>
              <a:gdLst>
                <a:gd name="T0" fmla="*/ 0 w 4013"/>
                <a:gd name="T1" fmla="*/ 475 h 475"/>
                <a:gd name="T2" fmla="*/ 55 w 4013"/>
                <a:gd name="T3" fmla="*/ 466 h 475"/>
                <a:gd name="T4" fmla="*/ 109 w 4013"/>
                <a:gd name="T5" fmla="*/ 448 h 475"/>
                <a:gd name="T6" fmla="*/ 155 w 4013"/>
                <a:gd name="T7" fmla="*/ 338 h 475"/>
                <a:gd name="T8" fmla="*/ 237 w 4013"/>
                <a:gd name="T9" fmla="*/ 228 h 475"/>
                <a:gd name="T10" fmla="*/ 347 w 4013"/>
                <a:gd name="T11" fmla="*/ 219 h 475"/>
                <a:gd name="T12" fmla="*/ 411 w 4013"/>
                <a:gd name="T13" fmla="*/ 155 h 475"/>
                <a:gd name="T14" fmla="*/ 466 w 4013"/>
                <a:gd name="T15" fmla="*/ 91 h 475"/>
                <a:gd name="T16" fmla="*/ 548 w 4013"/>
                <a:gd name="T17" fmla="*/ 109 h 475"/>
                <a:gd name="T18" fmla="*/ 567 w 4013"/>
                <a:gd name="T19" fmla="*/ 128 h 475"/>
                <a:gd name="T20" fmla="*/ 621 w 4013"/>
                <a:gd name="T21" fmla="*/ 146 h 475"/>
                <a:gd name="T22" fmla="*/ 649 w 4013"/>
                <a:gd name="T23" fmla="*/ 265 h 475"/>
                <a:gd name="T24" fmla="*/ 676 w 4013"/>
                <a:gd name="T25" fmla="*/ 283 h 475"/>
                <a:gd name="T26" fmla="*/ 731 w 4013"/>
                <a:gd name="T27" fmla="*/ 347 h 475"/>
                <a:gd name="T28" fmla="*/ 804 w 4013"/>
                <a:gd name="T29" fmla="*/ 411 h 475"/>
                <a:gd name="T30" fmla="*/ 859 w 4013"/>
                <a:gd name="T31" fmla="*/ 429 h 475"/>
                <a:gd name="T32" fmla="*/ 932 w 4013"/>
                <a:gd name="T33" fmla="*/ 448 h 475"/>
                <a:gd name="T34" fmla="*/ 996 w 4013"/>
                <a:gd name="T35" fmla="*/ 356 h 475"/>
                <a:gd name="T36" fmla="*/ 1051 w 4013"/>
                <a:gd name="T37" fmla="*/ 338 h 475"/>
                <a:gd name="T38" fmla="*/ 1079 w 4013"/>
                <a:gd name="T39" fmla="*/ 329 h 475"/>
                <a:gd name="T40" fmla="*/ 1143 w 4013"/>
                <a:gd name="T41" fmla="*/ 274 h 475"/>
                <a:gd name="T42" fmla="*/ 1161 w 4013"/>
                <a:gd name="T43" fmla="*/ 219 h 475"/>
                <a:gd name="T44" fmla="*/ 1170 w 4013"/>
                <a:gd name="T45" fmla="*/ 192 h 475"/>
                <a:gd name="T46" fmla="*/ 1188 w 4013"/>
                <a:gd name="T47" fmla="*/ 54 h 475"/>
                <a:gd name="T48" fmla="*/ 1316 w 4013"/>
                <a:gd name="T49" fmla="*/ 64 h 475"/>
                <a:gd name="T50" fmla="*/ 1371 w 4013"/>
                <a:gd name="T51" fmla="*/ 100 h 475"/>
                <a:gd name="T52" fmla="*/ 1536 w 4013"/>
                <a:gd name="T53" fmla="*/ 128 h 475"/>
                <a:gd name="T54" fmla="*/ 1591 w 4013"/>
                <a:gd name="T55" fmla="*/ 228 h 475"/>
                <a:gd name="T56" fmla="*/ 1627 w 4013"/>
                <a:gd name="T57" fmla="*/ 347 h 475"/>
                <a:gd name="T58" fmla="*/ 1673 w 4013"/>
                <a:gd name="T59" fmla="*/ 393 h 475"/>
                <a:gd name="T60" fmla="*/ 1728 w 4013"/>
                <a:gd name="T61" fmla="*/ 411 h 475"/>
                <a:gd name="T62" fmla="*/ 1810 w 4013"/>
                <a:gd name="T63" fmla="*/ 384 h 475"/>
                <a:gd name="T64" fmla="*/ 1856 w 4013"/>
                <a:gd name="T65" fmla="*/ 310 h 475"/>
                <a:gd name="T66" fmla="*/ 1883 w 4013"/>
                <a:gd name="T67" fmla="*/ 301 h 475"/>
                <a:gd name="T68" fmla="*/ 1938 w 4013"/>
                <a:gd name="T69" fmla="*/ 265 h 475"/>
                <a:gd name="T70" fmla="*/ 2039 w 4013"/>
                <a:gd name="T71" fmla="*/ 173 h 475"/>
                <a:gd name="T72" fmla="*/ 2066 w 4013"/>
                <a:gd name="T73" fmla="*/ 155 h 475"/>
                <a:gd name="T74" fmla="*/ 2084 w 4013"/>
                <a:gd name="T75" fmla="*/ 128 h 475"/>
                <a:gd name="T76" fmla="*/ 2121 w 4013"/>
                <a:gd name="T77" fmla="*/ 109 h 475"/>
                <a:gd name="T78" fmla="*/ 2176 w 4013"/>
                <a:gd name="T79" fmla="*/ 73 h 475"/>
                <a:gd name="T80" fmla="*/ 2276 w 4013"/>
                <a:gd name="T81" fmla="*/ 73 h 475"/>
                <a:gd name="T82" fmla="*/ 2432 w 4013"/>
                <a:gd name="T83" fmla="*/ 137 h 475"/>
                <a:gd name="T84" fmla="*/ 2459 w 4013"/>
                <a:gd name="T85" fmla="*/ 118 h 475"/>
                <a:gd name="T86" fmla="*/ 2514 w 4013"/>
                <a:gd name="T87" fmla="*/ 100 h 475"/>
                <a:gd name="T88" fmla="*/ 2615 w 4013"/>
                <a:gd name="T89" fmla="*/ 27 h 475"/>
                <a:gd name="T90" fmla="*/ 2669 w 4013"/>
                <a:gd name="T91" fmla="*/ 9 h 475"/>
                <a:gd name="T92" fmla="*/ 2697 w 4013"/>
                <a:gd name="T93" fmla="*/ 0 h 475"/>
                <a:gd name="T94" fmla="*/ 2761 w 4013"/>
                <a:gd name="T95" fmla="*/ 54 h 475"/>
                <a:gd name="T96" fmla="*/ 2788 w 4013"/>
                <a:gd name="T97" fmla="*/ 137 h 475"/>
                <a:gd name="T98" fmla="*/ 2834 w 4013"/>
                <a:gd name="T99" fmla="*/ 182 h 475"/>
                <a:gd name="T100" fmla="*/ 2944 w 4013"/>
                <a:gd name="T101" fmla="*/ 265 h 475"/>
                <a:gd name="T102" fmla="*/ 3063 w 4013"/>
                <a:gd name="T103" fmla="*/ 374 h 475"/>
                <a:gd name="T104" fmla="*/ 3300 w 4013"/>
                <a:gd name="T105" fmla="*/ 365 h 475"/>
                <a:gd name="T106" fmla="*/ 3392 w 4013"/>
                <a:gd name="T107" fmla="*/ 438 h 475"/>
                <a:gd name="T108" fmla="*/ 3648 w 4013"/>
                <a:gd name="T109" fmla="*/ 429 h 475"/>
                <a:gd name="T110" fmla="*/ 3730 w 4013"/>
                <a:gd name="T111" fmla="*/ 402 h 475"/>
                <a:gd name="T112" fmla="*/ 3849 w 4013"/>
                <a:gd name="T113" fmla="*/ 384 h 475"/>
                <a:gd name="T114" fmla="*/ 4013 w 4013"/>
                <a:gd name="T115" fmla="*/ 393 h 475"/>
                <a:gd name="connsiteX0" fmla="*/ 0 w 10000"/>
                <a:gd name="connsiteY0" fmla="*/ 10000 h 10000"/>
                <a:gd name="connsiteX1" fmla="*/ 137 w 10000"/>
                <a:gd name="connsiteY1" fmla="*/ 9811 h 10000"/>
                <a:gd name="connsiteX2" fmla="*/ 272 w 10000"/>
                <a:gd name="connsiteY2" fmla="*/ 9432 h 10000"/>
                <a:gd name="connsiteX3" fmla="*/ 386 w 10000"/>
                <a:gd name="connsiteY3" fmla="*/ 7116 h 10000"/>
                <a:gd name="connsiteX4" fmla="*/ 591 w 10000"/>
                <a:gd name="connsiteY4" fmla="*/ 4800 h 10000"/>
                <a:gd name="connsiteX5" fmla="*/ 865 w 10000"/>
                <a:gd name="connsiteY5" fmla="*/ 4611 h 10000"/>
                <a:gd name="connsiteX6" fmla="*/ 1024 w 10000"/>
                <a:gd name="connsiteY6" fmla="*/ 3263 h 10000"/>
                <a:gd name="connsiteX7" fmla="*/ 1161 w 10000"/>
                <a:gd name="connsiteY7" fmla="*/ 1916 h 10000"/>
                <a:gd name="connsiteX8" fmla="*/ 1366 w 10000"/>
                <a:gd name="connsiteY8" fmla="*/ 2295 h 10000"/>
                <a:gd name="connsiteX9" fmla="*/ 1413 w 10000"/>
                <a:gd name="connsiteY9" fmla="*/ 2695 h 10000"/>
                <a:gd name="connsiteX10" fmla="*/ 1547 w 10000"/>
                <a:gd name="connsiteY10" fmla="*/ 3074 h 10000"/>
                <a:gd name="connsiteX11" fmla="*/ 1617 w 10000"/>
                <a:gd name="connsiteY11" fmla="*/ 5579 h 10000"/>
                <a:gd name="connsiteX12" fmla="*/ 1685 w 10000"/>
                <a:gd name="connsiteY12" fmla="*/ 5958 h 10000"/>
                <a:gd name="connsiteX13" fmla="*/ 1822 w 10000"/>
                <a:gd name="connsiteY13" fmla="*/ 7305 h 10000"/>
                <a:gd name="connsiteX14" fmla="*/ 2003 w 10000"/>
                <a:gd name="connsiteY14" fmla="*/ 8653 h 10000"/>
                <a:gd name="connsiteX15" fmla="*/ 2141 w 10000"/>
                <a:gd name="connsiteY15" fmla="*/ 9032 h 10000"/>
                <a:gd name="connsiteX16" fmla="*/ 2322 w 10000"/>
                <a:gd name="connsiteY16" fmla="*/ 9432 h 10000"/>
                <a:gd name="connsiteX17" fmla="*/ 2482 w 10000"/>
                <a:gd name="connsiteY17" fmla="*/ 7495 h 10000"/>
                <a:gd name="connsiteX18" fmla="*/ 2619 w 10000"/>
                <a:gd name="connsiteY18" fmla="*/ 7116 h 10000"/>
                <a:gd name="connsiteX19" fmla="*/ 2689 w 10000"/>
                <a:gd name="connsiteY19" fmla="*/ 6926 h 10000"/>
                <a:gd name="connsiteX20" fmla="*/ 2848 w 10000"/>
                <a:gd name="connsiteY20" fmla="*/ 5768 h 10000"/>
                <a:gd name="connsiteX21" fmla="*/ 2893 w 10000"/>
                <a:gd name="connsiteY21" fmla="*/ 4611 h 10000"/>
                <a:gd name="connsiteX22" fmla="*/ 2916 w 10000"/>
                <a:gd name="connsiteY22" fmla="*/ 4042 h 10000"/>
                <a:gd name="connsiteX23" fmla="*/ 2960 w 10000"/>
                <a:gd name="connsiteY23" fmla="*/ 1137 h 10000"/>
                <a:gd name="connsiteX24" fmla="*/ 3279 w 10000"/>
                <a:gd name="connsiteY24" fmla="*/ 1347 h 10000"/>
                <a:gd name="connsiteX25" fmla="*/ 3416 w 10000"/>
                <a:gd name="connsiteY25" fmla="*/ 2105 h 10000"/>
                <a:gd name="connsiteX26" fmla="*/ 3828 w 10000"/>
                <a:gd name="connsiteY26" fmla="*/ 2695 h 10000"/>
                <a:gd name="connsiteX27" fmla="*/ 3965 w 10000"/>
                <a:gd name="connsiteY27" fmla="*/ 4800 h 10000"/>
                <a:gd name="connsiteX28" fmla="*/ 4054 w 10000"/>
                <a:gd name="connsiteY28" fmla="*/ 7305 h 10000"/>
                <a:gd name="connsiteX29" fmla="*/ 4169 w 10000"/>
                <a:gd name="connsiteY29" fmla="*/ 8274 h 10000"/>
                <a:gd name="connsiteX30" fmla="*/ 4306 w 10000"/>
                <a:gd name="connsiteY30" fmla="*/ 8653 h 10000"/>
                <a:gd name="connsiteX31" fmla="*/ 4510 w 10000"/>
                <a:gd name="connsiteY31" fmla="*/ 8084 h 10000"/>
                <a:gd name="connsiteX32" fmla="*/ 4625 w 10000"/>
                <a:gd name="connsiteY32" fmla="*/ 6526 h 10000"/>
                <a:gd name="connsiteX33" fmla="*/ 4692 w 10000"/>
                <a:gd name="connsiteY33" fmla="*/ 6337 h 10000"/>
                <a:gd name="connsiteX34" fmla="*/ 4829 w 10000"/>
                <a:gd name="connsiteY34" fmla="*/ 5579 h 10000"/>
                <a:gd name="connsiteX35" fmla="*/ 5081 w 10000"/>
                <a:gd name="connsiteY35" fmla="*/ 3642 h 10000"/>
                <a:gd name="connsiteX36" fmla="*/ 5148 w 10000"/>
                <a:gd name="connsiteY36" fmla="*/ 3263 h 10000"/>
                <a:gd name="connsiteX37" fmla="*/ 5193 w 10000"/>
                <a:gd name="connsiteY37" fmla="*/ 2695 h 10000"/>
                <a:gd name="connsiteX38" fmla="*/ 5285 w 10000"/>
                <a:gd name="connsiteY38" fmla="*/ 2295 h 10000"/>
                <a:gd name="connsiteX39" fmla="*/ 5422 w 10000"/>
                <a:gd name="connsiteY39" fmla="*/ 1537 h 10000"/>
                <a:gd name="connsiteX40" fmla="*/ 5672 w 10000"/>
                <a:gd name="connsiteY40" fmla="*/ 1537 h 10000"/>
                <a:gd name="connsiteX41" fmla="*/ 6060 w 10000"/>
                <a:gd name="connsiteY41" fmla="*/ 2884 h 10000"/>
                <a:gd name="connsiteX42" fmla="*/ 6128 w 10000"/>
                <a:gd name="connsiteY42" fmla="*/ 2484 h 10000"/>
                <a:gd name="connsiteX43" fmla="*/ 6265 w 10000"/>
                <a:gd name="connsiteY43" fmla="*/ 2105 h 10000"/>
                <a:gd name="connsiteX44" fmla="*/ 6516 w 10000"/>
                <a:gd name="connsiteY44" fmla="*/ 568 h 10000"/>
                <a:gd name="connsiteX45" fmla="*/ 6651 w 10000"/>
                <a:gd name="connsiteY45" fmla="*/ 189 h 10000"/>
                <a:gd name="connsiteX46" fmla="*/ 6721 w 10000"/>
                <a:gd name="connsiteY46" fmla="*/ 0 h 10000"/>
                <a:gd name="connsiteX47" fmla="*/ 6880 w 10000"/>
                <a:gd name="connsiteY47" fmla="*/ 1137 h 10000"/>
                <a:gd name="connsiteX48" fmla="*/ 6947 w 10000"/>
                <a:gd name="connsiteY48" fmla="*/ 2884 h 10000"/>
                <a:gd name="connsiteX49" fmla="*/ 7062 w 10000"/>
                <a:gd name="connsiteY49" fmla="*/ 3832 h 10000"/>
                <a:gd name="connsiteX50" fmla="*/ 7336 w 10000"/>
                <a:gd name="connsiteY50" fmla="*/ 5579 h 10000"/>
                <a:gd name="connsiteX51" fmla="*/ 7633 w 10000"/>
                <a:gd name="connsiteY51" fmla="*/ 7874 h 10000"/>
                <a:gd name="connsiteX52" fmla="*/ 8223 w 10000"/>
                <a:gd name="connsiteY52" fmla="*/ 7684 h 10000"/>
                <a:gd name="connsiteX53" fmla="*/ 8533 w 10000"/>
                <a:gd name="connsiteY53" fmla="*/ 8283 h 10000"/>
                <a:gd name="connsiteX54" fmla="*/ 9090 w 10000"/>
                <a:gd name="connsiteY54" fmla="*/ 9032 h 10000"/>
                <a:gd name="connsiteX55" fmla="*/ 9295 w 10000"/>
                <a:gd name="connsiteY55" fmla="*/ 8463 h 10000"/>
                <a:gd name="connsiteX56" fmla="*/ 9591 w 10000"/>
                <a:gd name="connsiteY56" fmla="*/ 8084 h 10000"/>
                <a:gd name="connsiteX57" fmla="*/ 10000 w 10000"/>
                <a:gd name="connsiteY57" fmla="*/ 8274 h 10000"/>
                <a:gd name="connsiteX0" fmla="*/ 0 w 10000"/>
                <a:gd name="connsiteY0" fmla="*/ 10000 h 10000"/>
                <a:gd name="connsiteX1" fmla="*/ 137 w 10000"/>
                <a:gd name="connsiteY1" fmla="*/ 9811 h 10000"/>
                <a:gd name="connsiteX2" fmla="*/ 272 w 10000"/>
                <a:gd name="connsiteY2" fmla="*/ 9432 h 10000"/>
                <a:gd name="connsiteX3" fmla="*/ 386 w 10000"/>
                <a:gd name="connsiteY3" fmla="*/ 7116 h 10000"/>
                <a:gd name="connsiteX4" fmla="*/ 591 w 10000"/>
                <a:gd name="connsiteY4" fmla="*/ 4800 h 10000"/>
                <a:gd name="connsiteX5" fmla="*/ 865 w 10000"/>
                <a:gd name="connsiteY5" fmla="*/ 4611 h 10000"/>
                <a:gd name="connsiteX6" fmla="*/ 1024 w 10000"/>
                <a:gd name="connsiteY6" fmla="*/ 3263 h 10000"/>
                <a:gd name="connsiteX7" fmla="*/ 1161 w 10000"/>
                <a:gd name="connsiteY7" fmla="*/ 1916 h 10000"/>
                <a:gd name="connsiteX8" fmla="*/ 1366 w 10000"/>
                <a:gd name="connsiteY8" fmla="*/ 2295 h 10000"/>
                <a:gd name="connsiteX9" fmla="*/ 1413 w 10000"/>
                <a:gd name="connsiteY9" fmla="*/ 2695 h 10000"/>
                <a:gd name="connsiteX10" fmla="*/ 1547 w 10000"/>
                <a:gd name="connsiteY10" fmla="*/ 3074 h 10000"/>
                <a:gd name="connsiteX11" fmla="*/ 1617 w 10000"/>
                <a:gd name="connsiteY11" fmla="*/ 5579 h 10000"/>
                <a:gd name="connsiteX12" fmla="*/ 1685 w 10000"/>
                <a:gd name="connsiteY12" fmla="*/ 5958 h 10000"/>
                <a:gd name="connsiteX13" fmla="*/ 1822 w 10000"/>
                <a:gd name="connsiteY13" fmla="*/ 7305 h 10000"/>
                <a:gd name="connsiteX14" fmla="*/ 2003 w 10000"/>
                <a:gd name="connsiteY14" fmla="*/ 8653 h 10000"/>
                <a:gd name="connsiteX15" fmla="*/ 2141 w 10000"/>
                <a:gd name="connsiteY15" fmla="*/ 9032 h 10000"/>
                <a:gd name="connsiteX16" fmla="*/ 2322 w 10000"/>
                <a:gd name="connsiteY16" fmla="*/ 9432 h 10000"/>
                <a:gd name="connsiteX17" fmla="*/ 2482 w 10000"/>
                <a:gd name="connsiteY17" fmla="*/ 7495 h 10000"/>
                <a:gd name="connsiteX18" fmla="*/ 2619 w 10000"/>
                <a:gd name="connsiteY18" fmla="*/ 7116 h 10000"/>
                <a:gd name="connsiteX19" fmla="*/ 2689 w 10000"/>
                <a:gd name="connsiteY19" fmla="*/ 6926 h 10000"/>
                <a:gd name="connsiteX20" fmla="*/ 2848 w 10000"/>
                <a:gd name="connsiteY20" fmla="*/ 5768 h 10000"/>
                <a:gd name="connsiteX21" fmla="*/ 2893 w 10000"/>
                <a:gd name="connsiteY21" fmla="*/ 4611 h 10000"/>
                <a:gd name="connsiteX22" fmla="*/ 2916 w 10000"/>
                <a:gd name="connsiteY22" fmla="*/ 4042 h 10000"/>
                <a:gd name="connsiteX23" fmla="*/ 2960 w 10000"/>
                <a:gd name="connsiteY23" fmla="*/ 1137 h 10000"/>
                <a:gd name="connsiteX24" fmla="*/ 3279 w 10000"/>
                <a:gd name="connsiteY24" fmla="*/ 1347 h 10000"/>
                <a:gd name="connsiteX25" fmla="*/ 3416 w 10000"/>
                <a:gd name="connsiteY25" fmla="*/ 2105 h 10000"/>
                <a:gd name="connsiteX26" fmla="*/ 3828 w 10000"/>
                <a:gd name="connsiteY26" fmla="*/ 2695 h 10000"/>
                <a:gd name="connsiteX27" fmla="*/ 3965 w 10000"/>
                <a:gd name="connsiteY27" fmla="*/ 4800 h 10000"/>
                <a:gd name="connsiteX28" fmla="*/ 4054 w 10000"/>
                <a:gd name="connsiteY28" fmla="*/ 7305 h 10000"/>
                <a:gd name="connsiteX29" fmla="*/ 4169 w 10000"/>
                <a:gd name="connsiteY29" fmla="*/ 8274 h 10000"/>
                <a:gd name="connsiteX30" fmla="*/ 4306 w 10000"/>
                <a:gd name="connsiteY30" fmla="*/ 8653 h 10000"/>
                <a:gd name="connsiteX31" fmla="*/ 4510 w 10000"/>
                <a:gd name="connsiteY31" fmla="*/ 8084 h 10000"/>
                <a:gd name="connsiteX32" fmla="*/ 4625 w 10000"/>
                <a:gd name="connsiteY32" fmla="*/ 6526 h 10000"/>
                <a:gd name="connsiteX33" fmla="*/ 4692 w 10000"/>
                <a:gd name="connsiteY33" fmla="*/ 6337 h 10000"/>
                <a:gd name="connsiteX34" fmla="*/ 4829 w 10000"/>
                <a:gd name="connsiteY34" fmla="*/ 5579 h 10000"/>
                <a:gd name="connsiteX35" fmla="*/ 5081 w 10000"/>
                <a:gd name="connsiteY35" fmla="*/ 3642 h 10000"/>
                <a:gd name="connsiteX36" fmla="*/ 5148 w 10000"/>
                <a:gd name="connsiteY36" fmla="*/ 3263 h 10000"/>
                <a:gd name="connsiteX37" fmla="*/ 5193 w 10000"/>
                <a:gd name="connsiteY37" fmla="*/ 2695 h 10000"/>
                <a:gd name="connsiteX38" fmla="*/ 5285 w 10000"/>
                <a:gd name="connsiteY38" fmla="*/ 2295 h 10000"/>
                <a:gd name="connsiteX39" fmla="*/ 5422 w 10000"/>
                <a:gd name="connsiteY39" fmla="*/ 1537 h 10000"/>
                <a:gd name="connsiteX40" fmla="*/ 5672 w 10000"/>
                <a:gd name="connsiteY40" fmla="*/ 1537 h 10000"/>
                <a:gd name="connsiteX41" fmla="*/ 6060 w 10000"/>
                <a:gd name="connsiteY41" fmla="*/ 2884 h 10000"/>
                <a:gd name="connsiteX42" fmla="*/ 6128 w 10000"/>
                <a:gd name="connsiteY42" fmla="*/ 2484 h 10000"/>
                <a:gd name="connsiteX43" fmla="*/ 6265 w 10000"/>
                <a:gd name="connsiteY43" fmla="*/ 2105 h 10000"/>
                <a:gd name="connsiteX44" fmla="*/ 6516 w 10000"/>
                <a:gd name="connsiteY44" fmla="*/ 568 h 10000"/>
                <a:gd name="connsiteX45" fmla="*/ 6651 w 10000"/>
                <a:gd name="connsiteY45" fmla="*/ 189 h 10000"/>
                <a:gd name="connsiteX46" fmla="*/ 6721 w 10000"/>
                <a:gd name="connsiteY46" fmla="*/ 0 h 10000"/>
                <a:gd name="connsiteX47" fmla="*/ 6880 w 10000"/>
                <a:gd name="connsiteY47" fmla="*/ 1137 h 10000"/>
                <a:gd name="connsiteX48" fmla="*/ 6947 w 10000"/>
                <a:gd name="connsiteY48" fmla="*/ 2884 h 10000"/>
                <a:gd name="connsiteX49" fmla="*/ 7062 w 10000"/>
                <a:gd name="connsiteY49" fmla="*/ 3832 h 10000"/>
                <a:gd name="connsiteX50" fmla="*/ 7336 w 10000"/>
                <a:gd name="connsiteY50" fmla="*/ 5579 h 10000"/>
                <a:gd name="connsiteX51" fmla="*/ 7633 w 10000"/>
                <a:gd name="connsiteY51" fmla="*/ 7874 h 10000"/>
                <a:gd name="connsiteX52" fmla="*/ 8223 w 10000"/>
                <a:gd name="connsiteY52" fmla="*/ 7684 h 10000"/>
                <a:gd name="connsiteX53" fmla="*/ 8533 w 10000"/>
                <a:gd name="connsiteY53" fmla="*/ 8283 h 10000"/>
                <a:gd name="connsiteX54" fmla="*/ 9331 w 10000"/>
                <a:gd name="connsiteY54" fmla="*/ 7574 h 10000"/>
                <a:gd name="connsiteX55" fmla="*/ 9295 w 10000"/>
                <a:gd name="connsiteY55" fmla="*/ 8463 h 10000"/>
                <a:gd name="connsiteX56" fmla="*/ 9591 w 10000"/>
                <a:gd name="connsiteY56" fmla="*/ 8084 h 10000"/>
                <a:gd name="connsiteX57" fmla="*/ 10000 w 10000"/>
                <a:gd name="connsiteY57" fmla="*/ 8274 h 10000"/>
                <a:gd name="connsiteX0" fmla="*/ 0 w 10000"/>
                <a:gd name="connsiteY0" fmla="*/ 10000 h 10000"/>
                <a:gd name="connsiteX1" fmla="*/ 137 w 10000"/>
                <a:gd name="connsiteY1" fmla="*/ 9811 h 10000"/>
                <a:gd name="connsiteX2" fmla="*/ 272 w 10000"/>
                <a:gd name="connsiteY2" fmla="*/ 9432 h 10000"/>
                <a:gd name="connsiteX3" fmla="*/ 386 w 10000"/>
                <a:gd name="connsiteY3" fmla="*/ 7116 h 10000"/>
                <a:gd name="connsiteX4" fmla="*/ 591 w 10000"/>
                <a:gd name="connsiteY4" fmla="*/ 4800 h 10000"/>
                <a:gd name="connsiteX5" fmla="*/ 865 w 10000"/>
                <a:gd name="connsiteY5" fmla="*/ 4611 h 10000"/>
                <a:gd name="connsiteX6" fmla="*/ 1024 w 10000"/>
                <a:gd name="connsiteY6" fmla="*/ 3263 h 10000"/>
                <a:gd name="connsiteX7" fmla="*/ 1161 w 10000"/>
                <a:gd name="connsiteY7" fmla="*/ 1916 h 10000"/>
                <a:gd name="connsiteX8" fmla="*/ 1366 w 10000"/>
                <a:gd name="connsiteY8" fmla="*/ 2295 h 10000"/>
                <a:gd name="connsiteX9" fmla="*/ 1413 w 10000"/>
                <a:gd name="connsiteY9" fmla="*/ 2695 h 10000"/>
                <a:gd name="connsiteX10" fmla="*/ 1547 w 10000"/>
                <a:gd name="connsiteY10" fmla="*/ 3074 h 10000"/>
                <a:gd name="connsiteX11" fmla="*/ 1617 w 10000"/>
                <a:gd name="connsiteY11" fmla="*/ 5579 h 10000"/>
                <a:gd name="connsiteX12" fmla="*/ 1685 w 10000"/>
                <a:gd name="connsiteY12" fmla="*/ 5958 h 10000"/>
                <a:gd name="connsiteX13" fmla="*/ 1822 w 10000"/>
                <a:gd name="connsiteY13" fmla="*/ 7305 h 10000"/>
                <a:gd name="connsiteX14" fmla="*/ 2003 w 10000"/>
                <a:gd name="connsiteY14" fmla="*/ 8653 h 10000"/>
                <a:gd name="connsiteX15" fmla="*/ 2141 w 10000"/>
                <a:gd name="connsiteY15" fmla="*/ 9032 h 10000"/>
                <a:gd name="connsiteX16" fmla="*/ 2322 w 10000"/>
                <a:gd name="connsiteY16" fmla="*/ 9432 h 10000"/>
                <a:gd name="connsiteX17" fmla="*/ 2482 w 10000"/>
                <a:gd name="connsiteY17" fmla="*/ 7495 h 10000"/>
                <a:gd name="connsiteX18" fmla="*/ 2619 w 10000"/>
                <a:gd name="connsiteY18" fmla="*/ 7116 h 10000"/>
                <a:gd name="connsiteX19" fmla="*/ 2689 w 10000"/>
                <a:gd name="connsiteY19" fmla="*/ 6926 h 10000"/>
                <a:gd name="connsiteX20" fmla="*/ 2848 w 10000"/>
                <a:gd name="connsiteY20" fmla="*/ 5768 h 10000"/>
                <a:gd name="connsiteX21" fmla="*/ 2893 w 10000"/>
                <a:gd name="connsiteY21" fmla="*/ 4611 h 10000"/>
                <a:gd name="connsiteX22" fmla="*/ 2916 w 10000"/>
                <a:gd name="connsiteY22" fmla="*/ 4042 h 10000"/>
                <a:gd name="connsiteX23" fmla="*/ 2960 w 10000"/>
                <a:gd name="connsiteY23" fmla="*/ 1137 h 10000"/>
                <a:gd name="connsiteX24" fmla="*/ 3279 w 10000"/>
                <a:gd name="connsiteY24" fmla="*/ 1347 h 10000"/>
                <a:gd name="connsiteX25" fmla="*/ 3416 w 10000"/>
                <a:gd name="connsiteY25" fmla="*/ 2105 h 10000"/>
                <a:gd name="connsiteX26" fmla="*/ 3828 w 10000"/>
                <a:gd name="connsiteY26" fmla="*/ 2695 h 10000"/>
                <a:gd name="connsiteX27" fmla="*/ 3965 w 10000"/>
                <a:gd name="connsiteY27" fmla="*/ 4800 h 10000"/>
                <a:gd name="connsiteX28" fmla="*/ 4054 w 10000"/>
                <a:gd name="connsiteY28" fmla="*/ 7305 h 10000"/>
                <a:gd name="connsiteX29" fmla="*/ 4169 w 10000"/>
                <a:gd name="connsiteY29" fmla="*/ 8274 h 10000"/>
                <a:gd name="connsiteX30" fmla="*/ 4306 w 10000"/>
                <a:gd name="connsiteY30" fmla="*/ 8653 h 10000"/>
                <a:gd name="connsiteX31" fmla="*/ 4510 w 10000"/>
                <a:gd name="connsiteY31" fmla="*/ 8084 h 10000"/>
                <a:gd name="connsiteX32" fmla="*/ 4625 w 10000"/>
                <a:gd name="connsiteY32" fmla="*/ 6526 h 10000"/>
                <a:gd name="connsiteX33" fmla="*/ 4692 w 10000"/>
                <a:gd name="connsiteY33" fmla="*/ 6337 h 10000"/>
                <a:gd name="connsiteX34" fmla="*/ 4829 w 10000"/>
                <a:gd name="connsiteY34" fmla="*/ 5579 h 10000"/>
                <a:gd name="connsiteX35" fmla="*/ 5081 w 10000"/>
                <a:gd name="connsiteY35" fmla="*/ 3642 h 10000"/>
                <a:gd name="connsiteX36" fmla="*/ 5148 w 10000"/>
                <a:gd name="connsiteY36" fmla="*/ 3263 h 10000"/>
                <a:gd name="connsiteX37" fmla="*/ 5193 w 10000"/>
                <a:gd name="connsiteY37" fmla="*/ 2695 h 10000"/>
                <a:gd name="connsiteX38" fmla="*/ 5285 w 10000"/>
                <a:gd name="connsiteY38" fmla="*/ 2295 h 10000"/>
                <a:gd name="connsiteX39" fmla="*/ 5422 w 10000"/>
                <a:gd name="connsiteY39" fmla="*/ 1537 h 10000"/>
                <a:gd name="connsiteX40" fmla="*/ 5672 w 10000"/>
                <a:gd name="connsiteY40" fmla="*/ 1537 h 10000"/>
                <a:gd name="connsiteX41" fmla="*/ 6060 w 10000"/>
                <a:gd name="connsiteY41" fmla="*/ 2884 h 10000"/>
                <a:gd name="connsiteX42" fmla="*/ 6128 w 10000"/>
                <a:gd name="connsiteY42" fmla="*/ 2484 h 10000"/>
                <a:gd name="connsiteX43" fmla="*/ 6265 w 10000"/>
                <a:gd name="connsiteY43" fmla="*/ 2105 h 10000"/>
                <a:gd name="connsiteX44" fmla="*/ 6516 w 10000"/>
                <a:gd name="connsiteY44" fmla="*/ 568 h 10000"/>
                <a:gd name="connsiteX45" fmla="*/ 6651 w 10000"/>
                <a:gd name="connsiteY45" fmla="*/ 189 h 10000"/>
                <a:gd name="connsiteX46" fmla="*/ 6721 w 10000"/>
                <a:gd name="connsiteY46" fmla="*/ 0 h 10000"/>
                <a:gd name="connsiteX47" fmla="*/ 6880 w 10000"/>
                <a:gd name="connsiteY47" fmla="*/ 1137 h 10000"/>
                <a:gd name="connsiteX48" fmla="*/ 6947 w 10000"/>
                <a:gd name="connsiteY48" fmla="*/ 2884 h 10000"/>
                <a:gd name="connsiteX49" fmla="*/ 7062 w 10000"/>
                <a:gd name="connsiteY49" fmla="*/ 3832 h 10000"/>
                <a:gd name="connsiteX50" fmla="*/ 7336 w 10000"/>
                <a:gd name="connsiteY50" fmla="*/ 5579 h 10000"/>
                <a:gd name="connsiteX51" fmla="*/ 7633 w 10000"/>
                <a:gd name="connsiteY51" fmla="*/ 7874 h 10000"/>
                <a:gd name="connsiteX52" fmla="*/ 8223 w 10000"/>
                <a:gd name="connsiteY52" fmla="*/ 7684 h 10000"/>
                <a:gd name="connsiteX53" fmla="*/ 8533 w 10000"/>
                <a:gd name="connsiteY53" fmla="*/ 8283 h 10000"/>
                <a:gd name="connsiteX54" fmla="*/ 9331 w 10000"/>
                <a:gd name="connsiteY54" fmla="*/ 7574 h 10000"/>
                <a:gd name="connsiteX55" fmla="*/ 9591 w 10000"/>
                <a:gd name="connsiteY55" fmla="*/ 8084 h 10000"/>
                <a:gd name="connsiteX56" fmla="*/ 10000 w 10000"/>
                <a:gd name="connsiteY56" fmla="*/ 8274 h 10000"/>
                <a:gd name="connsiteX0" fmla="*/ 0 w 10060"/>
                <a:gd name="connsiteY0" fmla="*/ 10000 h 10149"/>
                <a:gd name="connsiteX1" fmla="*/ 137 w 10060"/>
                <a:gd name="connsiteY1" fmla="*/ 9811 h 10149"/>
                <a:gd name="connsiteX2" fmla="*/ 272 w 10060"/>
                <a:gd name="connsiteY2" fmla="*/ 9432 h 10149"/>
                <a:gd name="connsiteX3" fmla="*/ 386 w 10060"/>
                <a:gd name="connsiteY3" fmla="*/ 7116 h 10149"/>
                <a:gd name="connsiteX4" fmla="*/ 591 w 10060"/>
                <a:gd name="connsiteY4" fmla="*/ 4800 h 10149"/>
                <a:gd name="connsiteX5" fmla="*/ 865 w 10060"/>
                <a:gd name="connsiteY5" fmla="*/ 4611 h 10149"/>
                <a:gd name="connsiteX6" fmla="*/ 1024 w 10060"/>
                <a:gd name="connsiteY6" fmla="*/ 3263 h 10149"/>
                <a:gd name="connsiteX7" fmla="*/ 1161 w 10060"/>
                <a:gd name="connsiteY7" fmla="*/ 1916 h 10149"/>
                <a:gd name="connsiteX8" fmla="*/ 1366 w 10060"/>
                <a:gd name="connsiteY8" fmla="*/ 2295 h 10149"/>
                <a:gd name="connsiteX9" fmla="*/ 1413 w 10060"/>
                <a:gd name="connsiteY9" fmla="*/ 2695 h 10149"/>
                <a:gd name="connsiteX10" fmla="*/ 1547 w 10060"/>
                <a:gd name="connsiteY10" fmla="*/ 3074 h 10149"/>
                <a:gd name="connsiteX11" fmla="*/ 1617 w 10060"/>
                <a:gd name="connsiteY11" fmla="*/ 5579 h 10149"/>
                <a:gd name="connsiteX12" fmla="*/ 1685 w 10060"/>
                <a:gd name="connsiteY12" fmla="*/ 5958 h 10149"/>
                <a:gd name="connsiteX13" fmla="*/ 1822 w 10060"/>
                <a:gd name="connsiteY13" fmla="*/ 7305 h 10149"/>
                <a:gd name="connsiteX14" fmla="*/ 2003 w 10060"/>
                <a:gd name="connsiteY14" fmla="*/ 8653 h 10149"/>
                <a:gd name="connsiteX15" fmla="*/ 2141 w 10060"/>
                <a:gd name="connsiteY15" fmla="*/ 9032 h 10149"/>
                <a:gd name="connsiteX16" fmla="*/ 2322 w 10060"/>
                <a:gd name="connsiteY16" fmla="*/ 9432 h 10149"/>
                <a:gd name="connsiteX17" fmla="*/ 2482 w 10060"/>
                <a:gd name="connsiteY17" fmla="*/ 7495 h 10149"/>
                <a:gd name="connsiteX18" fmla="*/ 2619 w 10060"/>
                <a:gd name="connsiteY18" fmla="*/ 7116 h 10149"/>
                <a:gd name="connsiteX19" fmla="*/ 2689 w 10060"/>
                <a:gd name="connsiteY19" fmla="*/ 6926 h 10149"/>
                <a:gd name="connsiteX20" fmla="*/ 2848 w 10060"/>
                <a:gd name="connsiteY20" fmla="*/ 5768 h 10149"/>
                <a:gd name="connsiteX21" fmla="*/ 2893 w 10060"/>
                <a:gd name="connsiteY21" fmla="*/ 4611 h 10149"/>
                <a:gd name="connsiteX22" fmla="*/ 2916 w 10060"/>
                <a:gd name="connsiteY22" fmla="*/ 4042 h 10149"/>
                <a:gd name="connsiteX23" fmla="*/ 2960 w 10060"/>
                <a:gd name="connsiteY23" fmla="*/ 1137 h 10149"/>
                <a:gd name="connsiteX24" fmla="*/ 3279 w 10060"/>
                <a:gd name="connsiteY24" fmla="*/ 1347 h 10149"/>
                <a:gd name="connsiteX25" fmla="*/ 3416 w 10060"/>
                <a:gd name="connsiteY25" fmla="*/ 2105 h 10149"/>
                <a:gd name="connsiteX26" fmla="*/ 3828 w 10060"/>
                <a:gd name="connsiteY26" fmla="*/ 2695 h 10149"/>
                <a:gd name="connsiteX27" fmla="*/ 3965 w 10060"/>
                <a:gd name="connsiteY27" fmla="*/ 4800 h 10149"/>
                <a:gd name="connsiteX28" fmla="*/ 4054 w 10060"/>
                <a:gd name="connsiteY28" fmla="*/ 7305 h 10149"/>
                <a:gd name="connsiteX29" fmla="*/ 4169 w 10060"/>
                <a:gd name="connsiteY29" fmla="*/ 8274 h 10149"/>
                <a:gd name="connsiteX30" fmla="*/ 4306 w 10060"/>
                <a:gd name="connsiteY30" fmla="*/ 8653 h 10149"/>
                <a:gd name="connsiteX31" fmla="*/ 4510 w 10060"/>
                <a:gd name="connsiteY31" fmla="*/ 8084 h 10149"/>
                <a:gd name="connsiteX32" fmla="*/ 4625 w 10060"/>
                <a:gd name="connsiteY32" fmla="*/ 6526 h 10149"/>
                <a:gd name="connsiteX33" fmla="*/ 4692 w 10060"/>
                <a:gd name="connsiteY33" fmla="*/ 6337 h 10149"/>
                <a:gd name="connsiteX34" fmla="*/ 4829 w 10060"/>
                <a:gd name="connsiteY34" fmla="*/ 5579 h 10149"/>
                <a:gd name="connsiteX35" fmla="*/ 5081 w 10060"/>
                <a:gd name="connsiteY35" fmla="*/ 3642 h 10149"/>
                <a:gd name="connsiteX36" fmla="*/ 5148 w 10060"/>
                <a:gd name="connsiteY36" fmla="*/ 3263 h 10149"/>
                <a:gd name="connsiteX37" fmla="*/ 5193 w 10060"/>
                <a:gd name="connsiteY37" fmla="*/ 2695 h 10149"/>
                <a:gd name="connsiteX38" fmla="*/ 5285 w 10060"/>
                <a:gd name="connsiteY38" fmla="*/ 2295 h 10149"/>
                <a:gd name="connsiteX39" fmla="*/ 5422 w 10060"/>
                <a:gd name="connsiteY39" fmla="*/ 1537 h 10149"/>
                <a:gd name="connsiteX40" fmla="*/ 5672 w 10060"/>
                <a:gd name="connsiteY40" fmla="*/ 1537 h 10149"/>
                <a:gd name="connsiteX41" fmla="*/ 6060 w 10060"/>
                <a:gd name="connsiteY41" fmla="*/ 2884 h 10149"/>
                <a:gd name="connsiteX42" fmla="*/ 6128 w 10060"/>
                <a:gd name="connsiteY42" fmla="*/ 2484 h 10149"/>
                <a:gd name="connsiteX43" fmla="*/ 6265 w 10060"/>
                <a:gd name="connsiteY43" fmla="*/ 2105 h 10149"/>
                <a:gd name="connsiteX44" fmla="*/ 6516 w 10060"/>
                <a:gd name="connsiteY44" fmla="*/ 568 h 10149"/>
                <a:gd name="connsiteX45" fmla="*/ 6651 w 10060"/>
                <a:gd name="connsiteY45" fmla="*/ 189 h 10149"/>
                <a:gd name="connsiteX46" fmla="*/ 6721 w 10060"/>
                <a:gd name="connsiteY46" fmla="*/ 0 h 10149"/>
                <a:gd name="connsiteX47" fmla="*/ 6880 w 10060"/>
                <a:gd name="connsiteY47" fmla="*/ 1137 h 10149"/>
                <a:gd name="connsiteX48" fmla="*/ 6947 w 10060"/>
                <a:gd name="connsiteY48" fmla="*/ 2884 h 10149"/>
                <a:gd name="connsiteX49" fmla="*/ 7062 w 10060"/>
                <a:gd name="connsiteY49" fmla="*/ 3832 h 10149"/>
                <a:gd name="connsiteX50" fmla="*/ 7336 w 10060"/>
                <a:gd name="connsiteY50" fmla="*/ 5579 h 10149"/>
                <a:gd name="connsiteX51" fmla="*/ 7633 w 10060"/>
                <a:gd name="connsiteY51" fmla="*/ 7874 h 10149"/>
                <a:gd name="connsiteX52" fmla="*/ 8223 w 10060"/>
                <a:gd name="connsiteY52" fmla="*/ 7684 h 10149"/>
                <a:gd name="connsiteX53" fmla="*/ 8533 w 10060"/>
                <a:gd name="connsiteY53" fmla="*/ 8283 h 10149"/>
                <a:gd name="connsiteX54" fmla="*/ 9331 w 10060"/>
                <a:gd name="connsiteY54" fmla="*/ 7574 h 10149"/>
                <a:gd name="connsiteX55" fmla="*/ 9591 w 10060"/>
                <a:gd name="connsiteY55" fmla="*/ 8084 h 10149"/>
                <a:gd name="connsiteX56" fmla="*/ 10060 w 10060"/>
                <a:gd name="connsiteY56" fmla="*/ 10149 h 1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060" h="10149">
                  <a:moveTo>
                    <a:pt x="0" y="10000"/>
                  </a:moveTo>
                  <a:cubicBezTo>
                    <a:pt x="45" y="9937"/>
                    <a:pt x="92" y="9895"/>
                    <a:pt x="137" y="9811"/>
                  </a:cubicBezTo>
                  <a:cubicBezTo>
                    <a:pt x="182" y="9705"/>
                    <a:pt x="272" y="9432"/>
                    <a:pt x="272" y="9432"/>
                  </a:cubicBezTo>
                  <a:cubicBezTo>
                    <a:pt x="309" y="8547"/>
                    <a:pt x="326" y="7874"/>
                    <a:pt x="386" y="7116"/>
                  </a:cubicBezTo>
                  <a:cubicBezTo>
                    <a:pt x="409" y="6526"/>
                    <a:pt x="508" y="4926"/>
                    <a:pt x="591" y="4800"/>
                  </a:cubicBezTo>
                  <a:cubicBezTo>
                    <a:pt x="680" y="4653"/>
                    <a:pt x="772" y="4674"/>
                    <a:pt x="865" y="4611"/>
                  </a:cubicBezTo>
                  <a:cubicBezTo>
                    <a:pt x="934" y="4232"/>
                    <a:pt x="987" y="3895"/>
                    <a:pt x="1024" y="3263"/>
                  </a:cubicBezTo>
                  <a:cubicBezTo>
                    <a:pt x="1067" y="2547"/>
                    <a:pt x="1062" y="2189"/>
                    <a:pt x="1161" y="1916"/>
                  </a:cubicBezTo>
                  <a:cubicBezTo>
                    <a:pt x="1174" y="1937"/>
                    <a:pt x="1343" y="2189"/>
                    <a:pt x="1366" y="2295"/>
                  </a:cubicBezTo>
                  <a:cubicBezTo>
                    <a:pt x="1385" y="2379"/>
                    <a:pt x="1393" y="2611"/>
                    <a:pt x="1413" y="2695"/>
                  </a:cubicBezTo>
                  <a:cubicBezTo>
                    <a:pt x="1455" y="2884"/>
                    <a:pt x="1547" y="3074"/>
                    <a:pt x="1547" y="3074"/>
                  </a:cubicBezTo>
                  <a:cubicBezTo>
                    <a:pt x="1580" y="3832"/>
                    <a:pt x="1557" y="4947"/>
                    <a:pt x="1617" y="5579"/>
                  </a:cubicBezTo>
                  <a:cubicBezTo>
                    <a:pt x="1635" y="5768"/>
                    <a:pt x="1662" y="5811"/>
                    <a:pt x="1685" y="5958"/>
                  </a:cubicBezTo>
                  <a:cubicBezTo>
                    <a:pt x="1744" y="6358"/>
                    <a:pt x="1774" y="6842"/>
                    <a:pt x="1822" y="7305"/>
                  </a:cubicBezTo>
                  <a:cubicBezTo>
                    <a:pt x="1856" y="7642"/>
                    <a:pt x="1941" y="8421"/>
                    <a:pt x="2003" y="8653"/>
                  </a:cubicBezTo>
                  <a:cubicBezTo>
                    <a:pt x="2048" y="8821"/>
                    <a:pt x="2141" y="9032"/>
                    <a:pt x="2141" y="9032"/>
                  </a:cubicBezTo>
                  <a:cubicBezTo>
                    <a:pt x="2203" y="9600"/>
                    <a:pt x="2235" y="9684"/>
                    <a:pt x="2322" y="9432"/>
                  </a:cubicBezTo>
                  <a:cubicBezTo>
                    <a:pt x="2402" y="8758"/>
                    <a:pt x="2372" y="7895"/>
                    <a:pt x="2482" y="7495"/>
                  </a:cubicBezTo>
                  <a:cubicBezTo>
                    <a:pt x="2527" y="7326"/>
                    <a:pt x="2574" y="7242"/>
                    <a:pt x="2619" y="7116"/>
                  </a:cubicBezTo>
                  <a:cubicBezTo>
                    <a:pt x="2641" y="7053"/>
                    <a:pt x="2689" y="6926"/>
                    <a:pt x="2689" y="6926"/>
                  </a:cubicBezTo>
                  <a:cubicBezTo>
                    <a:pt x="2739" y="6484"/>
                    <a:pt x="2796" y="6189"/>
                    <a:pt x="2848" y="5768"/>
                  </a:cubicBezTo>
                  <a:cubicBezTo>
                    <a:pt x="2863" y="5389"/>
                    <a:pt x="2878" y="4989"/>
                    <a:pt x="2893" y="4611"/>
                  </a:cubicBezTo>
                  <a:cubicBezTo>
                    <a:pt x="2901" y="4421"/>
                    <a:pt x="2916" y="4042"/>
                    <a:pt x="2916" y="4042"/>
                  </a:cubicBezTo>
                  <a:cubicBezTo>
                    <a:pt x="2896" y="2863"/>
                    <a:pt x="2806" y="1621"/>
                    <a:pt x="2960" y="1137"/>
                  </a:cubicBezTo>
                  <a:cubicBezTo>
                    <a:pt x="3068" y="1200"/>
                    <a:pt x="3175" y="1137"/>
                    <a:pt x="3279" y="1347"/>
                  </a:cubicBezTo>
                  <a:cubicBezTo>
                    <a:pt x="3332" y="1453"/>
                    <a:pt x="3364" y="2000"/>
                    <a:pt x="3416" y="2105"/>
                  </a:cubicBezTo>
                  <a:cubicBezTo>
                    <a:pt x="3568" y="2421"/>
                    <a:pt x="3656" y="2547"/>
                    <a:pt x="3828" y="2695"/>
                  </a:cubicBezTo>
                  <a:cubicBezTo>
                    <a:pt x="3857" y="3432"/>
                    <a:pt x="3900" y="4274"/>
                    <a:pt x="3965" y="4800"/>
                  </a:cubicBezTo>
                  <a:cubicBezTo>
                    <a:pt x="3980" y="5705"/>
                    <a:pt x="3980" y="6589"/>
                    <a:pt x="4054" y="7305"/>
                  </a:cubicBezTo>
                  <a:cubicBezTo>
                    <a:pt x="4089" y="7642"/>
                    <a:pt x="4132" y="7958"/>
                    <a:pt x="4169" y="8274"/>
                  </a:cubicBezTo>
                  <a:cubicBezTo>
                    <a:pt x="4204" y="8568"/>
                    <a:pt x="4306" y="8653"/>
                    <a:pt x="4306" y="8653"/>
                  </a:cubicBezTo>
                  <a:cubicBezTo>
                    <a:pt x="4371" y="8568"/>
                    <a:pt x="4463" y="8589"/>
                    <a:pt x="4510" y="8084"/>
                  </a:cubicBezTo>
                  <a:cubicBezTo>
                    <a:pt x="4555" y="7600"/>
                    <a:pt x="4550" y="6905"/>
                    <a:pt x="4625" y="6526"/>
                  </a:cubicBezTo>
                  <a:cubicBezTo>
                    <a:pt x="4645" y="6421"/>
                    <a:pt x="4672" y="6442"/>
                    <a:pt x="4692" y="6337"/>
                  </a:cubicBezTo>
                  <a:cubicBezTo>
                    <a:pt x="4740" y="6105"/>
                    <a:pt x="4829" y="5579"/>
                    <a:pt x="4829" y="5579"/>
                  </a:cubicBezTo>
                  <a:cubicBezTo>
                    <a:pt x="4877" y="4358"/>
                    <a:pt x="4944" y="4021"/>
                    <a:pt x="5081" y="3642"/>
                  </a:cubicBezTo>
                  <a:cubicBezTo>
                    <a:pt x="5103" y="3516"/>
                    <a:pt x="5128" y="3432"/>
                    <a:pt x="5148" y="3263"/>
                  </a:cubicBezTo>
                  <a:cubicBezTo>
                    <a:pt x="5168" y="3095"/>
                    <a:pt x="5173" y="2842"/>
                    <a:pt x="5193" y="2695"/>
                  </a:cubicBezTo>
                  <a:cubicBezTo>
                    <a:pt x="5221" y="2505"/>
                    <a:pt x="5258" y="2463"/>
                    <a:pt x="5285" y="2295"/>
                  </a:cubicBezTo>
                  <a:cubicBezTo>
                    <a:pt x="5430" y="1411"/>
                    <a:pt x="5275" y="1937"/>
                    <a:pt x="5422" y="1537"/>
                  </a:cubicBezTo>
                  <a:cubicBezTo>
                    <a:pt x="5507" y="779"/>
                    <a:pt x="5569" y="1242"/>
                    <a:pt x="5672" y="1537"/>
                  </a:cubicBezTo>
                  <a:cubicBezTo>
                    <a:pt x="5764" y="2274"/>
                    <a:pt x="5936" y="2547"/>
                    <a:pt x="6060" y="2884"/>
                  </a:cubicBezTo>
                  <a:cubicBezTo>
                    <a:pt x="6083" y="2758"/>
                    <a:pt x="6103" y="2589"/>
                    <a:pt x="6128" y="2484"/>
                  </a:cubicBezTo>
                  <a:cubicBezTo>
                    <a:pt x="6172" y="2316"/>
                    <a:pt x="6265" y="2105"/>
                    <a:pt x="6265" y="2105"/>
                  </a:cubicBezTo>
                  <a:cubicBezTo>
                    <a:pt x="6359" y="1305"/>
                    <a:pt x="6399" y="1011"/>
                    <a:pt x="6516" y="568"/>
                  </a:cubicBezTo>
                  <a:cubicBezTo>
                    <a:pt x="6559" y="400"/>
                    <a:pt x="6606" y="316"/>
                    <a:pt x="6651" y="189"/>
                  </a:cubicBezTo>
                  <a:cubicBezTo>
                    <a:pt x="6673" y="126"/>
                    <a:pt x="6721" y="0"/>
                    <a:pt x="6721" y="0"/>
                  </a:cubicBezTo>
                  <a:cubicBezTo>
                    <a:pt x="6808" y="253"/>
                    <a:pt x="6830" y="484"/>
                    <a:pt x="6880" y="1137"/>
                  </a:cubicBezTo>
                  <a:cubicBezTo>
                    <a:pt x="6932" y="2484"/>
                    <a:pt x="6910" y="1916"/>
                    <a:pt x="6947" y="2884"/>
                  </a:cubicBezTo>
                  <a:cubicBezTo>
                    <a:pt x="6965" y="3305"/>
                    <a:pt x="7025" y="3516"/>
                    <a:pt x="7062" y="3832"/>
                  </a:cubicBezTo>
                  <a:cubicBezTo>
                    <a:pt x="7144" y="4526"/>
                    <a:pt x="7227" y="5284"/>
                    <a:pt x="7336" y="5579"/>
                  </a:cubicBezTo>
                  <a:cubicBezTo>
                    <a:pt x="7411" y="6526"/>
                    <a:pt x="7503" y="7516"/>
                    <a:pt x="7633" y="7874"/>
                  </a:cubicBezTo>
                  <a:cubicBezTo>
                    <a:pt x="7887" y="7705"/>
                    <a:pt x="7982" y="7474"/>
                    <a:pt x="8223" y="7684"/>
                  </a:cubicBezTo>
                  <a:cubicBezTo>
                    <a:pt x="8306" y="8379"/>
                    <a:pt x="8415" y="7967"/>
                    <a:pt x="8533" y="8283"/>
                  </a:cubicBezTo>
                  <a:cubicBezTo>
                    <a:pt x="8744" y="8220"/>
                    <a:pt x="9120" y="7721"/>
                    <a:pt x="9331" y="7574"/>
                  </a:cubicBezTo>
                  <a:cubicBezTo>
                    <a:pt x="9507" y="7541"/>
                    <a:pt x="9480" y="7967"/>
                    <a:pt x="9591" y="8084"/>
                  </a:cubicBezTo>
                  <a:cubicBezTo>
                    <a:pt x="9985" y="8274"/>
                    <a:pt x="9908" y="10149"/>
                    <a:pt x="10060" y="10149"/>
                  </a:cubicBezTo>
                </a:path>
              </a:pathLst>
            </a:custGeom>
            <a:grpFill/>
            <a:ln w="12700" cap="flat" cmpd="sng">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fr-FR">
                <a:ln w="0"/>
                <a:effectLst>
                  <a:outerShdw blurRad="38100" dist="25400" dir="5400000" algn="ctr" rotWithShape="0">
                    <a:srgbClr val="6E747A">
                      <a:alpha val="43000"/>
                    </a:srgbClr>
                  </a:outerShdw>
                </a:effectLst>
              </a:endParaRPr>
            </a:p>
          </p:txBody>
        </p:sp>
        <p:grpSp>
          <p:nvGrpSpPr>
            <p:cNvPr id="14" name="Group 12"/>
            <p:cNvGrpSpPr>
              <a:grpSpLocks/>
            </p:cNvGrpSpPr>
            <p:nvPr/>
          </p:nvGrpSpPr>
          <p:grpSpPr bwMode="auto">
            <a:xfrm>
              <a:off x="1309" y="3254"/>
              <a:ext cx="2681" cy="534"/>
              <a:chOff x="1400" y="2669"/>
              <a:chExt cx="2681" cy="534"/>
            </a:xfrm>
            <a:grpFill/>
          </p:grpSpPr>
          <p:sp>
            <p:nvSpPr>
              <p:cNvPr id="15" name="Text Box 13"/>
              <p:cNvSpPr txBox="1">
                <a:spLocks noChangeArrowheads="1"/>
              </p:cNvSpPr>
              <p:nvPr/>
            </p:nvSpPr>
            <p:spPr bwMode="auto">
              <a:xfrm>
                <a:off x="1400" y="2991"/>
                <a:ext cx="563" cy="212"/>
              </a:xfrm>
              <a:prstGeom prst="rect">
                <a:avLst/>
              </a:prstGeom>
              <a:no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spAutoFit/>
              </a:bodyPr>
              <a:lstStyle/>
              <a:p>
                <a:pPr algn="l"/>
                <a:r>
                  <a:rPr lang="fr-CA" sz="1600" i="0">
                    <a:ln w="0"/>
                    <a:effectLst>
                      <a:outerShdw blurRad="38100" dist="25400" dir="5400000" algn="ctr" rotWithShape="0">
                        <a:srgbClr val="6E747A">
                          <a:alpha val="43000"/>
                        </a:srgbClr>
                      </a:outerShdw>
                    </a:effectLst>
                  </a:rPr>
                  <a:t>pannes</a:t>
                </a:r>
              </a:p>
            </p:txBody>
          </p:sp>
          <p:sp>
            <p:nvSpPr>
              <p:cNvPr id="16" name="Text Box 14"/>
              <p:cNvSpPr txBox="1">
                <a:spLocks noChangeArrowheads="1"/>
              </p:cNvSpPr>
              <p:nvPr/>
            </p:nvSpPr>
            <p:spPr bwMode="auto">
              <a:xfrm>
                <a:off x="3233" y="2669"/>
                <a:ext cx="848" cy="368"/>
              </a:xfrm>
              <a:prstGeom prst="rect">
                <a:avLst/>
              </a:prstGeom>
              <a:no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r>
                  <a:rPr lang="fr-CA" sz="1600" i="0">
                    <a:ln w="0"/>
                    <a:effectLst>
                      <a:outerShdw blurRad="38100" dist="25400" dir="5400000" algn="ctr" rotWithShape="0">
                        <a:srgbClr val="6E747A">
                          <a:alpha val="43000"/>
                        </a:srgbClr>
                      </a:outerShdw>
                    </a:effectLst>
                  </a:rPr>
                  <a:t>unités </a:t>
                </a:r>
              </a:p>
              <a:p>
                <a:r>
                  <a:rPr lang="fr-CA" sz="1600" i="0">
                    <a:ln w="0"/>
                    <a:effectLst>
                      <a:outerShdw blurRad="38100" dist="25400" dir="5400000" algn="ctr" rotWithShape="0">
                        <a:srgbClr val="6E747A">
                          <a:alpha val="43000"/>
                        </a:srgbClr>
                      </a:outerShdw>
                    </a:effectLst>
                  </a:rPr>
                  <a:t>défectueuses</a:t>
                </a:r>
              </a:p>
            </p:txBody>
          </p:sp>
          <p:sp>
            <p:nvSpPr>
              <p:cNvPr id="17" name="Text Box 15"/>
              <p:cNvSpPr txBox="1">
                <a:spLocks noChangeArrowheads="1"/>
              </p:cNvSpPr>
              <p:nvPr/>
            </p:nvSpPr>
            <p:spPr bwMode="auto">
              <a:xfrm>
                <a:off x="2336" y="2989"/>
                <a:ext cx="509" cy="213"/>
              </a:xfrm>
              <a:prstGeom prst="rect">
                <a:avLst/>
              </a:prstGeom>
              <a:noFill/>
              <a:ln>
                <a:noFill/>
              </a:ln>
              <a:effectLst/>
              <a:extLs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pPr algn="l"/>
                <a:r>
                  <a:rPr lang="fr-CA" sz="1600" i="0">
                    <a:ln w="0"/>
                    <a:effectLst>
                      <a:outerShdw blurRad="38100" dist="25400" dir="5400000" algn="ctr" rotWithShape="0">
                        <a:srgbClr val="6E747A">
                          <a:alpha val="43000"/>
                        </a:srgbClr>
                      </a:outerShdw>
                    </a:effectLst>
                  </a:rPr>
                  <a:t>retards</a:t>
                </a:r>
              </a:p>
            </p:txBody>
          </p:sp>
        </p:grpSp>
      </p:grpSp>
      <p:sp>
        <p:nvSpPr>
          <p:cNvPr id="25" name="Text Box 18"/>
          <p:cNvSpPr txBox="1">
            <a:spLocks noChangeArrowheads="1"/>
          </p:cNvSpPr>
          <p:nvPr/>
        </p:nvSpPr>
        <p:spPr bwMode="auto">
          <a:xfrm>
            <a:off x="7216775" y="5379277"/>
            <a:ext cx="1111251" cy="6415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spAutoFit/>
          </a:bodyPr>
          <a:lstStyle/>
          <a:p>
            <a:r>
              <a:rPr lang="fr-CA" sz="1800" b="1" i="0"/>
              <a:t>Niveau </a:t>
            </a:r>
          </a:p>
          <a:p>
            <a:r>
              <a:rPr lang="fr-CA" sz="1800" b="1" i="0"/>
              <a:t>de stock</a:t>
            </a:r>
          </a:p>
        </p:txBody>
      </p:sp>
    </p:spTree>
    <p:extLst>
      <p:ext uri="{BB962C8B-B14F-4D97-AF65-F5344CB8AC3E}">
        <p14:creationId xmlns:p14="http://schemas.microsoft.com/office/powerpoint/2010/main" val="2155425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6F5B9-F247-41AC-B0A7-9C8667633327}"/>
              </a:ext>
            </a:extLst>
          </p:cNvPr>
          <p:cNvSpPr>
            <a:spLocks noGrp="1"/>
          </p:cNvSpPr>
          <p:nvPr>
            <p:ph type="title"/>
          </p:nvPr>
        </p:nvSpPr>
        <p:spPr/>
        <p:txBody>
          <a:bodyPr/>
          <a:lstStyle/>
          <a:p>
            <a:r>
              <a:rPr lang="fr-FR"/>
              <a:t>Variation du stock</a:t>
            </a:r>
          </a:p>
        </p:txBody>
      </p:sp>
      <p:sp>
        <p:nvSpPr>
          <p:cNvPr id="3" name="Espace réservé du numéro de diapositive 2">
            <a:extLst>
              <a:ext uri="{FF2B5EF4-FFF2-40B4-BE49-F238E27FC236}">
                <a16:creationId xmlns:a16="http://schemas.microsoft.com/office/drawing/2014/main" id="{C82A9105-B382-4C18-99AE-A569B0996D7E}"/>
              </a:ext>
            </a:extLst>
          </p:cNvPr>
          <p:cNvSpPr>
            <a:spLocks noGrp="1"/>
          </p:cNvSpPr>
          <p:nvPr>
            <p:ph type="sldNum" sz="quarter" idx="10"/>
          </p:nvPr>
        </p:nvSpPr>
        <p:spPr/>
        <p:txBody>
          <a:bodyPr>
            <a:normAutofit fontScale="92500" lnSpcReduction="10000"/>
          </a:bodyPr>
          <a:lstStyle/>
          <a:p>
            <a:fld id="{BD146C00-CF3E-4938-A2C5-B6969EAD70D4}" type="slidenum">
              <a:rPr lang="fr-FR" smtClean="0"/>
              <a:pPr/>
              <a:t>10</a:t>
            </a:fld>
            <a:endParaRPr lang="fr-FR"/>
          </a:p>
        </p:txBody>
      </p:sp>
      <p:sp>
        <p:nvSpPr>
          <p:cNvPr id="4" name="Espace réservé du texte 3">
            <a:extLst>
              <a:ext uri="{FF2B5EF4-FFF2-40B4-BE49-F238E27FC236}">
                <a16:creationId xmlns:a16="http://schemas.microsoft.com/office/drawing/2014/main" id="{00E505C7-BC75-4DCF-A4CD-6A9AF661A260}"/>
              </a:ext>
            </a:extLst>
          </p:cNvPr>
          <p:cNvSpPr>
            <a:spLocks noGrp="1"/>
          </p:cNvSpPr>
          <p:nvPr>
            <p:ph type="body" sz="quarter" idx="12"/>
          </p:nvPr>
        </p:nvSpPr>
        <p:spPr>
          <a:xfrm>
            <a:off x="611561" y="5220347"/>
            <a:ext cx="8136904" cy="1449013"/>
          </a:xfrm>
        </p:spPr>
        <p:txBody>
          <a:bodyPr/>
          <a:lstStyle/>
          <a:p>
            <a:r>
              <a:rPr lang="fr-FR" b="1"/>
              <a:t>Stock dormant = </a:t>
            </a:r>
            <a:r>
              <a:rPr lang="fr-FR"/>
              <a:t>Stock de sécurité</a:t>
            </a:r>
          </a:p>
          <a:p>
            <a:r>
              <a:rPr lang="fr-FR" b="1"/>
              <a:t>Stock actif = </a:t>
            </a:r>
            <a:r>
              <a:rPr lang="fr-FR"/>
              <a:t>stock consommé et réapprovisionné, centré sur le stock moyen</a:t>
            </a:r>
          </a:p>
        </p:txBody>
      </p:sp>
      <p:pic>
        <p:nvPicPr>
          <p:cNvPr id="5" name="Image 4">
            <a:extLst>
              <a:ext uri="{FF2B5EF4-FFF2-40B4-BE49-F238E27FC236}">
                <a16:creationId xmlns:a16="http://schemas.microsoft.com/office/drawing/2014/main" id="{F04569DF-1991-4DDB-A5C9-F9848D40305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14886" y="1648368"/>
            <a:ext cx="7457330" cy="3460158"/>
          </a:xfrm>
          <a:prstGeom prst="rect">
            <a:avLst/>
          </a:prstGeom>
          <a:noFill/>
        </p:spPr>
      </p:pic>
    </p:spTree>
    <p:extLst>
      <p:ext uri="{BB962C8B-B14F-4D97-AF65-F5344CB8AC3E}">
        <p14:creationId xmlns:p14="http://schemas.microsoft.com/office/powerpoint/2010/main" val="2340176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9167A9-D48F-49F1-9129-B37E9D18B4C9}"/>
              </a:ext>
            </a:extLst>
          </p:cNvPr>
          <p:cNvSpPr>
            <a:spLocks noGrp="1"/>
          </p:cNvSpPr>
          <p:nvPr>
            <p:ph type="title"/>
          </p:nvPr>
        </p:nvSpPr>
        <p:spPr>
          <a:xfrm>
            <a:off x="609600" y="228600"/>
            <a:ext cx="6842720" cy="990600"/>
          </a:xfrm>
        </p:spPr>
        <p:txBody>
          <a:bodyPr/>
          <a:lstStyle/>
          <a:p>
            <a:r>
              <a:rPr lang="fr-FR"/>
              <a:t>Le coût des stocks</a:t>
            </a:r>
          </a:p>
        </p:txBody>
      </p:sp>
      <p:sp>
        <p:nvSpPr>
          <p:cNvPr id="3" name="Espace réservé du numéro de diapositive 2">
            <a:extLst>
              <a:ext uri="{FF2B5EF4-FFF2-40B4-BE49-F238E27FC236}">
                <a16:creationId xmlns:a16="http://schemas.microsoft.com/office/drawing/2014/main" id="{3B6EBD7B-099D-4D11-87E4-052778EAAEC7}"/>
              </a:ext>
            </a:extLst>
          </p:cNvPr>
          <p:cNvSpPr>
            <a:spLocks noGrp="1"/>
          </p:cNvSpPr>
          <p:nvPr>
            <p:ph type="sldNum" sz="quarter" idx="10"/>
          </p:nvPr>
        </p:nvSpPr>
        <p:spPr/>
        <p:txBody>
          <a:bodyPr>
            <a:normAutofit fontScale="92500" lnSpcReduction="10000"/>
          </a:bodyPr>
          <a:lstStyle/>
          <a:p>
            <a:fld id="{BD146C00-CF3E-4938-A2C5-B6969EAD70D4}" type="slidenum">
              <a:rPr lang="fr-FR" smtClean="0"/>
              <a:pPr/>
              <a:t>11</a:t>
            </a:fld>
            <a:endParaRPr lang="fr-FR"/>
          </a:p>
        </p:txBody>
      </p:sp>
      <p:sp>
        <p:nvSpPr>
          <p:cNvPr id="4" name="Espace réservé du texte 3">
            <a:extLst>
              <a:ext uri="{FF2B5EF4-FFF2-40B4-BE49-F238E27FC236}">
                <a16:creationId xmlns:a16="http://schemas.microsoft.com/office/drawing/2014/main" id="{3F4CFDE5-062D-409E-9937-160EDCA46915}"/>
              </a:ext>
            </a:extLst>
          </p:cNvPr>
          <p:cNvSpPr>
            <a:spLocks noGrp="1"/>
          </p:cNvSpPr>
          <p:nvPr>
            <p:ph type="body" sz="quarter" idx="12"/>
          </p:nvPr>
        </p:nvSpPr>
        <p:spPr>
          <a:xfrm>
            <a:off x="3986935" y="1628775"/>
            <a:ext cx="4761530" cy="4824413"/>
          </a:xfrm>
        </p:spPr>
        <p:txBody>
          <a:bodyPr>
            <a:normAutofit fontScale="92500" lnSpcReduction="10000"/>
          </a:bodyPr>
          <a:lstStyle/>
          <a:p>
            <a:pPr lvl="1"/>
            <a:r>
              <a:rPr lang="fr-FR" u="sng"/>
              <a:t>Coût de passation de commande</a:t>
            </a:r>
          </a:p>
          <a:p>
            <a:pPr lvl="2"/>
            <a:r>
              <a:rPr lang="fr-FR"/>
              <a:t>Prépa cde et émission</a:t>
            </a:r>
          </a:p>
          <a:p>
            <a:pPr lvl="2"/>
            <a:r>
              <a:rPr lang="fr-FR"/>
              <a:t>Visite fournisseur</a:t>
            </a:r>
          </a:p>
          <a:p>
            <a:pPr lvl="2"/>
            <a:r>
              <a:rPr lang="fr-FR"/>
              <a:t>Contrôle livraison</a:t>
            </a:r>
          </a:p>
          <a:p>
            <a:pPr lvl="2"/>
            <a:r>
              <a:rPr lang="fr-FR"/>
              <a:t>Emmagasinage compta matière</a:t>
            </a:r>
          </a:p>
          <a:p>
            <a:pPr lvl="2"/>
            <a:r>
              <a:rPr lang="fr-FR"/>
              <a:t>Frais informatique </a:t>
            </a:r>
          </a:p>
          <a:p>
            <a:pPr lvl="2"/>
            <a:r>
              <a:rPr lang="fr-FR"/>
              <a:t>…</a:t>
            </a:r>
          </a:p>
          <a:p>
            <a:pPr lvl="1"/>
            <a:r>
              <a:rPr lang="fr-FR" u="sng"/>
              <a:t>Coût de possession du stock</a:t>
            </a:r>
          </a:p>
          <a:p>
            <a:pPr lvl="2"/>
            <a:r>
              <a:rPr lang="fr-FR"/>
              <a:t>T : taux de possession de 1€ pdt 1 an.</a:t>
            </a:r>
          </a:p>
          <a:p>
            <a:pPr lvl="2"/>
            <a:r>
              <a:rPr lang="fr-FR"/>
              <a:t>0,15 &lt; T &lt; 0,35</a:t>
            </a:r>
          </a:p>
          <a:p>
            <a:pPr lvl="1"/>
            <a:r>
              <a:rPr lang="fr-FR" u="sng"/>
              <a:t>Coût de rupture ou de pénurie</a:t>
            </a:r>
          </a:p>
          <a:p>
            <a:pPr lvl="2"/>
            <a:r>
              <a:rPr lang="fr-FR"/>
              <a:t>Demande externe :</a:t>
            </a:r>
          </a:p>
          <a:p>
            <a:pPr lvl="3"/>
            <a:r>
              <a:rPr lang="fr-FR"/>
              <a:t>Pénalités</a:t>
            </a:r>
          </a:p>
          <a:p>
            <a:pPr lvl="3"/>
            <a:r>
              <a:rPr lang="fr-FR"/>
              <a:t>Manque à gagner</a:t>
            </a:r>
          </a:p>
          <a:p>
            <a:pPr lvl="2"/>
            <a:r>
              <a:rPr lang="fr-FR"/>
              <a:t>Demande interne :</a:t>
            </a:r>
          </a:p>
          <a:p>
            <a:pPr lvl="3"/>
            <a:r>
              <a:rPr lang="fr-FR"/>
              <a:t>arrêt de la production</a:t>
            </a:r>
          </a:p>
          <a:p>
            <a:pPr lvl="2"/>
            <a:endParaRPr lang="fr-FR"/>
          </a:p>
          <a:p>
            <a:pPr lvl="2"/>
            <a:endParaRPr lang="fr-FR"/>
          </a:p>
          <a:p>
            <a:pPr lvl="2"/>
            <a:endParaRPr lang="fr-FR"/>
          </a:p>
        </p:txBody>
      </p:sp>
      <p:sp>
        <p:nvSpPr>
          <p:cNvPr id="5" name="ZoneTexte 4">
            <a:extLst>
              <a:ext uri="{FF2B5EF4-FFF2-40B4-BE49-F238E27FC236}">
                <a16:creationId xmlns:a16="http://schemas.microsoft.com/office/drawing/2014/main" id="{3044E30B-ACB1-4B40-9344-86F21246CC05}"/>
              </a:ext>
            </a:extLst>
          </p:cNvPr>
          <p:cNvSpPr txBox="1"/>
          <p:nvPr/>
        </p:nvSpPr>
        <p:spPr>
          <a:xfrm>
            <a:off x="836585" y="3717815"/>
            <a:ext cx="2404120" cy="646331"/>
          </a:xfrm>
          <a:prstGeom prst="rect">
            <a:avLst/>
          </a:prstGeom>
          <a:noFill/>
        </p:spPr>
        <p:txBody>
          <a:bodyPr wrap="none" rtlCol="0">
            <a:spAutoFit/>
          </a:bodyPr>
          <a:lstStyle/>
          <a:p>
            <a:r>
              <a:rPr lang="fr-FR" b="1"/>
              <a:t>Décomposition du coût</a:t>
            </a:r>
          </a:p>
          <a:p>
            <a:endParaRPr lang="en-GB" b="1"/>
          </a:p>
        </p:txBody>
      </p:sp>
      <p:sp>
        <p:nvSpPr>
          <p:cNvPr id="6" name="Accolade ouvrante 5">
            <a:extLst>
              <a:ext uri="{FF2B5EF4-FFF2-40B4-BE49-F238E27FC236}">
                <a16:creationId xmlns:a16="http://schemas.microsoft.com/office/drawing/2014/main" id="{98744114-A8A4-48B6-95F3-95DA1FD52EF0}"/>
              </a:ext>
            </a:extLst>
          </p:cNvPr>
          <p:cNvSpPr/>
          <p:nvPr/>
        </p:nvSpPr>
        <p:spPr>
          <a:xfrm>
            <a:off x="3702625" y="1628775"/>
            <a:ext cx="585065" cy="482441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41189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a:solidFill>
                  <a:schemeClr val="tx1">
                    <a:lumMod val="75000"/>
                    <a:lumOff val="25000"/>
                  </a:schemeClr>
                </a:solidFill>
              </a:rPr>
              <a:t>Quantités économiques</a:t>
            </a:r>
          </a:p>
        </p:txBody>
      </p:sp>
      <p:sp>
        <p:nvSpPr>
          <p:cNvPr id="7" name="Espace réservé du numéro de diapositive 6"/>
          <p:cNvSpPr>
            <a:spLocks noGrp="1"/>
          </p:cNvSpPr>
          <p:nvPr>
            <p:ph type="sldNum" sz="quarter" idx="10"/>
          </p:nvPr>
        </p:nvSpPr>
        <p:spPr/>
        <p:txBody>
          <a:bodyPr>
            <a:normAutofit fontScale="92500" lnSpcReduction="10000"/>
          </a:bodyPr>
          <a:lstStyle/>
          <a:p>
            <a:fld id="{F7B67468-3DD6-CA41-BD75-5A7705468539}" type="slidenum">
              <a:rPr lang="fr-FR" smtClean="0"/>
              <a:t>12</a:t>
            </a:fld>
            <a:endParaRPr lang="fr-FR"/>
          </a:p>
        </p:txBody>
      </p:sp>
      <p:sp>
        <p:nvSpPr>
          <p:cNvPr id="2" name="Espace réservé du contenu 1"/>
          <p:cNvSpPr>
            <a:spLocks noGrp="1"/>
          </p:cNvSpPr>
          <p:nvPr>
            <p:ph type="body" sz="quarter" idx="12"/>
          </p:nvPr>
        </p:nvSpPr>
        <p:spPr>
          <a:xfrm>
            <a:off x="590325" y="1804987"/>
            <a:ext cx="8136904" cy="4824413"/>
          </a:xfrm>
        </p:spPr>
        <p:txBody>
          <a:bodyPr/>
          <a:lstStyle/>
          <a:p>
            <a:pPr marL="0" indent="0" algn="ctr">
              <a:buNone/>
            </a:pPr>
            <a:r>
              <a:rPr lang="fr-FR" b="1">
                <a:solidFill>
                  <a:srgbClr val="F76D00"/>
                </a:solidFill>
              </a:rPr>
              <a:t>Objectif : minimiser le coût du stock</a:t>
            </a:r>
          </a:p>
          <a:p>
            <a:endParaRPr lang="fr-FR"/>
          </a:p>
          <a:p>
            <a:r>
              <a:rPr lang="fr-FR"/>
              <a:t>Contradiction : </a:t>
            </a:r>
          </a:p>
          <a:p>
            <a:pPr marL="0" indent="0">
              <a:buNone/>
            </a:pPr>
            <a:r>
              <a:rPr lang="fr-FR"/>
              <a:t>Coût de </a:t>
            </a:r>
            <a:r>
              <a:rPr lang="fr-FR" b="1"/>
              <a:t>possession</a:t>
            </a:r>
            <a:r>
              <a:rPr lang="fr-FR"/>
              <a:t> et coût d’</a:t>
            </a:r>
            <a:r>
              <a:rPr lang="fr-FR" b="1"/>
              <a:t>acquisition</a:t>
            </a:r>
            <a:r>
              <a:rPr lang="fr-FR"/>
              <a:t> sont contradictoires</a:t>
            </a:r>
          </a:p>
          <a:p>
            <a:pPr lvl="1"/>
            <a:endParaRPr lang="fr-FR"/>
          </a:p>
          <a:p>
            <a:pPr lvl="1"/>
            <a:r>
              <a:rPr lang="fr-FR"/>
              <a:t>Commander peu mais souvent </a:t>
            </a:r>
          </a:p>
          <a:p>
            <a:pPr lvl="2"/>
            <a:r>
              <a:rPr lang="fr-FR"/>
              <a:t>Faible coût de possession mais coût d’acquisition important</a:t>
            </a:r>
          </a:p>
          <a:p>
            <a:pPr lvl="2"/>
            <a:endParaRPr lang="fr-FR"/>
          </a:p>
          <a:p>
            <a:pPr lvl="1"/>
            <a:r>
              <a:rPr lang="fr-FR"/>
              <a:t>Commander beaucoup mais rarement</a:t>
            </a:r>
          </a:p>
          <a:p>
            <a:pPr lvl="2"/>
            <a:r>
              <a:rPr lang="fr-FR"/>
              <a:t>Coût de possession important mais coût d’acquisition faible</a:t>
            </a:r>
          </a:p>
        </p:txBody>
      </p:sp>
    </p:spTree>
    <p:extLst>
      <p:ext uri="{BB962C8B-B14F-4D97-AF65-F5344CB8AC3E}">
        <p14:creationId xmlns:p14="http://schemas.microsoft.com/office/powerpoint/2010/main" val="3709350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normAutofit/>
          </a:bodyPr>
          <a:lstStyle/>
          <a:p>
            <a:r>
              <a:rPr lang="fr-FR">
                <a:solidFill>
                  <a:schemeClr val="tx1">
                    <a:lumMod val="75000"/>
                    <a:lumOff val="25000"/>
                  </a:schemeClr>
                </a:solidFill>
                <a:cs typeface="Candara"/>
              </a:rPr>
              <a:t>Formule de Wilson [1]</a:t>
            </a:r>
            <a:endParaRPr lang="fr-FR">
              <a:solidFill>
                <a:schemeClr val="tx1">
                  <a:lumMod val="75000"/>
                  <a:lumOff val="25000"/>
                </a:schemeClr>
              </a:solidFill>
              <a:latin typeface="Candara"/>
              <a:cs typeface="Candara"/>
            </a:endParaRPr>
          </a:p>
        </p:txBody>
      </p:sp>
      <p:sp>
        <p:nvSpPr>
          <p:cNvPr id="5" name="Espace réservé du numéro de diapositive 4"/>
          <p:cNvSpPr>
            <a:spLocks noGrp="1"/>
          </p:cNvSpPr>
          <p:nvPr>
            <p:ph type="sldNum" sz="quarter" idx="10"/>
          </p:nvPr>
        </p:nvSpPr>
        <p:spPr/>
        <p:txBody>
          <a:bodyPr>
            <a:normAutofit fontScale="92500" lnSpcReduction="10000"/>
          </a:bodyPr>
          <a:lstStyle/>
          <a:p>
            <a:fld id="{F7B67468-3DD6-CA41-BD75-5A7705468539}" type="slidenum">
              <a:rPr lang="fr-FR" smtClean="0"/>
              <a:t>13</a:t>
            </a:fld>
            <a:endParaRPr lang="fr-FR"/>
          </a:p>
        </p:txBody>
      </p:sp>
      <p:sp>
        <p:nvSpPr>
          <p:cNvPr id="45058" name="Rectangle 3"/>
          <p:cNvSpPr>
            <a:spLocks noGrp="1" noChangeArrowheads="1"/>
          </p:cNvSpPr>
          <p:nvPr>
            <p:ph type="body" sz="quarter" idx="12"/>
          </p:nvPr>
        </p:nvSpPr>
        <p:spPr/>
        <p:txBody>
          <a:bodyPr/>
          <a:lstStyle/>
          <a:p>
            <a:pPr marL="0" indent="0" algn="ctr">
              <a:buSzPct val="80000"/>
              <a:buNone/>
            </a:pPr>
            <a:r>
              <a:rPr lang="fr-FR" b="1">
                <a:solidFill>
                  <a:srgbClr val="F76D00"/>
                </a:solidFill>
              </a:rPr>
              <a:t>Objectif : compromis entre </a:t>
            </a:r>
            <a:br>
              <a:rPr lang="fr-FR" b="1">
                <a:solidFill>
                  <a:srgbClr val="F76D00"/>
                </a:solidFill>
              </a:rPr>
            </a:br>
            <a:r>
              <a:rPr lang="fr-FR" b="1">
                <a:solidFill>
                  <a:srgbClr val="F76D00"/>
                </a:solidFill>
              </a:rPr>
              <a:t>le coût d'acquisition et le coût de possession</a:t>
            </a:r>
          </a:p>
          <a:p>
            <a:endParaRPr lang="fr-FR">
              <a:latin typeface="Candara"/>
              <a:cs typeface="Candara"/>
            </a:endParaRPr>
          </a:p>
          <a:p>
            <a:r>
              <a:rPr lang="fr-FR">
                <a:cs typeface="Candara"/>
              </a:rPr>
              <a:t>Hypothèses</a:t>
            </a:r>
          </a:p>
          <a:p>
            <a:pPr lvl="1"/>
            <a:r>
              <a:rPr lang="fr-FR">
                <a:cs typeface="Candara"/>
              </a:rPr>
              <a:t>Coût d'acquisition proportionnel au nombre de commandes</a:t>
            </a:r>
          </a:p>
          <a:p>
            <a:pPr lvl="1"/>
            <a:r>
              <a:rPr lang="fr-FR">
                <a:cs typeface="Candara"/>
              </a:rPr>
              <a:t>Coût de possession proportionnel au stock moyen</a:t>
            </a:r>
          </a:p>
          <a:p>
            <a:pPr lvl="1"/>
            <a:r>
              <a:rPr lang="fr-FR">
                <a:cs typeface="Candara"/>
              </a:rPr>
              <a:t>Consommation continue (proportionnelle au temps)</a:t>
            </a:r>
          </a:p>
          <a:p>
            <a:pPr lvl="1"/>
            <a:r>
              <a:rPr lang="fr-FR">
                <a:cs typeface="Candara"/>
              </a:rPr>
              <a:t>Livraisons parfaitement planifiées</a:t>
            </a:r>
          </a:p>
          <a:p>
            <a:pPr lvl="1"/>
            <a:r>
              <a:rPr lang="fr-FR">
                <a:cs typeface="Candara"/>
                <a:sym typeface="Wingdings"/>
              </a:rPr>
              <a:t>Pas de stock de sécurité</a:t>
            </a:r>
            <a:endParaRPr lang="fr-FR">
              <a:cs typeface="Candara"/>
            </a:endParaRPr>
          </a:p>
          <a:p>
            <a:pPr lvl="1"/>
            <a:endParaRPr lang="fr-FR">
              <a:latin typeface="Candara"/>
              <a:ea typeface="Times New Roman" charset="0"/>
              <a:cs typeface="Candara"/>
            </a:endParaRPr>
          </a:p>
        </p:txBody>
      </p:sp>
    </p:spTree>
    <p:extLst>
      <p:ext uri="{BB962C8B-B14F-4D97-AF65-F5344CB8AC3E}">
        <p14:creationId xmlns:p14="http://schemas.microsoft.com/office/powerpoint/2010/main" val="2314031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5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5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026"/>
          <p:cNvSpPr>
            <a:spLocks noGrp="1" noChangeArrowheads="1"/>
          </p:cNvSpPr>
          <p:nvPr>
            <p:ph type="title"/>
          </p:nvPr>
        </p:nvSpPr>
        <p:spPr/>
        <p:txBody>
          <a:bodyPr/>
          <a:lstStyle/>
          <a:p>
            <a:r>
              <a:rPr lang="fr-FR">
                <a:solidFill>
                  <a:schemeClr val="tx1">
                    <a:lumMod val="75000"/>
                    <a:lumOff val="25000"/>
                  </a:schemeClr>
                </a:solidFill>
                <a:cs typeface="Candara"/>
              </a:rPr>
              <a:t>Formule de Wilson [2]</a:t>
            </a:r>
            <a:endParaRPr lang="fr-FR">
              <a:latin typeface="Arial" charset="0"/>
              <a:cs typeface="ＭＳ Ｐゴシック" charset="0"/>
            </a:endParaRPr>
          </a:p>
        </p:txBody>
      </p:sp>
      <p:sp>
        <p:nvSpPr>
          <p:cNvPr id="6" name="Espace réservé du numéro de diapositive 5"/>
          <p:cNvSpPr>
            <a:spLocks noGrp="1"/>
          </p:cNvSpPr>
          <p:nvPr>
            <p:ph type="sldNum" sz="quarter" idx="10"/>
          </p:nvPr>
        </p:nvSpPr>
        <p:spPr/>
        <p:txBody>
          <a:bodyPr>
            <a:normAutofit fontScale="92500" lnSpcReduction="10000"/>
          </a:bodyPr>
          <a:lstStyle/>
          <a:p>
            <a:fld id="{F7B67468-3DD6-CA41-BD75-5A7705468539}" type="slidenum">
              <a:rPr lang="fr-FR" smtClean="0"/>
              <a:t>14</a:t>
            </a:fld>
            <a:endParaRPr lang="fr-FR"/>
          </a:p>
        </p:txBody>
      </p:sp>
      <p:sp>
        <p:nvSpPr>
          <p:cNvPr id="46082" name="Rectangle 1027"/>
          <p:cNvSpPr>
            <a:spLocks noGrp="1" noChangeArrowheads="1"/>
          </p:cNvSpPr>
          <p:nvPr>
            <p:ph type="body" sz="quarter" idx="12"/>
          </p:nvPr>
        </p:nvSpPr>
        <p:spPr/>
        <p:txBody>
          <a:bodyPr/>
          <a:lstStyle/>
          <a:p>
            <a:r>
              <a:rPr lang="fr-FR">
                <a:cs typeface="Candara"/>
              </a:rPr>
              <a:t>Conséquences</a:t>
            </a:r>
          </a:p>
          <a:p>
            <a:pPr lvl="1"/>
            <a:r>
              <a:rPr lang="fr-FR">
                <a:ea typeface="Times New Roman" charset="0"/>
                <a:cs typeface="Candara"/>
              </a:rPr>
              <a:t>Évolution du stock entre 0 et </a:t>
            </a:r>
            <a:r>
              <a:rPr lang="fr-FR" i="1">
                <a:ea typeface="Times New Roman" charset="0"/>
                <a:cs typeface="Candara"/>
              </a:rPr>
              <a:t>Q</a:t>
            </a:r>
            <a:r>
              <a:rPr lang="fr-FR">
                <a:ea typeface="Times New Roman" charset="0"/>
                <a:cs typeface="Candara"/>
              </a:rPr>
              <a:t> (quantité reçue à chaque livraison)</a:t>
            </a:r>
          </a:p>
          <a:p>
            <a:pPr lvl="1"/>
            <a:r>
              <a:rPr lang="fr-FR">
                <a:ea typeface="Times New Roman" charset="0"/>
                <a:cs typeface="Candara"/>
              </a:rPr>
              <a:t>Stock moyen à </a:t>
            </a:r>
            <a:r>
              <a:rPr lang="fr-FR" i="1">
                <a:ea typeface="Times New Roman" charset="0"/>
                <a:cs typeface="Candara"/>
              </a:rPr>
              <a:t>Q/2</a:t>
            </a:r>
          </a:p>
          <a:p>
            <a:endParaRPr lang="fr-FR">
              <a:cs typeface="Candara"/>
            </a:endParaRPr>
          </a:p>
          <a:p>
            <a:r>
              <a:rPr lang="fr-FR">
                <a:cs typeface="Candara"/>
              </a:rPr>
              <a:t>Graphiquement</a:t>
            </a:r>
          </a:p>
          <a:p>
            <a:endParaRPr lang="fr-FR">
              <a:cs typeface="Candara"/>
            </a:endParaRPr>
          </a:p>
          <a:p>
            <a:endParaRPr lang="fr-FR">
              <a:cs typeface="Candara"/>
            </a:endParaRPr>
          </a:p>
          <a:p>
            <a:endParaRPr lang="fr-FR">
              <a:cs typeface="Candara"/>
            </a:endParaRPr>
          </a:p>
          <a:p>
            <a:endParaRPr lang="fr-FR">
              <a:cs typeface="Candara"/>
            </a:endParaRPr>
          </a:p>
          <a:p>
            <a:endParaRPr lang="fr-FR">
              <a:cs typeface="Candara"/>
            </a:endParaRPr>
          </a:p>
          <a:p>
            <a:pPr marL="0" indent="0">
              <a:buNone/>
            </a:pPr>
            <a:endParaRPr lang="fr-FR">
              <a:cs typeface="Candara"/>
            </a:endParaRPr>
          </a:p>
        </p:txBody>
      </p:sp>
      <p:grpSp>
        <p:nvGrpSpPr>
          <p:cNvPr id="2" name="Grouper 1"/>
          <p:cNvGrpSpPr/>
          <p:nvPr/>
        </p:nvGrpSpPr>
        <p:grpSpPr>
          <a:xfrm>
            <a:off x="629520" y="3884415"/>
            <a:ext cx="7028960" cy="2155677"/>
            <a:chOff x="629520" y="3576638"/>
            <a:chExt cx="7028960" cy="2155677"/>
          </a:xfrm>
        </p:grpSpPr>
        <p:grpSp>
          <p:nvGrpSpPr>
            <p:cNvPr id="46083" name="Group 1030"/>
            <p:cNvGrpSpPr>
              <a:grpSpLocks/>
            </p:cNvGrpSpPr>
            <p:nvPr/>
          </p:nvGrpSpPr>
          <p:grpSpPr bwMode="auto">
            <a:xfrm>
              <a:off x="1411935" y="3576639"/>
              <a:ext cx="6246545" cy="2155676"/>
              <a:chOff x="1833" y="2016"/>
              <a:chExt cx="3063" cy="810"/>
            </a:xfrm>
          </p:grpSpPr>
          <p:sp>
            <p:nvSpPr>
              <p:cNvPr id="46084" name="Line 1031"/>
              <p:cNvSpPr>
                <a:spLocks noChangeShapeType="1"/>
              </p:cNvSpPr>
              <p:nvPr/>
            </p:nvSpPr>
            <p:spPr bwMode="auto">
              <a:xfrm flipV="1">
                <a:off x="2112" y="2016"/>
                <a:ext cx="0" cy="672"/>
              </a:xfrm>
              <a:prstGeom prst="line">
                <a:avLst/>
              </a:prstGeom>
              <a:noFill/>
              <a:ln w="25400">
                <a:solidFill>
                  <a:schemeClr val="tx1"/>
                </a:solidFill>
                <a:round/>
                <a:headEnd type="none"/>
                <a:tailEnd type="arrow"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46085" name="Line 1032"/>
              <p:cNvSpPr>
                <a:spLocks noChangeShapeType="1"/>
              </p:cNvSpPr>
              <p:nvPr/>
            </p:nvSpPr>
            <p:spPr bwMode="auto">
              <a:xfrm>
                <a:off x="2112" y="2688"/>
                <a:ext cx="2784" cy="0"/>
              </a:xfrm>
              <a:prstGeom prst="line">
                <a:avLst/>
              </a:prstGeom>
              <a:noFill/>
              <a:ln w="25400">
                <a:solidFill>
                  <a:schemeClr val="tx1"/>
                </a:solidFill>
                <a:round/>
                <a:headEnd type="none"/>
                <a:tailEnd type="arrow"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46086" name="Line 1033"/>
              <p:cNvSpPr>
                <a:spLocks noChangeShapeType="1"/>
              </p:cNvSpPr>
              <p:nvPr/>
            </p:nvSpPr>
            <p:spPr bwMode="auto">
              <a:xfrm>
                <a:off x="2112" y="2208"/>
                <a:ext cx="480" cy="480"/>
              </a:xfrm>
              <a:prstGeom prst="line">
                <a:avLst/>
              </a:prstGeom>
              <a:noFill/>
              <a:ln w="25400">
                <a:solidFill>
                  <a:srgbClr val="1A6EC6"/>
                </a:solidFill>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87" name="Line 1034"/>
              <p:cNvSpPr>
                <a:spLocks noChangeShapeType="1"/>
              </p:cNvSpPr>
              <p:nvPr/>
            </p:nvSpPr>
            <p:spPr bwMode="auto">
              <a:xfrm flipV="1">
                <a:off x="2592" y="2208"/>
                <a:ext cx="0" cy="480"/>
              </a:xfrm>
              <a:prstGeom prst="line">
                <a:avLst/>
              </a:prstGeom>
              <a:noFill/>
              <a:ln w="25400">
                <a:solidFill>
                  <a:srgbClr val="1A6EC6"/>
                </a:solidFill>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88" name="Line 1035"/>
              <p:cNvSpPr>
                <a:spLocks noChangeShapeType="1"/>
              </p:cNvSpPr>
              <p:nvPr/>
            </p:nvSpPr>
            <p:spPr bwMode="auto">
              <a:xfrm>
                <a:off x="2592" y="2208"/>
                <a:ext cx="480" cy="480"/>
              </a:xfrm>
              <a:prstGeom prst="line">
                <a:avLst/>
              </a:prstGeom>
              <a:noFill/>
              <a:ln w="25400">
                <a:solidFill>
                  <a:srgbClr val="1A6EC6"/>
                </a:solidFill>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89" name="Line 1036"/>
              <p:cNvSpPr>
                <a:spLocks noChangeShapeType="1"/>
              </p:cNvSpPr>
              <p:nvPr/>
            </p:nvSpPr>
            <p:spPr bwMode="auto">
              <a:xfrm flipV="1">
                <a:off x="3072" y="2208"/>
                <a:ext cx="0" cy="480"/>
              </a:xfrm>
              <a:prstGeom prst="line">
                <a:avLst/>
              </a:prstGeom>
              <a:noFill/>
              <a:ln w="25400">
                <a:solidFill>
                  <a:srgbClr val="1A6EC6"/>
                </a:solidFill>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90" name="Line 1037"/>
              <p:cNvSpPr>
                <a:spLocks noChangeShapeType="1"/>
              </p:cNvSpPr>
              <p:nvPr/>
            </p:nvSpPr>
            <p:spPr bwMode="auto">
              <a:xfrm>
                <a:off x="3072" y="2208"/>
                <a:ext cx="480" cy="480"/>
              </a:xfrm>
              <a:prstGeom prst="line">
                <a:avLst/>
              </a:prstGeom>
              <a:noFill/>
              <a:ln w="25400">
                <a:solidFill>
                  <a:srgbClr val="1A6EC6"/>
                </a:solidFill>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91" name="Line 1038"/>
              <p:cNvSpPr>
                <a:spLocks noChangeShapeType="1"/>
              </p:cNvSpPr>
              <p:nvPr/>
            </p:nvSpPr>
            <p:spPr bwMode="auto">
              <a:xfrm flipV="1">
                <a:off x="3552" y="2208"/>
                <a:ext cx="0" cy="480"/>
              </a:xfrm>
              <a:prstGeom prst="line">
                <a:avLst/>
              </a:prstGeom>
              <a:noFill/>
              <a:ln w="25400">
                <a:solidFill>
                  <a:srgbClr val="1A6EC6"/>
                </a:solidFill>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92" name="Line 1039"/>
              <p:cNvSpPr>
                <a:spLocks noChangeShapeType="1"/>
              </p:cNvSpPr>
              <p:nvPr/>
            </p:nvSpPr>
            <p:spPr bwMode="auto">
              <a:xfrm>
                <a:off x="3552" y="2208"/>
                <a:ext cx="480" cy="480"/>
              </a:xfrm>
              <a:prstGeom prst="line">
                <a:avLst/>
              </a:prstGeom>
              <a:noFill/>
              <a:ln w="25400">
                <a:solidFill>
                  <a:srgbClr val="1A6EC6"/>
                </a:solidFill>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93" name="Line 1040"/>
              <p:cNvSpPr>
                <a:spLocks noChangeShapeType="1"/>
              </p:cNvSpPr>
              <p:nvPr/>
            </p:nvSpPr>
            <p:spPr bwMode="auto">
              <a:xfrm flipV="1">
                <a:off x="4032" y="2208"/>
                <a:ext cx="0" cy="480"/>
              </a:xfrm>
              <a:prstGeom prst="line">
                <a:avLst/>
              </a:prstGeom>
              <a:noFill/>
              <a:ln w="25400">
                <a:solidFill>
                  <a:srgbClr val="1A6EC6"/>
                </a:solidFill>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94" name="Line 1041"/>
              <p:cNvSpPr>
                <a:spLocks noChangeShapeType="1"/>
              </p:cNvSpPr>
              <p:nvPr/>
            </p:nvSpPr>
            <p:spPr bwMode="auto">
              <a:xfrm>
                <a:off x="4032" y="2208"/>
                <a:ext cx="480" cy="480"/>
              </a:xfrm>
              <a:prstGeom prst="line">
                <a:avLst/>
              </a:prstGeom>
              <a:noFill/>
              <a:ln w="25400">
                <a:solidFill>
                  <a:srgbClr val="1A6EC6"/>
                </a:solidFill>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95" name="Text Box 1042"/>
              <p:cNvSpPr txBox="1">
                <a:spLocks noChangeArrowheads="1"/>
              </p:cNvSpPr>
              <p:nvPr/>
            </p:nvSpPr>
            <p:spPr bwMode="auto">
              <a:xfrm>
                <a:off x="1898" y="2135"/>
                <a:ext cx="169" cy="1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fr-FR" sz="1800">
                    <a:latin typeface="+mn-lt"/>
                    <a:cs typeface="Candara"/>
                  </a:rPr>
                  <a:t>Q</a:t>
                </a:r>
              </a:p>
            </p:txBody>
          </p:sp>
          <p:sp>
            <p:nvSpPr>
              <p:cNvPr id="46096" name="Line 1043"/>
              <p:cNvSpPr>
                <a:spLocks noChangeShapeType="1"/>
              </p:cNvSpPr>
              <p:nvPr/>
            </p:nvSpPr>
            <p:spPr bwMode="auto">
              <a:xfrm>
                <a:off x="2112" y="2454"/>
                <a:ext cx="2736" cy="0"/>
              </a:xfrm>
              <a:prstGeom prst="line">
                <a:avLst/>
              </a:prstGeom>
              <a:noFill/>
              <a:ln w="25400">
                <a:solidFill>
                  <a:schemeClr val="accent5">
                    <a:lumMod val="50000"/>
                  </a:schemeClr>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46097" name="Text Box 1044"/>
              <p:cNvSpPr txBox="1">
                <a:spLocks noChangeArrowheads="1"/>
              </p:cNvSpPr>
              <p:nvPr/>
            </p:nvSpPr>
            <p:spPr bwMode="auto">
              <a:xfrm>
                <a:off x="1833" y="2377"/>
                <a:ext cx="276" cy="1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fr-FR" sz="1800">
                    <a:latin typeface="+mn-lt"/>
                    <a:cs typeface="Candara"/>
                  </a:rPr>
                  <a:t>Q/2</a:t>
                </a:r>
              </a:p>
            </p:txBody>
          </p:sp>
          <p:sp>
            <p:nvSpPr>
              <p:cNvPr id="46098" name="Text Box 1045"/>
              <p:cNvSpPr txBox="1">
                <a:spLocks noChangeArrowheads="1"/>
              </p:cNvSpPr>
              <p:nvPr/>
            </p:nvSpPr>
            <p:spPr bwMode="auto">
              <a:xfrm>
                <a:off x="4533" y="2699"/>
                <a:ext cx="341" cy="1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fr-FR" sz="1600" i="1">
                    <a:latin typeface="+mn-lt"/>
                    <a:cs typeface="Candara"/>
                  </a:rPr>
                  <a:t>temps</a:t>
                </a:r>
              </a:p>
            </p:txBody>
          </p:sp>
        </p:grpSp>
        <p:sp>
          <p:nvSpPr>
            <p:cNvPr id="20" name="Line 7"/>
            <p:cNvSpPr>
              <a:spLocks noChangeShapeType="1"/>
            </p:cNvSpPr>
            <p:nvPr/>
          </p:nvSpPr>
          <p:spPr bwMode="auto">
            <a:xfrm>
              <a:off x="1962150" y="4087613"/>
              <a:ext cx="5598442" cy="0"/>
            </a:xfrm>
            <a:prstGeom prst="line">
              <a:avLst/>
            </a:prstGeom>
            <a:noFill/>
            <a:ln w="3175">
              <a:solidFill>
                <a:srgbClr val="FF05A4"/>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fr-FR"/>
            </a:p>
          </p:txBody>
        </p:sp>
        <p:sp>
          <p:nvSpPr>
            <p:cNvPr id="21" name="Text Box 14"/>
            <p:cNvSpPr txBox="1">
              <a:spLocks noChangeArrowheads="1"/>
            </p:cNvSpPr>
            <p:nvPr/>
          </p:nvSpPr>
          <p:spPr bwMode="auto">
            <a:xfrm>
              <a:off x="629520" y="3576638"/>
              <a:ext cx="1351395"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charset="0"/>
                  <a:ea typeface="ＭＳ Ｐゴシック" charset="0"/>
                  <a:cs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r" eaLnBrk="1" hangingPunct="1"/>
              <a:r>
                <a:rPr lang="fr-FR" sz="1400" i="1">
                  <a:latin typeface="+mn-lt"/>
                  <a:cs typeface="Candara"/>
                </a:rPr>
                <a:t>niveau du stock</a:t>
              </a:r>
            </a:p>
          </p:txBody>
        </p:sp>
      </p:grpSp>
    </p:spTree>
    <p:extLst>
      <p:ext uri="{BB962C8B-B14F-4D97-AF65-F5344CB8AC3E}">
        <p14:creationId xmlns:p14="http://schemas.microsoft.com/office/powerpoint/2010/main" val="3445962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r>
              <a:rPr lang="fr-FR">
                <a:solidFill>
                  <a:schemeClr val="tx1">
                    <a:lumMod val="75000"/>
                    <a:lumOff val="25000"/>
                  </a:schemeClr>
                </a:solidFill>
                <a:cs typeface="Candara"/>
              </a:rPr>
              <a:t>Formule de Wilson [3]</a:t>
            </a:r>
            <a:endParaRPr lang="fr-FR">
              <a:latin typeface="Arial" charset="0"/>
              <a:cs typeface="ＭＳ Ｐゴシック" charset="0"/>
            </a:endParaRPr>
          </a:p>
        </p:txBody>
      </p:sp>
      <p:sp>
        <p:nvSpPr>
          <p:cNvPr id="31" name="Espace réservé du numéro de diapositive 30"/>
          <p:cNvSpPr>
            <a:spLocks noGrp="1"/>
          </p:cNvSpPr>
          <p:nvPr>
            <p:ph type="sldNum" sz="quarter" idx="10"/>
          </p:nvPr>
        </p:nvSpPr>
        <p:spPr/>
        <p:txBody>
          <a:bodyPr>
            <a:normAutofit fontScale="92500" lnSpcReduction="10000"/>
          </a:bodyPr>
          <a:lstStyle/>
          <a:p>
            <a:fld id="{F7B67468-3DD6-CA41-BD75-5A7705468539}" type="slidenum">
              <a:rPr lang="fr-FR" smtClean="0"/>
              <a:t>15</a:t>
            </a:fld>
            <a:endParaRPr lang="fr-FR"/>
          </a:p>
        </p:txBody>
      </p:sp>
      <p:grpSp>
        <p:nvGrpSpPr>
          <p:cNvPr id="9" name="Grouper 8"/>
          <p:cNvGrpSpPr/>
          <p:nvPr/>
        </p:nvGrpSpPr>
        <p:grpSpPr>
          <a:xfrm>
            <a:off x="1108313" y="4293761"/>
            <a:ext cx="7402597" cy="2600624"/>
            <a:chOff x="1490543" y="3953314"/>
            <a:chExt cx="7402597" cy="2600624"/>
          </a:xfrm>
        </p:grpSpPr>
        <p:grpSp>
          <p:nvGrpSpPr>
            <p:cNvPr id="8" name="Grouper 7"/>
            <p:cNvGrpSpPr/>
            <p:nvPr/>
          </p:nvGrpSpPr>
          <p:grpSpPr>
            <a:xfrm>
              <a:off x="1490543" y="3953314"/>
              <a:ext cx="7402597" cy="2600624"/>
              <a:chOff x="1490543" y="3925887"/>
              <a:chExt cx="7402597" cy="2600624"/>
            </a:xfrm>
          </p:grpSpPr>
          <p:sp>
            <p:nvSpPr>
              <p:cNvPr id="5" name="Line 1031"/>
              <p:cNvSpPr>
                <a:spLocks noChangeShapeType="1"/>
              </p:cNvSpPr>
              <p:nvPr/>
            </p:nvSpPr>
            <p:spPr bwMode="auto">
              <a:xfrm flipV="1">
                <a:off x="2271201" y="3925887"/>
                <a:ext cx="0" cy="2200513"/>
              </a:xfrm>
              <a:prstGeom prst="line">
                <a:avLst/>
              </a:prstGeom>
              <a:noFill/>
              <a:ln w="25400">
                <a:solidFill>
                  <a:schemeClr val="tx1"/>
                </a:solidFill>
                <a:round/>
                <a:headEnd type="none"/>
                <a:tailEnd type="arrow"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6" name="Line 1031"/>
              <p:cNvSpPr>
                <a:spLocks noChangeShapeType="1"/>
              </p:cNvSpPr>
              <p:nvPr/>
            </p:nvSpPr>
            <p:spPr bwMode="auto">
              <a:xfrm flipV="1">
                <a:off x="2271200" y="6126401"/>
                <a:ext cx="3661513" cy="0"/>
              </a:xfrm>
              <a:prstGeom prst="line">
                <a:avLst/>
              </a:prstGeom>
              <a:noFill/>
              <a:ln w="25400">
                <a:solidFill>
                  <a:schemeClr val="tx1"/>
                </a:solidFill>
                <a:round/>
                <a:headEnd type="none"/>
                <a:tailEnd type="arrow"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7" name="Line 1031"/>
              <p:cNvSpPr>
                <a:spLocks noChangeShapeType="1"/>
              </p:cNvSpPr>
              <p:nvPr/>
            </p:nvSpPr>
            <p:spPr bwMode="auto">
              <a:xfrm flipV="1">
                <a:off x="2271201" y="4556038"/>
                <a:ext cx="3480084" cy="1554452"/>
              </a:xfrm>
              <a:prstGeom prst="line">
                <a:avLst/>
              </a:prstGeom>
              <a:noFill/>
              <a:ln w="25400">
                <a:solidFill>
                  <a:srgbClr val="FF6600"/>
                </a:solidFill>
                <a:round/>
                <a:headEnd type="none"/>
                <a:tailEnd type="none"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2" name="Forme libre 1"/>
              <p:cNvSpPr/>
              <p:nvPr/>
            </p:nvSpPr>
            <p:spPr>
              <a:xfrm>
                <a:off x="2485572" y="4259750"/>
                <a:ext cx="3265714" cy="1738782"/>
              </a:xfrm>
              <a:custGeom>
                <a:avLst/>
                <a:gdLst>
                  <a:gd name="connsiteX0" fmla="*/ 0 w 3193143"/>
                  <a:gd name="connsiteY0" fmla="*/ 0 h 1759999"/>
                  <a:gd name="connsiteX1" fmla="*/ 526143 w 3193143"/>
                  <a:gd name="connsiteY1" fmla="*/ 1251857 h 1759999"/>
                  <a:gd name="connsiteX2" fmla="*/ 1505858 w 3193143"/>
                  <a:gd name="connsiteY2" fmla="*/ 1632857 h 1759999"/>
                  <a:gd name="connsiteX3" fmla="*/ 3193143 w 3193143"/>
                  <a:gd name="connsiteY3" fmla="*/ 1759857 h 1759999"/>
                  <a:gd name="connsiteX0" fmla="*/ 0 w 3193143"/>
                  <a:gd name="connsiteY0" fmla="*/ 0 h 1759990"/>
                  <a:gd name="connsiteX1" fmla="*/ 689429 w 3193143"/>
                  <a:gd name="connsiteY1" fmla="*/ 1269999 h 1759990"/>
                  <a:gd name="connsiteX2" fmla="*/ 1505858 w 3193143"/>
                  <a:gd name="connsiteY2" fmla="*/ 1632857 h 1759990"/>
                  <a:gd name="connsiteX3" fmla="*/ 3193143 w 3193143"/>
                  <a:gd name="connsiteY3" fmla="*/ 1759857 h 1759990"/>
                  <a:gd name="connsiteX0" fmla="*/ 0 w 3193143"/>
                  <a:gd name="connsiteY0" fmla="*/ 0 h 1759990"/>
                  <a:gd name="connsiteX1" fmla="*/ 689429 w 3193143"/>
                  <a:gd name="connsiteY1" fmla="*/ 1269999 h 1759990"/>
                  <a:gd name="connsiteX2" fmla="*/ 1505858 w 3193143"/>
                  <a:gd name="connsiteY2" fmla="*/ 1632857 h 1759990"/>
                  <a:gd name="connsiteX3" fmla="*/ 3193143 w 3193143"/>
                  <a:gd name="connsiteY3" fmla="*/ 1759857 h 1759990"/>
                  <a:gd name="connsiteX0" fmla="*/ 0 w 3193143"/>
                  <a:gd name="connsiteY0" fmla="*/ 0 h 1760044"/>
                  <a:gd name="connsiteX1" fmla="*/ 653143 w 3193143"/>
                  <a:gd name="connsiteY1" fmla="*/ 1179284 h 1760044"/>
                  <a:gd name="connsiteX2" fmla="*/ 1505858 w 3193143"/>
                  <a:gd name="connsiteY2" fmla="*/ 1632857 h 1760044"/>
                  <a:gd name="connsiteX3" fmla="*/ 3193143 w 3193143"/>
                  <a:gd name="connsiteY3" fmla="*/ 1759857 h 1760044"/>
                  <a:gd name="connsiteX0" fmla="*/ 0 w 3193143"/>
                  <a:gd name="connsiteY0" fmla="*/ 0 h 1770287"/>
                  <a:gd name="connsiteX1" fmla="*/ 653143 w 3193143"/>
                  <a:gd name="connsiteY1" fmla="*/ 1179284 h 1770287"/>
                  <a:gd name="connsiteX2" fmla="*/ 1524001 w 3193143"/>
                  <a:gd name="connsiteY2" fmla="*/ 1705428 h 1770287"/>
                  <a:gd name="connsiteX3" fmla="*/ 3193143 w 3193143"/>
                  <a:gd name="connsiteY3" fmla="*/ 1759857 h 1770287"/>
                  <a:gd name="connsiteX0" fmla="*/ 0 w 3265714"/>
                  <a:gd name="connsiteY0" fmla="*/ 0 h 1850743"/>
                  <a:gd name="connsiteX1" fmla="*/ 653143 w 3265714"/>
                  <a:gd name="connsiteY1" fmla="*/ 1179284 h 1850743"/>
                  <a:gd name="connsiteX2" fmla="*/ 1524001 w 3265714"/>
                  <a:gd name="connsiteY2" fmla="*/ 1705428 h 1850743"/>
                  <a:gd name="connsiteX3" fmla="*/ 3265714 w 3265714"/>
                  <a:gd name="connsiteY3" fmla="*/ 1850571 h 1850743"/>
                </a:gdLst>
                <a:ahLst/>
                <a:cxnLst>
                  <a:cxn ang="0">
                    <a:pos x="connsiteX0" y="connsiteY0"/>
                  </a:cxn>
                  <a:cxn ang="0">
                    <a:pos x="connsiteX1" y="connsiteY1"/>
                  </a:cxn>
                  <a:cxn ang="0">
                    <a:pos x="connsiteX2" y="connsiteY2"/>
                  </a:cxn>
                  <a:cxn ang="0">
                    <a:pos x="connsiteX3" y="connsiteY3"/>
                  </a:cxn>
                </a:cxnLst>
                <a:rect l="l" t="t" r="r" b="b"/>
                <a:pathLst>
                  <a:path w="3265714" h="1850743">
                    <a:moveTo>
                      <a:pt x="0" y="0"/>
                    </a:moveTo>
                    <a:cubicBezTo>
                      <a:pt x="137583" y="489857"/>
                      <a:pt x="399143" y="895046"/>
                      <a:pt x="653143" y="1179284"/>
                    </a:cubicBezTo>
                    <a:cubicBezTo>
                      <a:pt x="907143" y="1463522"/>
                      <a:pt x="1088573" y="1593547"/>
                      <a:pt x="1524001" y="1705428"/>
                    </a:cubicBezTo>
                    <a:cubicBezTo>
                      <a:pt x="1959430" y="1817309"/>
                      <a:pt x="2951238" y="1853595"/>
                      <a:pt x="3265714" y="1850571"/>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 name="Line 1031"/>
              <p:cNvSpPr>
                <a:spLocks noChangeShapeType="1"/>
              </p:cNvSpPr>
              <p:nvPr/>
            </p:nvSpPr>
            <p:spPr bwMode="auto">
              <a:xfrm flipV="1">
                <a:off x="3421457" y="5210255"/>
                <a:ext cx="0" cy="916142"/>
              </a:xfrm>
              <a:prstGeom prst="line">
                <a:avLst/>
              </a:prstGeom>
              <a:noFill/>
              <a:ln w="25400">
                <a:solidFill>
                  <a:srgbClr val="FF0000"/>
                </a:solidFill>
                <a:round/>
                <a:headEnd type="none"/>
                <a:tailEnd type="none"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4" name="ZoneTexte 3"/>
              <p:cNvSpPr txBox="1"/>
              <p:nvPr/>
            </p:nvSpPr>
            <p:spPr>
              <a:xfrm>
                <a:off x="3194998" y="6126401"/>
                <a:ext cx="452918" cy="400110"/>
              </a:xfrm>
              <a:prstGeom prst="rect">
                <a:avLst/>
              </a:prstGeom>
              <a:noFill/>
            </p:spPr>
            <p:txBody>
              <a:bodyPr wrap="none" rtlCol="0">
                <a:spAutoFit/>
              </a:bodyPr>
              <a:lstStyle/>
              <a:p>
                <a:r>
                  <a:rPr lang="fr-FR" sz="2000">
                    <a:solidFill>
                      <a:srgbClr val="FF0000"/>
                    </a:solidFill>
                  </a:rPr>
                  <a:t>n*</a:t>
                </a:r>
              </a:p>
            </p:txBody>
          </p:sp>
          <p:sp>
            <p:nvSpPr>
              <p:cNvPr id="12" name="ZoneTexte 11"/>
              <p:cNvSpPr txBox="1"/>
              <p:nvPr/>
            </p:nvSpPr>
            <p:spPr>
              <a:xfrm>
                <a:off x="4164240" y="6126401"/>
                <a:ext cx="3536946" cy="400110"/>
              </a:xfrm>
              <a:prstGeom prst="rect">
                <a:avLst/>
              </a:prstGeom>
              <a:noFill/>
            </p:spPr>
            <p:txBody>
              <a:bodyPr wrap="none" rtlCol="0">
                <a:spAutoFit/>
              </a:bodyPr>
              <a:lstStyle/>
              <a:p>
                <a:r>
                  <a:rPr lang="fr-FR" sz="2000"/>
                  <a:t>nombre annuel de commandes</a:t>
                </a:r>
              </a:p>
            </p:txBody>
          </p:sp>
          <p:sp>
            <p:nvSpPr>
              <p:cNvPr id="13" name="ZoneTexte 12"/>
              <p:cNvSpPr txBox="1"/>
              <p:nvPr/>
            </p:nvSpPr>
            <p:spPr>
              <a:xfrm>
                <a:off x="1490543" y="3991429"/>
                <a:ext cx="780657" cy="400110"/>
              </a:xfrm>
              <a:prstGeom prst="rect">
                <a:avLst/>
              </a:prstGeom>
              <a:noFill/>
            </p:spPr>
            <p:txBody>
              <a:bodyPr wrap="none" rtlCol="0">
                <a:spAutoFit/>
              </a:bodyPr>
              <a:lstStyle/>
              <a:p>
                <a:r>
                  <a:rPr lang="fr-FR" sz="2000"/>
                  <a:t>coûts</a:t>
                </a:r>
              </a:p>
            </p:txBody>
          </p:sp>
          <p:sp>
            <p:nvSpPr>
              <p:cNvPr id="14" name="ZoneTexte 13"/>
              <p:cNvSpPr txBox="1"/>
              <p:nvPr/>
            </p:nvSpPr>
            <p:spPr>
              <a:xfrm>
                <a:off x="5751285" y="4406889"/>
                <a:ext cx="2105514" cy="400110"/>
              </a:xfrm>
              <a:prstGeom prst="rect">
                <a:avLst/>
              </a:prstGeom>
              <a:noFill/>
            </p:spPr>
            <p:txBody>
              <a:bodyPr wrap="none" rtlCol="0">
                <a:spAutoFit/>
              </a:bodyPr>
              <a:lstStyle/>
              <a:p>
                <a:r>
                  <a:rPr lang="fr-FR" sz="2000">
                    <a:solidFill>
                      <a:srgbClr val="F76D00"/>
                    </a:solidFill>
                  </a:rPr>
                  <a:t>coût d’acquisition</a:t>
                </a:r>
              </a:p>
            </p:txBody>
          </p:sp>
          <p:sp>
            <p:nvSpPr>
              <p:cNvPr id="15" name="ZoneTexte 14"/>
              <p:cNvSpPr txBox="1"/>
              <p:nvPr/>
            </p:nvSpPr>
            <p:spPr>
              <a:xfrm>
                <a:off x="2915180" y="4487376"/>
                <a:ext cx="1249060" cy="400110"/>
              </a:xfrm>
              <a:prstGeom prst="rect">
                <a:avLst/>
              </a:prstGeom>
              <a:noFill/>
            </p:spPr>
            <p:txBody>
              <a:bodyPr wrap="none" rtlCol="0">
                <a:spAutoFit/>
              </a:bodyPr>
              <a:lstStyle/>
              <a:p>
                <a:r>
                  <a:rPr lang="fr-FR" sz="2000">
                    <a:solidFill>
                      <a:srgbClr val="1A6EC6"/>
                    </a:solidFill>
                  </a:rPr>
                  <a:t>coût total</a:t>
                </a:r>
              </a:p>
            </p:txBody>
          </p:sp>
          <p:sp>
            <p:nvSpPr>
              <p:cNvPr id="16" name="ZoneTexte 15"/>
              <p:cNvSpPr txBox="1"/>
              <p:nvPr/>
            </p:nvSpPr>
            <p:spPr>
              <a:xfrm>
                <a:off x="5861092" y="5662357"/>
                <a:ext cx="3032048" cy="400110"/>
              </a:xfrm>
              <a:prstGeom prst="rect">
                <a:avLst/>
              </a:prstGeom>
              <a:noFill/>
            </p:spPr>
            <p:txBody>
              <a:bodyPr wrap="none" rtlCol="0">
                <a:spAutoFit/>
              </a:bodyPr>
              <a:lstStyle/>
              <a:p>
                <a:r>
                  <a:rPr lang="fr-FR" sz="2000">
                    <a:solidFill>
                      <a:schemeClr val="accent6">
                        <a:lumMod val="75000"/>
                      </a:schemeClr>
                    </a:solidFill>
                  </a:rPr>
                  <a:t>coût de détention du stock </a:t>
                </a:r>
              </a:p>
            </p:txBody>
          </p:sp>
        </p:grpSp>
        <p:sp>
          <p:nvSpPr>
            <p:cNvPr id="32" name="Forme libre 31"/>
            <p:cNvSpPr/>
            <p:nvPr/>
          </p:nvSpPr>
          <p:spPr>
            <a:xfrm>
              <a:off x="2679671" y="4293140"/>
              <a:ext cx="3001180" cy="939882"/>
            </a:xfrm>
            <a:custGeom>
              <a:avLst/>
              <a:gdLst>
                <a:gd name="connsiteX0" fmla="*/ 0 w 2939143"/>
                <a:gd name="connsiteY0" fmla="*/ 0 h 1092007"/>
                <a:gd name="connsiteX1" fmla="*/ 326572 w 2939143"/>
                <a:gd name="connsiteY1" fmla="*/ 598714 h 1092007"/>
                <a:gd name="connsiteX2" fmla="*/ 653143 w 2939143"/>
                <a:gd name="connsiteY2" fmla="*/ 1034143 h 1092007"/>
                <a:gd name="connsiteX3" fmla="*/ 1324429 w 2939143"/>
                <a:gd name="connsiteY3" fmla="*/ 979714 h 1092007"/>
                <a:gd name="connsiteX4" fmla="*/ 2939143 w 2939143"/>
                <a:gd name="connsiteY4" fmla="*/ 54428 h 1092007"/>
                <a:gd name="connsiteX0" fmla="*/ 0 w 2939143"/>
                <a:gd name="connsiteY0" fmla="*/ 0 h 1082008"/>
                <a:gd name="connsiteX1" fmla="*/ 326572 w 2939143"/>
                <a:gd name="connsiteY1" fmla="*/ 598714 h 1082008"/>
                <a:gd name="connsiteX2" fmla="*/ 834572 w 2939143"/>
                <a:gd name="connsiteY2" fmla="*/ 1016000 h 1082008"/>
                <a:gd name="connsiteX3" fmla="*/ 1324429 w 2939143"/>
                <a:gd name="connsiteY3" fmla="*/ 979714 h 1082008"/>
                <a:gd name="connsiteX4" fmla="*/ 2939143 w 2939143"/>
                <a:gd name="connsiteY4" fmla="*/ 54428 h 1082008"/>
                <a:gd name="connsiteX0" fmla="*/ 0 w 2939143"/>
                <a:gd name="connsiteY0" fmla="*/ 0 h 1040266"/>
                <a:gd name="connsiteX1" fmla="*/ 326572 w 2939143"/>
                <a:gd name="connsiteY1" fmla="*/ 598714 h 1040266"/>
                <a:gd name="connsiteX2" fmla="*/ 834572 w 2939143"/>
                <a:gd name="connsiteY2" fmla="*/ 1016000 h 1040266"/>
                <a:gd name="connsiteX3" fmla="*/ 1433286 w 2939143"/>
                <a:gd name="connsiteY3" fmla="*/ 889000 h 1040266"/>
                <a:gd name="connsiteX4" fmla="*/ 2939143 w 2939143"/>
                <a:gd name="connsiteY4" fmla="*/ 54428 h 1040266"/>
                <a:gd name="connsiteX0" fmla="*/ 0 w 2939143"/>
                <a:gd name="connsiteY0" fmla="*/ 36286 h 1079869"/>
                <a:gd name="connsiteX1" fmla="*/ 326572 w 2939143"/>
                <a:gd name="connsiteY1" fmla="*/ 635000 h 1079869"/>
                <a:gd name="connsiteX2" fmla="*/ 834572 w 2939143"/>
                <a:gd name="connsiteY2" fmla="*/ 1052286 h 1079869"/>
                <a:gd name="connsiteX3" fmla="*/ 1433286 w 2939143"/>
                <a:gd name="connsiteY3" fmla="*/ 925286 h 1079869"/>
                <a:gd name="connsiteX4" fmla="*/ 2939143 w 2939143"/>
                <a:gd name="connsiteY4" fmla="*/ 0 h 1079869"/>
                <a:gd name="connsiteX0" fmla="*/ 0 w 2939143"/>
                <a:gd name="connsiteY0" fmla="*/ 36286 h 1042410"/>
                <a:gd name="connsiteX1" fmla="*/ 326572 w 2939143"/>
                <a:gd name="connsiteY1" fmla="*/ 635000 h 1042410"/>
                <a:gd name="connsiteX2" fmla="*/ 707572 w 2939143"/>
                <a:gd name="connsiteY2" fmla="*/ 997857 h 1042410"/>
                <a:gd name="connsiteX3" fmla="*/ 1433286 w 2939143"/>
                <a:gd name="connsiteY3" fmla="*/ 925286 h 1042410"/>
                <a:gd name="connsiteX4" fmla="*/ 2939143 w 2939143"/>
                <a:gd name="connsiteY4" fmla="*/ 0 h 1042410"/>
                <a:gd name="connsiteX0" fmla="*/ 0 w 2939143"/>
                <a:gd name="connsiteY0" fmla="*/ 36286 h 1042410"/>
                <a:gd name="connsiteX1" fmla="*/ 326572 w 2939143"/>
                <a:gd name="connsiteY1" fmla="*/ 635000 h 1042410"/>
                <a:gd name="connsiteX2" fmla="*/ 707572 w 2939143"/>
                <a:gd name="connsiteY2" fmla="*/ 997857 h 1042410"/>
                <a:gd name="connsiteX3" fmla="*/ 1433286 w 2939143"/>
                <a:gd name="connsiteY3" fmla="*/ 925286 h 1042410"/>
                <a:gd name="connsiteX4" fmla="*/ 2939143 w 2939143"/>
                <a:gd name="connsiteY4" fmla="*/ 0 h 1042410"/>
                <a:gd name="connsiteX0" fmla="*/ 0 w 2939143"/>
                <a:gd name="connsiteY0" fmla="*/ 36286 h 1042410"/>
                <a:gd name="connsiteX1" fmla="*/ 326572 w 2939143"/>
                <a:gd name="connsiteY1" fmla="*/ 635000 h 1042410"/>
                <a:gd name="connsiteX2" fmla="*/ 707572 w 2939143"/>
                <a:gd name="connsiteY2" fmla="*/ 997857 h 1042410"/>
                <a:gd name="connsiteX3" fmla="*/ 1433286 w 2939143"/>
                <a:gd name="connsiteY3" fmla="*/ 925286 h 1042410"/>
                <a:gd name="connsiteX4" fmla="*/ 2939143 w 2939143"/>
                <a:gd name="connsiteY4" fmla="*/ 0 h 1042410"/>
                <a:gd name="connsiteX0" fmla="*/ 0 w 2939143"/>
                <a:gd name="connsiteY0" fmla="*/ 36286 h 1042410"/>
                <a:gd name="connsiteX1" fmla="*/ 326572 w 2939143"/>
                <a:gd name="connsiteY1" fmla="*/ 635000 h 1042410"/>
                <a:gd name="connsiteX2" fmla="*/ 707572 w 2939143"/>
                <a:gd name="connsiteY2" fmla="*/ 997857 h 1042410"/>
                <a:gd name="connsiteX3" fmla="*/ 1433286 w 2939143"/>
                <a:gd name="connsiteY3" fmla="*/ 925286 h 1042410"/>
                <a:gd name="connsiteX4" fmla="*/ 2939143 w 2939143"/>
                <a:gd name="connsiteY4" fmla="*/ 0 h 1042410"/>
                <a:gd name="connsiteX0" fmla="*/ 0 w 2939143"/>
                <a:gd name="connsiteY0" fmla="*/ 36286 h 1053927"/>
                <a:gd name="connsiteX1" fmla="*/ 326572 w 2939143"/>
                <a:gd name="connsiteY1" fmla="*/ 635000 h 1053927"/>
                <a:gd name="connsiteX2" fmla="*/ 798286 w 2939143"/>
                <a:gd name="connsiteY2" fmla="*/ 1016000 h 1053927"/>
                <a:gd name="connsiteX3" fmla="*/ 1433286 w 2939143"/>
                <a:gd name="connsiteY3" fmla="*/ 925286 h 1053927"/>
                <a:gd name="connsiteX4" fmla="*/ 2939143 w 2939143"/>
                <a:gd name="connsiteY4" fmla="*/ 0 h 1053927"/>
                <a:gd name="connsiteX0" fmla="*/ 0 w 2939143"/>
                <a:gd name="connsiteY0" fmla="*/ 36286 h 1031891"/>
                <a:gd name="connsiteX1" fmla="*/ 326572 w 2939143"/>
                <a:gd name="connsiteY1" fmla="*/ 635000 h 1031891"/>
                <a:gd name="connsiteX2" fmla="*/ 689429 w 2939143"/>
                <a:gd name="connsiteY2" fmla="*/ 979714 h 1031891"/>
                <a:gd name="connsiteX3" fmla="*/ 1433286 w 2939143"/>
                <a:gd name="connsiteY3" fmla="*/ 925286 h 1031891"/>
                <a:gd name="connsiteX4" fmla="*/ 2939143 w 2939143"/>
                <a:gd name="connsiteY4" fmla="*/ 0 h 1031891"/>
                <a:gd name="connsiteX0" fmla="*/ 0 w 2939143"/>
                <a:gd name="connsiteY0" fmla="*/ 36286 h 999239"/>
                <a:gd name="connsiteX1" fmla="*/ 326572 w 2939143"/>
                <a:gd name="connsiteY1" fmla="*/ 635000 h 999239"/>
                <a:gd name="connsiteX2" fmla="*/ 689429 w 2939143"/>
                <a:gd name="connsiteY2" fmla="*/ 979714 h 999239"/>
                <a:gd name="connsiteX3" fmla="*/ 1378857 w 2939143"/>
                <a:gd name="connsiteY3" fmla="*/ 852714 h 999239"/>
                <a:gd name="connsiteX4" fmla="*/ 2939143 w 2939143"/>
                <a:gd name="connsiteY4" fmla="*/ 0 h 999239"/>
                <a:gd name="connsiteX0" fmla="*/ 0 w 2775858"/>
                <a:gd name="connsiteY0" fmla="*/ 36286 h 999239"/>
                <a:gd name="connsiteX1" fmla="*/ 326572 w 2775858"/>
                <a:gd name="connsiteY1" fmla="*/ 635000 h 999239"/>
                <a:gd name="connsiteX2" fmla="*/ 689429 w 2775858"/>
                <a:gd name="connsiteY2" fmla="*/ 979714 h 999239"/>
                <a:gd name="connsiteX3" fmla="*/ 1378857 w 2775858"/>
                <a:gd name="connsiteY3" fmla="*/ 852714 h 999239"/>
                <a:gd name="connsiteX4" fmla="*/ 2775858 w 2775858"/>
                <a:gd name="connsiteY4" fmla="*/ 0 h 999239"/>
                <a:gd name="connsiteX0" fmla="*/ 0 w 2830286"/>
                <a:gd name="connsiteY0" fmla="*/ 0 h 961727"/>
                <a:gd name="connsiteX1" fmla="*/ 326572 w 2830286"/>
                <a:gd name="connsiteY1" fmla="*/ 598714 h 961727"/>
                <a:gd name="connsiteX2" fmla="*/ 689429 w 2830286"/>
                <a:gd name="connsiteY2" fmla="*/ 943428 h 961727"/>
                <a:gd name="connsiteX3" fmla="*/ 1378857 w 2830286"/>
                <a:gd name="connsiteY3" fmla="*/ 816428 h 961727"/>
                <a:gd name="connsiteX4" fmla="*/ 2830286 w 2830286"/>
                <a:gd name="connsiteY4" fmla="*/ 0 h 961727"/>
                <a:gd name="connsiteX0" fmla="*/ 0 w 2830286"/>
                <a:gd name="connsiteY0" fmla="*/ 0 h 967081"/>
                <a:gd name="connsiteX1" fmla="*/ 290287 w 2830286"/>
                <a:gd name="connsiteY1" fmla="*/ 526143 h 967081"/>
                <a:gd name="connsiteX2" fmla="*/ 689429 w 2830286"/>
                <a:gd name="connsiteY2" fmla="*/ 943428 h 967081"/>
                <a:gd name="connsiteX3" fmla="*/ 1378857 w 2830286"/>
                <a:gd name="connsiteY3" fmla="*/ 816428 h 967081"/>
                <a:gd name="connsiteX4" fmla="*/ 2830286 w 2830286"/>
                <a:gd name="connsiteY4" fmla="*/ 0 h 967081"/>
                <a:gd name="connsiteX0" fmla="*/ 0 w 2830286"/>
                <a:gd name="connsiteY0" fmla="*/ 0 h 1080965"/>
                <a:gd name="connsiteX1" fmla="*/ 290287 w 2830286"/>
                <a:gd name="connsiteY1" fmla="*/ 526143 h 1080965"/>
                <a:gd name="connsiteX2" fmla="*/ 816429 w 2830286"/>
                <a:gd name="connsiteY2" fmla="*/ 1070428 h 1080965"/>
                <a:gd name="connsiteX3" fmla="*/ 1378857 w 2830286"/>
                <a:gd name="connsiteY3" fmla="*/ 816428 h 1080965"/>
                <a:gd name="connsiteX4" fmla="*/ 2830286 w 2830286"/>
                <a:gd name="connsiteY4" fmla="*/ 0 h 1080965"/>
                <a:gd name="connsiteX0" fmla="*/ 0 w 2830286"/>
                <a:gd name="connsiteY0" fmla="*/ 0 h 1102176"/>
                <a:gd name="connsiteX1" fmla="*/ 290287 w 2830286"/>
                <a:gd name="connsiteY1" fmla="*/ 526143 h 1102176"/>
                <a:gd name="connsiteX2" fmla="*/ 816429 w 2830286"/>
                <a:gd name="connsiteY2" fmla="*/ 1070428 h 1102176"/>
                <a:gd name="connsiteX3" fmla="*/ 1487714 w 2830286"/>
                <a:gd name="connsiteY3" fmla="*/ 925286 h 1102176"/>
                <a:gd name="connsiteX4" fmla="*/ 2830286 w 2830286"/>
                <a:gd name="connsiteY4" fmla="*/ 0 h 1102176"/>
                <a:gd name="connsiteX0" fmla="*/ 0 w 2830286"/>
                <a:gd name="connsiteY0" fmla="*/ 0 h 1092686"/>
                <a:gd name="connsiteX1" fmla="*/ 290287 w 2830286"/>
                <a:gd name="connsiteY1" fmla="*/ 526143 h 1092686"/>
                <a:gd name="connsiteX2" fmla="*/ 816429 w 2830286"/>
                <a:gd name="connsiteY2" fmla="*/ 1070428 h 1092686"/>
                <a:gd name="connsiteX3" fmla="*/ 1469572 w 2830286"/>
                <a:gd name="connsiteY3" fmla="*/ 889000 h 1092686"/>
                <a:gd name="connsiteX4" fmla="*/ 2830286 w 2830286"/>
                <a:gd name="connsiteY4" fmla="*/ 0 h 1092686"/>
                <a:gd name="connsiteX0" fmla="*/ 0 w 2830286"/>
                <a:gd name="connsiteY0" fmla="*/ 0 h 1092686"/>
                <a:gd name="connsiteX1" fmla="*/ 290287 w 2830286"/>
                <a:gd name="connsiteY1" fmla="*/ 526143 h 1092686"/>
                <a:gd name="connsiteX2" fmla="*/ 816429 w 2830286"/>
                <a:gd name="connsiteY2" fmla="*/ 1070428 h 1092686"/>
                <a:gd name="connsiteX3" fmla="*/ 1469572 w 2830286"/>
                <a:gd name="connsiteY3" fmla="*/ 889000 h 1092686"/>
                <a:gd name="connsiteX4" fmla="*/ 2830286 w 2830286"/>
                <a:gd name="connsiteY4" fmla="*/ 0 h 1092686"/>
                <a:gd name="connsiteX0" fmla="*/ 0 w 2830286"/>
                <a:gd name="connsiteY0" fmla="*/ 0 h 1078900"/>
                <a:gd name="connsiteX1" fmla="*/ 290287 w 2830286"/>
                <a:gd name="connsiteY1" fmla="*/ 729434 h 1078900"/>
                <a:gd name="connsiteX2" fmla="*/ 816429 w 2830286"/>
                <a:gd name="connsiteY2" fmla="*/ 1070428 h 1078900"/>
                <a:gd name="connsiteX3" fmla="*/ 1469572 w 2830286"/>
                <a:gd name="connsiteY3" fmla="*/ 889000 h 1078900"/>
                <a:gd name="connsiteX4" fmla="*/ 2830286 w 2830286"/>
                <a:gd name="connsiteY4" fmla="*/ 0 h 1078900"/>
                <a:gd name="connsiteX0" fmla="*/ 0 w 2830286"/>
                <a:gd name="connsiteY0" fmla="*/ 0 h 1200812"/>
                <a:gd name="connsiteX1" fmla="*/ 290287 w 2830286"/>
                <a:gd name="connsiteY1" fmla="*/ 729434 h 1200812"/>
                <a:gd name="connsiteX2" fmla="*/ 816429 w 2830286"/>
                <a:gd name="connsiteY2" fmla="*/ 1197484 h 1200812"/>
                <a:gd name="connsiteX3" fmla="*/ 1469572 w 2830286"/>
                <a:gd name="connsiteY3" fmla="*/ 889000 h 1200812"/>
                <a:gd name="connsiteX4" fmla="*/ 2830286 w 2830286"/>
                <a:gd name="connsiteY4" fmla="*/ 0 h 1200812"/>
                <a:gd name="connsiteX0" fmla="*/ 0 w 2830286"/>
                <a:gd name="connsiteY0" fmla="*/ 0 h 1204732"/>
                <a:gd name="connsiteX1" fmla="*/ 290287 w 2830286"/>
                <a:gd name="connsiteY1" fmla="*/ 729434 h 1204732"/>
                <a:gd name="connsiteX2" fmla="*/ 816429 w 2830286"/>
                <a:gd name="connsiteY2" fmla="*/ 1197484 h 1204732"/>
                <a:gd name="connsiteX3" fmla="*/ 1487714 w 2830286"/>
                <a:gd name="connsiteY3" fmla="*/ 939822 h 1204732"/>
                <a:gd name="connsiteX4" fmla="*/ 2830286 w 2830286"/>
                <a:gd name="connsiteY4" fmla="*/ 0 h 1204732"/>
                <a:gd name="connsiteX0" fmla="*/ 0 w 2739572"/>
                <a:gd name="connsiteY0" fmla="*/ 76235 h 1281646"/>
                <a:gd name="connsiteX1" fmla="*/ 290287 w 2739572"/>
                <a:gd name="connsiteY1" fmla="*/ 805669 h 1281646"/>
                <a:gd name="connsiteX2" fmla="*/ 816429 w 2739572"/>
                <a:gd name="connsiteY2" fmla="*/ 1273719 h 1281646"/>
                <a:gd name="connsiteX3" fmla="*/ 1487714 w 2739572"/>
                <a:gd name="connsiteY3" fmla="*/ 1016057 h 1281646"/>
                <a:gd name="connsiteX4" fmla="*/ 2739572 w 2739572"/>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7663"/>
                <a:gd name="connsiteX1" fmla="*/ 235859 w 2685144"/>
                <a:gd name="connsiteY1" fmla="*/ 701048 h 1287663"/>
                <a:gd name="connsiteX2" fmla="*/ 762001 w 2685144"/>
                <a:gd name="connsiteY2" fmla="*/ 1273719 h 1287663"/>
                <a:gd name="connsiteX3" fmla="*/ 1433286 w 2685144"/>
                <a:gd name="connsiteY3" fmla="*/ 1016057 h 1287663"/>
                <a:gd name="connsiteX4" fmla="*/ 2685144 w 2685144"/>
                <a:gd name="connsiteY4" fmla="*/ 0 h 1287663"/>
                <a:gd name="connsiteX0" fmla="*/ 0 w 2759846"/>
                <a:gd name="connsiteY0" fmla="*/ 0 h 1289150"/>
                <a:gd name="connsiteX1" fmla="*/ 310561 w 2759846"/>
                <a:gd name="connsiteY1" fmla="*/ 702535 h 1289150"/>
                <a:gd name="connsiteX2" fmla="*/ 836703 w 2759846"/>
                <a:gd name="connsiteY2" fmla="*/ 1275206 h 1289150"/>
                <a:gd name="connsiteX3" fmla="*/ 1507988 w 2759846"/>
                <a:gd name="connsiteY3" fmla="*/ 1017544 h 1289150"/>
                <a:gd name="connsiteX4" fmla="*/ 2759846 w 2759846"/>
                <a:gd name="connsiteY4" fmla="*/ 1487 h 1289150"/>
                <a:gd name="connsiteX0" fmla="*/ 0 w 2759846"/>
                <a:gd name="connsiteY0" fmla="*/ 0 h 1289150"/>
                <a:gd name="connsiteX1" fmla="*/ 310561 w 2759846"/>
                <a:gd name="connsiteY1" fmla="*/ 702535 h 1289150"/>
                <a:gd name="connsiteX2" fmla="*/ 836703 w 2759846"/>
                <a:gd name="connsiteY2" fmla="*/ 1275206 h 1289150"/>
                <a:gd name="connsiteX3" fmla="*/ 1507988 w 2759846"/>
                <a:gd name="connsiteY3" fmla="*/ 1017544 h 1289150"/>
                <a:gd name="connsiteX4" fmla="*/ 2759846 w 2759846"/>
                <a:gd name="connsiteY4" fmla="*/ 1487 h 1289150"/>
                <a:gd name="connsiteX0" fmla="*/ 0 w 2759846"/>
                <a:gd name="connsiteY0" fmla="*/ 0 h 1287591"/>
                <a:gd name="connsiteX1" fmla="*/ 366587 w 2759846"/>
                <a:gd name="connsiteY1" fmla="*/ 728690 h 1287591"/>
                <a:gd name="connsiteX2" fmla="*/ 836703 w 2759846"/>
                <a:gd name="connsiteY2" fmla="*/ 1275206 h 1287591"/>
                <a:gd name="connsiteX3" fmla="*/ 1507988 w 2759846"/>
                <a:gd name="connsiteY3" fmla="*/ 1017544 h 1287591"/>
                <a:gd name="connsiteX4" fmla="*/ 2759846 w 2759846"/>
                <a:gd name="connsiteY4" fmla="*/ 1487 h 1287591"/>
                <a:gd name="connsiteX0" fmla="*/ 0 w 2853224"/>
                <a:gd name="connsiteY0" fmla="*/ 0 h 1286685"/>
                <a:gd name="connsiteX1" fmla="*/ 366587 w 2853224"/>
                <a:gd name="connsiteY1" fmla="*/ 728690 h 1286685"/>
                <a:gd name="connsiteX2" fmla="*/ 836703 w 2853224"/>
                <a:gd name="connsiteY2" fmla="*/ 1275206 h 1286685"/>
                <a:gd name="connsiteX3" fmla="*/ 1507988 w 2853224"/>
                <a:gd name="connsiteY3" fmla="*/ 1017544 h 1286685"/>
                <a:gd name="connsiteX4" fmla="*/ 2853224 w 2853224"/>
                <a:gd name="connsiteY4" fmla="*/ 79953 h 1286685"/>
                <a:gd name="connsiteX0" fmla="*/ 0 w 2853224"/>
                <a:gd name="connsiteY0" fmla="*/ 0 h 1279774"/>
                <a:gd name="connsiteX1" fmla="*/ 366587 w 2853224"/>
                <a:gd name="connsiteY1" fmla="*/ 728690 h 1279774"/>
                <a:gd name="connsiteX2" fmla="*/ 836703 w 2853224"/>
                <a:gd name="connsiteY2" fmla="*/ 1275206 h 1279774"/>
                <a:gd name="connsiteX3" fmla="*/ 1676067 w 2853224"/>
                <a:gd name="connsiteY3" fmla="*/ 939078 h 1279774"/>
                <a:gd name="connsiteX4" fmla="*/ 2853224 w 2853224"/>
                <a:gd name="connsiteY4" fmla="*/ 79953 h 1279774"/>
                <a:gd name="connsiteX0" fmla="*/ 0 w 2853224"/>
                <a:gd name="connsiteY0" fmla="*/ 0 h 1357140"/>
                <a:gd name="connsiteX1" fmla="*/ 366587 w 2853224"/>
                <a:gd name="connsiteY1" fmla="*/ 728690 h 1357140"/>
                <a:gd name="connsiteX2" fmla="*/ 892729 w 2853224"/>
                <a:gd name="connsiteY2" fmla="*/ 1353672 h 1357140"/>
                <a:gd name="connsiteX3" fmla="*/ 1676067 w 2853224"/>
                <a:gd name="connsiteY3" fmla="*/ 939078 h 1357140"/>
                <a:gd name="connsiteX4" fmla="*/ 2853224 w 2853224"/>
                <a:gd name="connsiteY4" fmla="*/ 79953 h 1357140"/>
                <a:gd name="connsiteX0" fmla="*/ 0 w 2853224"/>
                <a:gd name="connsiteY0" fmla="*/ 0 h 1367153"/>
                <a:gd name="connsiteX1" fmla="*/ 366587 w 2853224"/>
                <a:gd name="connsiteY1" fmla="*/ 728690 h 1367153"/>
                <a:gd name="connsiteX2" fmla="*/ 892729 w 2853224"/>
                <a:gd name="connsiteY2" fmla="*/ 1353672 h 1367153"/>
                <a:gd name="connsiteX3" fmla="*/ 1694743 w 2853224"/>
                <a:gd name="connsiteY3" fmla="*/ 1069854 h 1367153"/>
                <a:gd name="connsiteX4" fmla="*/ 2853224 w 2853224"/>
                <a:gd name="connsiteY4" fmla="*/ 79953 h 1367153"/>
                <a:gd name="connsiteX0" fmla="*/ 0 w 2890575"/>
                <a:gd name="connsiteY0" fmla="*/ 0 h 1366348"/>
                <a:gd name="connsiteX1" fmla="*/ 366587 w 2890575"/>
                <a:gd name="connsiteY1" fmla="*/ 728690 h 1366348"/>
                <a:gd name="connsiteX2" fmla="*/ 892729 w 2890575"/>
                <a:gd name="connsiteY2" fmla="*/ 1353672 h 1366348"/>
                <a:gd name="connsiteX3" fmla="*/ 1694743 w 2890575"/>
                <a:gd name="connsiteY3" fmla="*/ 1069854 h 1366348"/>
                <a:gd name="connsiteX4" fmla="*/ 2890575 w 2890575"/>
                <a:gd name="connsiteY4" fmla="*/ 158418 h 1366348"/>
                <a:gd name="connsiteX0" fmla="*/ 0 w 2853224"/>
                <a:gd name="connsiteY0" fmla="*/ 0 h 1444812"/>
                <a:gd name="connsiteX1" fmla="*/ 329236 w 2853224"/>
                <a:gd name="connsiteY1" fmla="*/ 807156 h 1444812"/>
                <a:gd name="connsiteX2" fmla="*/ 855378 w 2853224"/>
                <a:gd name="connsiteY2" fmla="*/ 1432138 h 1444812"/>
                <a:gd name="connsiteX3" fmla="*/ 1657392 w 2853224"/>
                <a:gd name="connsiteY3" fmla="*/ 1148320 h 1444812"/>
                <a:gd name="connsiteX4" fmla="*/ 2853224 w 2853224"/>
                <a:gd name="connsiteY4" fmla="*/ 236884 h 1444812"/>
                <a:gd name="connsiteX0" fmla="*/ 0 w 2853224"/>
                <a:gd name="connsiteY0" fmla="*/ 0 h 1444813"/>
                <a:gd name="connsiteX1" fmla="*/ 329236 w 2853224"/>
                <a:gd name="connsiteY1" fmla="*/ 807156 h 1444813"/>
                <a:gd name="connsiteX2" fmla="*/ 855378 w 2853224"/>
                <a:gd name="connsiteY2" fmla="*/ 1432138 h 1444813"/>
                <a:gd name="connsiteX3" fmla="*/ 1657392 w 2853224"/>
                <a:gd name="connsiteY3" fmla="*/ 1148320 h 1444813"/>
                <a:gd name="connsiteX4" fmla="*/ 2853224 w 2853224"/>
                <a:gd name="connsiteY4" fmla="*/ 236884 h 1444813"/>
                <a:gd name="connsiteX0" fmla="*/ 0 w 2853224"/>
                <a:gd name="connsiteY0" fmla="*/ 0 h 1444813"/>
                <a:gd name="connsiteX1" fmla="*/ 329236 w 2853224"/>
                <a:gd name="connsiteY1" fmla="*/ 807156 h 1444813"/>
                <a:gd name="connsiteX2" fmla="*/ 855378 w 2853224"/>
                <a:gd name="connsiteY2" fmla="*/ 1432138 h 1444813"/>
                <a:gd name="connsiteX3" fmla="*/ 1657392 w 2853224"/>
                <a:gd name="connsiteY3" fmla="*/ 1148320 h 1444813"/>
                <a:gd name="connsiteX4" fmla="*/ 2853224 w 2853224"/>
                <a:gd name="connsiteY4" fmla="*/ 236884 h 1444813"/>
                <a:gd name="connsiteX0" fmla="*/ 0 w 2853224"/>
                <a:gd name="connsiteY0" fmla="*/ 0 h 1444813"/>
                <a:gd name="connsiteX1" fmla="*/ 855378 w 2853224"/>
                <a:gd name="connsiteY1" fmla="*/ 1432138 h 1444813"/>
                <a:gd name="connsiteX2" fmla="*/ 1657392 w 2853224"/>
                <a:gd name="connsiteY2" fmla="*/ 1148320 h 1444813"/>
                <a:gd name="connsiteX3" fmla="*/ 2853224 w 2853224"/>
                <a:gd name="connsiteY3" fmla="*/ 236884 h 1444813"/>
                <a:gd name="connsiteX0" fmla="*/ 0 w 2853224"/>
                <a:gd name="connsiteY0" fmla="*/ 0 h 1440269"/>
                <a:gd name="connsiteX1" fmla="*/ 357369 w 2853224"/>
                <a:gd name="connsiteY1" fmla="*/ 894498 h 1440269"/>
                <a:gd name="connsiteX2" fmla="*/ 855378 w 2853224"/>
                <a:gd name="connsiteY2" fmla="*/ 1432138 h 1440269"/>
                <a:gd name="connsiteX3" fmla="*/ 1657392 w 2853224"/>
                <a:gd name="connsiteY3" fmla="*/ 1148320 h 1440269"/>
                <a:gd name="connsiteX4" fmla="*/ 2853224 w 2853224"/>
                <a:gd name="connsiteY4" fmla="*/ 236884 h 1440269"/>
                <a:gd name="connsiteX0" fmla="*/ 0 w 2853224"/>
                <a:gd name="connsiteY0" fmla="*/ 0 h 1440270"/>
                <a:gd name="connsiteX1" fmla="*/ 357369 w 2853224"/>
                <a:gd name="connsiteY1" fmla="*/ 894498 h 1440270"/>
                <a:gd name="connsiteX2" fmla="*/ 799352 w 2853224"/>
                <a:gd name="connsiteY2" fmla="*/ 1432138 h 1440270"/>
                <a:gd name="connsiteX3" fmla="*/ 1657392 w 2853224"/>
                <a:gd name="connsiteY3" fmla="*/ 1148320 h 1440270"/>
                <a:gd name="connsiteX4" fmla="*/ 2853224 w 2853224"/>
                <a:gd name="connsiteY4" fmla="*/ 236884 h 1440270"/>
                <a:gd name="connsiteX0" fmla="*/ 0 w 2853224"/>
                <a:gd name="connsiteY0" fmla="*/ 0 h 1440270"/>
                <a:gd name="connsiteX1" fmla="*/ 357369 w 2853224"/>
                <a:gd name="connsiteY1" fmla="*/ 894498 h 1440270"/>
                <a:gd name="connsiteX2" fmla="*/ 799352 w 2853224"/>
                <a:gd name="connsiteY2" fmla="*/ 1432138 h 1440270"/>
                <a:gd name="connsiteX3" fmla="*/ 1657392 w 2853224"/>
                <a:gd name="connsiteY3" fmla="*/ 1148320 h 1440270"/>
                <a:gd name="connsiteX4" fmla="*/ 2853224 w 2853224"/>
                <a:gd name="connsiteY4" fmla="*/ 236884 h 1440270"/>
                <a:gd name="connsiteX0" fmla="*/ 0 w 2914872"/>
                <a:gd name="connsiteY0" fmla="*/ 0 h 1440270"/>
                <a:gd name="connsiteX1" fmla="*/ 357369 w 2914872"/>
                <a:gd name="connsiteY1" fmla="*/ 894498 h 1440270"/>
                <a:gd name="connsiteX2" fmla="*/ 799352 w 2914872"/>
                <a:gd name="connsiteY2" fmla="*/ 1432138 h 1440270"/>
                <a:gd name="connsiteX3" fmla="*/ 1657392 w 2914872"/>
                <a:gd name="connsiteY3" fmla="*/ 1148320 h 1440270"/>
                <a:gd name="connsiteX4" fmla="*/ 2914872 w 2914872"/>
                <a:gd name="connsiteY4" fmla="*/ 305958 h 1440270"/>
                <a:gd name="connsiteX0" fmla="*/ 0 w 2927202"/>
                <a:gd name="connsiteY0" fmla="*/ 0 h 1440270"/>
                <a:gd name="connsiteX1" fmla="*/ 357369 w 2927202"/>
                <a:gd name="connsiteY1" fmla="*/ 894498 h 1440270"/>
                <a:gd name="connsiteX2" fmla="*/ 799352 w 2927202"/>
                <a:gd name="connsiteY2" fmla="*/ 1432138 h 1440270"/>
                <a:gd name="connsiteX3" fmla="*/ 1657392 w 2927202"/>
                <a:gd name="connsiteY3" fmla="*/ 1148320 h 1440270"/>
                <a:gd name="connsiteX4" fmla="*/ 2927202 w 2927202"/>
                <a:gd name="connsiteY4" fmla="*/ 254153 h 1440270"/>
                <a:gd name="connsiteX0" fmla="*/ 0 w 3087488"/>
                <a:gd name="connsiteY0" fmla="*/ 0 h 1440270"/>
                <a:gd name="connsiteX1" fmla="*/ 357369 w 3087488"/>
                <a:gd name="connsiteY1" fmla="*/ 894498 h 1440270"/>
                <a:gd name="connsiteX2" fmla="*/ 799352 w 3087488"/>
                <a:gd name="connsiteY2" fmla="*/ 1432138 h 1440270"/>
                <a:gd name="connsiteX3" fmla="*/ 1657392 w 3087488"/>
                <a:gd name="connsiteY3" fmla="*/ 1148320 h 1440270"/>
                <a:gd name="connsiteX4" fmla="*/ 3087488 w 3087488"/>
                <a:gd name="connsiteY4" fmla="*/ 357762 h 1440270"/>
                <a:gd name="connsiteX0" fmla="*/ 0 w 3087488"/>
                <a:gd name="connsiteY0" fmla="*/ 0 h 1446718"/>
                <a:gd name="connsiteX1" fmla="*/ 357369 w 3087488"/>
                <a:gd name="connsiteY1" fmla="*/ 894498 h 1446718"/>
                <a:gd name="connsiteX2" fmla="*/ 799352 w 3087488"/>
                <a:gd name="connsiteY2" fmla="*/ 1432138 h 1446718"/>
                <a:gd name="connsiteX3" fmla="*/ 1682051 w 3087488"/>
                <a:gd name="connsiteY3" fmla="*/ 1200125 h 1446718"/>
                <a:gd name="connsiteX4" fmla="*/ 3087488 w 3087488"/>
                <a:gd name="connsiteY4" fmla="*/ 357762 h 1446718"/>
                <a:gd name="connsiteX0" fmla="*/ 0 w 3087488"/>
                <a:gd name="connsiteY0" fmla="*/ 0 h 1511091"/>
                <a:gd name="connsiteX1" fmla="*/ 357369 w 3087488"/>
                <a:gd name="connsiteY1" fmla="*/ 894498 h 1511091"/>
                <a:gd name="connsiteX2" fmla="*/ 836341 w 3087488"/>
                <a:gd name="connsiteY2" fmla="*/ 1501209 h 1511091"/>
                <a:gd name="connsiteX3" fmla="*/ 1682051 w 3087488"/>
                <a:gd name="connsiteY3" fmla="*/ 1200125 h 1511091"/>
                <a:gd name="connsiteX4" fmla="*/ 3087488 w 3087488"/>
                <a:gd name="connsiteY4" fmla="*/ 357762 h 1511091"/>
                <a:gd name="connsiteX0" fmla="*/ 0 w 3087488"/>
                <a:gd name="connsiteY0" fmla="*/ 0 h 1507018"/>
                <a:gd name="connsiteX1" fmla="*/ 357369 w 3087488"/>
                <a:gd name="connsiteY1" fmla="*/ 894498 h 1507018"/>
                <a:gd name="connsiteX2" fmla="*/ 836341 w 3087488"/>
                <a:gd name="connsiteY2" fmla="*/ 1501209 h 1507018"/>
                <a:gd name="connsiteX3" fmla="*/ 1657392 w 3087488"/>
                <a:gd name="connsiteY3" fmla="*/ 1148320 h 1507018"/>
                <a:gd name="connsiteX4" fmla="*/ 3087488 w 3087488"/>
                <a:gd name="connsiteY4" fmla="*/ 357762 h 1507018"/>
                <a:gd name="connsiteX0" fmla="*/ 0 w 3087488"/>
                <a:gd name="connsiteY0" fmla="*/ 0 h 1507018"/>
                <a:gd name="connsiteX1" fmla="*/ 357369 w 3087488"/>
                <a:gd name="connsiteY1" fmla="*/ 894498 h 1507018"/>
                <a:gd name="connsiteX2" fmla="*/ 836341 w 3087488"/>
                <a:gd name="connsiteY2" fmla="*/ 1501209 h 1507018"/>
                <a:gd name="connsiteX3" fmla="*/ 1657392 w 3087488"/>
                <a:gd name="connsiteY3" fmla="*/ 1148320 h 1507018"/>
                <a:gd name="connsiteX4" fmla="*/ 3087488 w 3087488"/>
                <a:gd name="connsiteY4" fmla="*/ 409567 h 1507018"/>
                <a:gd name="connsiteX0" fmla="*/ 0 w 3087488"/>
                <a:gd name="connsiteY0" fmla="*/ 0 h 1507018"/>
                <a:gd name="connsiteX1" fmla="*/ 357369 w 3087488"/>
                <a:gd name="connsiteY1" fmla="*/ 894498 h 1507018"/>
                <a:gd name="connsiteX2" fmla="*/ 836341 w 3087488"/>
                <a:gd name="connsiteY2" fmla="*/ 1501209 h 1507018"/>
                <a:gd name="connsiteX3" fmla="*/ 1657392 w 3087488"/>
                <a:gd name="connsiteY3" fmla="*/ 1148320 h 1507018"/>
                <a:gd name="connsiteX4" fmla="*/ 3087488 w 3087488"/>
                <a:gd name="connsiteY4" fmla="*/ 409567 h 1507018"/>
                <a:gd name="connsiteX0" fmla="*/ 0 w 3087488"/>
                <a:gd name="connsiteY0" fmla="*/ 0 h 1507018"/>
                <a:gd name="connsiteX1" fmla="*/ 357369 w 3087488"/>
                <a:gd name="connsiteY1" fmla="*/ 894498 h 1507018"/>
                <a:gd name="connsiteX2" fmla="*/ 836341 w 3087488"/>
                <a:gd name="connsiteY2" fmla="*/ 1501209 h 1507018"/>
                <a:gd name="connsiteX3" fmla="*/ 1657392 w 3087488"/>
                <a:gd name="connsiteY3" fmla="*/ 1148320 h 1507018"/>
                <a:gd name="connsiteX4" fmla="*/ 3087488 w 3087488"/>
                <a:gd name="connsiteY4" fmla="*/ 409567 h 1507018"/>
                <a:gd name="connsiteX0" fmla="*/ 0 w 3087488"/>
                <a:gd name="connsiteY0" fmla="*/ 0 h 1511091"/>
                <a:gd name="connsiteX1" fmla="*/ 357369 w 3087488"/>
                <a:gd name="connsiteY1" fmla="*/ 894498 h 1511091"/>
                <a:gd name="connsiteX2" fmla="*/ 836341 w 3087488"/>
                <a:gd name="connsiteY2" fmla="*/ 1501209 h 1511091"/>
                <a:gd name="connsiteX3" fmla="*/ 1682051 w 3087488"/>
                <a:gd name="connsiteY3" fmla="*/ 1200125 h 1511091"/>
                <a:gd name="connsiteX4" fmla="*/ 3087488 w 3087488"/>
                <a:gd name="connsiteY4" fmla="*/ 409567 h 1511091"/>
                <a:gd name="connsiteX0" fmla="*/ 0 w 3087488"/>
                <a:gd name="connsiteY0" fmla="*/ 0 h 1511091"/>
                <a:gd name="connsiteX1" fmla="*/ 357369 w 3087488"/>
                <a:gd name="connsiteY1" fmla="*/ 894498 h 1511091"/>
                <a:gd name="connsiteX2" fmla="*/ 836341 w 3087488"/>
                <a:gd name="connsiteY2" fmla="*/ 1501209 h 1511091"/>
                <a:gd name="connsiteX3" fmla="*/ 1682051 w 3087488"/>
                <a:gd name="connsiteY3" fmla="*/ 1200125 h 1511091"/>
                <a:gd name="connsiteX4" fmla="*/ 3087488 w 3087488"/>
                <a:gd name="connsiteY4" fmla="*/ 409567 h 1511091"/>
                <a:gd name="connsiteX0" fmla="*/ 0 w 3087488"/>
                <a:gd name="connsiteY0" fmla="*/ 0 h 1512899"/>
                <a:gd name="connsiteX1" fmla="*/ 357369 w 3087488"/>
                <a:gd name="connsiteY1" fmla="*/ 894498 h 1512899"/>
                <a:gd name="connsiteX2" fmla="*/ 836341 w 3087488"/>
                <a:gd name="connsiteY2" fmla="*/ 1501209 h 1512899"/>
                <a:gd name="connsiteX3" fmla="*/ 1682051 w 3087488"/>
                <a:gd name="connsiteY3" fmla="*/ 1200125 h 1512899"/>
                <a:gd name="connsiteX4" fmla="*/ 3087488 w 3087488"/>
                <a:gd name="connsiteY4" fmla="*/ 409567 h 1512899"/>
                <a:gd name="connsiteX0" fmla="*/ 0 w 3001180"/>
                <a:gd name="connsiteY0" fmla="*/ 0 h 1322948"/>
                <a:gd name="connsiteX1" fmla="*/ 271061 w 3001180"/>
                <a:gd name="connsiteY1" fmla="*/ 704547 h 1322948"/>
                <a:gd name="connsiteX2" fmla="*/ 750033 w 3001180"/>
                <a:gd name="connsiteY2" fmla="*/ 1311258 h 1322948"/>
                <a:gd name="connsiteX3" fmla="*/ 1595743 w 3001180"/>
                <a:gd name="connsiteY3" fmla="*/ 1010174 h 1322948"/>
                <a:gd name="connsiteX4" fmla="*/ 3001180 w 3001180"/>
                <a:gd name="connsiteY4" fmla="*/ 219616 h 1322948"/>
                <a:gd name="connsiteX0" fmla="*/ 0 w 3001180"/>
                <a:gd name="connsiteY0" fmla="*/ 0 h 1316420"/>
                <a:gd name="connsiteX1" fmla="*/ 271061 w 3001180"/>
                <a:gd name="connsiteY1" fmla="*/ 704547 h 1316420"/>
                <a:gd name="connsiteX2" fmla="*/ 750033 w 3001180"/>
                <a:gd name="connsiteY2" fmla="*/ 1311258 h 1316420"/>
                <a:gd name="connsiteX3" fmla="*/ 1613629 w 3001180"/>
                <a:gd name="connsiteY3" fmla="*/ 935009 h 1316420"/>
                <a:gd name="connsiteX4" fmla="*/ 3001180 w 3001180"/>
                <a:gd name="connsiteY4" fmla="*/ 219616 h 1316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1180" h="1316420">
                  <a:moveTo>
                    <a:pt x="0" y="0"/>
                  </a:moveTo>
                  <a:cubicBezTo>
                    <a:pt x="65787" y="127287"/>
                    <a:pt x="146056" y="486004"/>
                    <a:pt x="271061" y="704547"/>
                  </a:cubicBezTo>
                  <a:cubicBezTo>
                    <a:pt x="396066" y="923090"/>
                    <a:pt x="526272" y="1272848"/>
                    <a:pt x="750033" y="1311258"/>
                  </a:cubicBezTo>
                  <a:cubicBezTo>
                    <a:pt x="973794" y="1349668"/>
                    <a:pt x="1148020" y="1168754"/>
                    <a:pt x="1613629" y="935009"/>
                  </a:cubicBezTo>
                  <a:cubicBezTo>
                    <a:pt x="3027384" y="136174"/>
                    <a:pt x="2524481" y="465867"/>
                    <a:pt x="3001180" y="219616"/>
                  </a:cubicBezTo>
                </a:path>
              </a:pathLst>
            </a:custGeom>
            <a:ln>
              <a:solidFill>
                <a:srgbClr val="1A6EC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
        <p:nvSpPr>
          <p:cNvPr id="19" name="Line 1031"/>
          <p:cNvSpPr>
            <a:spLocks noChangeShapeType="1"/>
          </p:cNvSpPr>
          <p:nvPr/>
        </p:nvSpPr>
        <p:spPr bwMode="auto">
          <a:xfrm flipV="1">
            <a:off x="1888971" y="1629024"/>
            <a:ext cx="0" cy="2200513"/>
          </a:xfrm>
          <a:prstGeom prst="line">
            <a:avLst/>
          </a:prstGeom>
          <a:noFill/>
          <a:ln w="25400">
            <a:solidFill>
              <a:schemeClr val="tx1"/>
            </a:solidFill>
            <a:round/>
            <a:headEnd type="none"/>
            <a:tailEnd type="arrow"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20" name="Line 1031"/>
          <p:cNvSpPr>
            <a:spLocks noChangeShapeType="1"/>
          </p:cNvSpPr>
          <p:nvPr/>
        </p:nvSpPr>
        <p:spPr bwMode="auto">
          <a:xfrm flipV="1">
            <a:off x="1888970" y="3829538"/>
            <a:ext cx="3661513" cy="0"/>
          </a:xfrm>
          <a:prstGeom prst="line">
            <a:avLst/>
          </a:prstGeom>
          <a:noFill/>
          <a:ln w="25400">
            <a:solidFill>
              <a:schemeClr val="tx1"/>
            </a:solidFill>
            <a:round/>
            <a:headEnd type="none"/>
            <a:tailEnd type="arrow"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21" name="Line 1031"/>
          <p:cNvSpPr>
            <a:spLocks noChangeShapeType="1"/>
          </p:cNvSpPr>
          <p:nvPr/>
        </p:nvSpPr>
        <p:spPr bwMode="auto">
          <a:xfrm flipV="1">
            <a:off x="1888970" y="2162940"/>
            <a:ext cx="3480085" cy="1650688"/>
          </a:xfrm>
          <a:prstGeom prst="line">
            <a:avLst/>
          </a:prstGeom>
          <a:noFill/>
          <a:ln w="25400">
            <a:solidFill>
              <a:schemeClr val="accent6">
                <a:lumMod val="75000"/>
              </a:schemeClr>
            </a:solidFill>
            <a:round/>
            <a:headEnd type="none"/>
            <a:tailEnd type="none"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22" name="Forme libre 21"/>
          <p:cNvSpPr/>
          <p:nvPr/>
        </p:nvSpPr>
        <p:spPr>
          <a:xfrm>
            <a:off x="2103342" y="1962886"/>
            <a:ext cx="3265714" cy="1715799"/>
          </a:xfrm>
          <a:custGeom>
            <a:avLst/>
            <a:gdLst>
              <a:gd name="connsiteX0" fmla="*/ 0 w 3193143"/>
              <a:gd name="connsiteY0" fmla="*/ 0 h 1759999"/>
              <a:gd name="connsiteX1" fmla="*/ 526143 w 3193143"/>
              <a:gd name="connsiteY1" fmla="*/ 1251857 h 1759999"/>
              <a:gd name="connsiteX2" fmla="*/ 1505858 w 3193143"/>
              <a:gd name="connsiteY2" fmla="*/ 1632857 h 1759999"/>
              <a:gd name="connsiteX3" fmla="*/ 3193143 w 3193143"/>
              <a:gd name="connsiteY3" fmla="*/ 1759857 h 1759999"/>
              <a:gd name="connsiteX0" fmla="*/ 0 w 3193143"/>
              <a:gd name="connsiteY0" fmla="*/ 0 h 1759990"/>
              <a:gd name="connsiteX1" fmla="*/ 689429 w 3193143"/>
              <a:gd name="connsiteY1" fmla="*/ 1269999 h 1759990"/>
              <a:gd name="connsiteX2" fmla="*/ 1505858 w 3193143"/>
              <a:gd name="connsiteY2" fmla="*/ 1632857 h 1759990"/>
              <a:gd name="connsiteX3" fmla="*/ 3193143 w 3193143"/>
              <a:gd name="connsiteY3" fmla="*/ 1759857 h 1759990"/>
              <a:gd name="connsiteX0" fmla="*/ 0 w 3193143"/>
              <a:gd name="connsiteY0" fmla="*/ 0 h 1759990"/>
              <a:gd name="connsiteX1" fmla="*/ 689429 w 3193143"/>
              <a:gd name="connsiteY1" fmla="*/ 1269999 h 1759990"/>
              <a:gd name="connsiteX2" fmla="*/ 1505858 w 3193143"/>
              <a:gd name="connsiteY2" fmla="*/ 1632857 h 1759990"/>
              <a:gd name="connsiteX3" fmla="*/ 3193143 w 3193143"/>
              <a:gd name="connsiteY3" fmla="*/ 1759857 h 1759990"/>
              <a:gd name="connsiteX0" fmla="*/ 0 w 3193143"/>
              <a:gd name="connsiteY0" fmla="*/ 0 h 1760044"/>
              <a:gd name="connsiteX1" fmla="*/ 653143 w 3193143"/>
              <a:gd name="connsiteY1" fmla="*/ 1179284 h 1760044"/>
              <a:gd name="connsiteX2" fmla="*/ 1505858 w 3193143"/>
              <a:gd name="connsiteY2" fmla="*/ 1632857 h 1760044"/>
              <a:gd name="connsiteX3" fmla="*/ 3193143 w 3193143"/>
              <a:gd name="connsiteY3" fmla="*/ 1759857 h 1760044"/>
              <a:gd name="connsiteX0" fmla="*/ 0 w 3193143"/>
              <a:gd name="connsiteY0" fmla="*/ 0 h 1770287"/>
              <a:gd name="connsiteX1" fmla="*/ 653143 w 3193143"/>
              <a:gd name="connsiteY1" fmla="*/ 1179284 h 1770287"/>
              <a:gd name="connsiteX2" fmla="*/ 1524001 w 3193143"/>
              <a:gd name="connsiteY2" fmla="*/ 1705428 h 1770287"/>
              <a:gd name="connsiteX3" fmla="*/ 3193143 w 3193143"/>
              <a:gd name="connsiteY3" fmla="*/ 1759857 h 1770287"/>
              <a:gd name="connsiteX0" fmla="*/ 0 w 3265714"/>
              <a:gd name="connsiteY0" fmla="*/ 0 h 1850743"/>
              <a:gd name="connsiteX1" fmla="*/ 653143 w 3265714"/>
              <a:gd name="connsiteY1" fmla="*/ 1179284 h 1850743"/>
              <a:gd name="connsiteX2" fmla="*/ 1524001 w 3265714"/>
              <a:gd name="connsiteY2" fmla="*/ 1705428 h 1850743"/>
              <a:gd name="connsiteX3" fmla="*/ 3265714 w 3265714"/>
              <a:gd name="connsiteY3" fmla="*/ 1850571 h 1850743"/>
            </a:gdLst>
            <a:ahLst/>
            <a:cxnLst>
              <a:cxn ang="0">
                <a:pos x="connsiteX0" y="connsiteY0"/>
              </a:cxn>
              <a:cxn ang="0">
                <a:pos x="connsiteX1" y="connsiteY1"/>
              </a:cxn>
              <a:cxn ang="0">
                <a:pos x="connsiteX2" y="connsiteY2"/>
              </a:cxn>
              <a:cxn ang="0">
                <a:pos x="connsiteX3" y="connsiteY3"/>
              </a:cxn>
            </a:cxnLst>
            <a:rect l="l" t="t" r="r" b="b"/>
            <a:pathLst>
              <a:path w="3265714" h="1850743">
                <a:moveTo>
                  <a:pt x="0" y="0"/>
                </a:moveTo>
                <a:cubicBezTo>
                  <a:pt x="137583" y="489857"/>
                  <a:pt x="399143" y="895046"/>
                  <a:pt x="653143" y="1179284"/>
                </a:cubicBezTo>
                <a:cubicBezTo>
                  <a:pt x="907143" y="1463522"/>
                  <a:pt x="1088573" y="1593547"/>
                  <a:pt x="1524001" y="1705428"/>
                </a:cubicBezTo>
                <a:cubicBezTo>
                  <a:pt x="1959430" y="1817309"/>
                  <a:pt x="2951238" y="1853595"/>
                  <a:pt x="3265714" y="1850571"/>
                </a:cubicBezTo>
              </a:path>
            </a:pathLst>
          </a:custGeom>
          <a:ln>
            <a:solidFill>
              <a:srgbClr val="F76D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23" name="Forme libre 22"/>
          <p:cNvSpPr/>
          <p:nvPr/>
        </p:nvSpPr>
        <p:spPr>
          <a:xfrm>
            <a:off x="2211133" y="1833231"/>
            <a:ext cx="2927202" cy="1024017"/>
          </a:xfrm>
          <a:custGeom>
            <a:avLst/>
            <a:gdLst>
              <a:gd name="connsiteX0" fmla="*/ 0 w 2939143"/>
              <a:gd name="connsiteY0" fmla="*/ 0 h 1092007"/>
              <a:gd name="connsiteX1" fmla="*/ 326572 w 2939143"/>
              <a:gd name="connsiteY1" fmla="*/ 598714 h 1092007"/>
              <a:gd name="connsiteX2" fmla="*/ 653143 w 2939143"/>
              <a:gd name="connsiteY2" fmla="*/ 1034143 h 1092007"/>
              <a:gd name="connsiteX3" fmla="*/ 1324429 w 2939143"/>
              <a:gd name="connsiteY3" fmla="*/ 979714 h 1092007"/>
              <a:gd name="connsiteX4" fmla="*/ 2939143 w 2939143"/>
              <a:gd name="connsiteY4" fmla="*/ 54428 h 1092007"/>
              <a:gd name="connsiteX0" fmla="*/ 0 w 2939143"/>
              <a:gd name="connsiteY0" fmla="*/ 0 h 1082008"/>
              <a:gd name="connsiteX1" fmla="*/ 326572 w 2939143"/>
              <a:gd name="connsiteY1" fmla="*/ 598714 h 1082008"/>
              <a:gd name="connsiteX2" fmla="*/ 834572 w 2939143"/>
              <a:gd name="connsiteY2" fmla="*/ 1016000 h 1082008"/>
              <a:gd name="connsiteX3" fmla="*/ 1324429 w 2939143"/>
              <a:gd name="connsiteY3" fmla="*/ 979714 h 1082008"/>
              <a:gd name="connsiteX4" fmla="*/ 2939143 w 2939143"/>
              <a:gd name="connsiteY4" fmla="*/ 54428 h 1082008"/>
              <a:gd name="connsiteX0" fmla="*/ 0 w 2939143"/>
              <a:gd name="connsiteY0" fmla="*/ 0 h 1040266"/>
              <a:gd name="connsiteX1" fmla="*/ 326572 w 2939143"/>
              <a:gd name="connsiteY1" fmla="*/ 598714 h 1040266"/>
              <a:gd name="connsiteX2" fmla="*/ 834572 w 2939143"/>
              <a:gd name="connsiteY2" fmla="*/ 1016000 h 1040266"/>
              <a:gd name="connsiteX3" fmla="*/ 1433286 w 2939143"/>
              <a:gd name="connsiteY3" fmla="*/ 889000 h 1040266"/>
              <a:gd name="connsiteX4" fmla="*/ 2939143 w 2939143"/>
              <a:gd name="connsiteY4" fmla="*/ 54428 h 1040266"/>
              <a:gd name="connsiteX0" fmla="*/ 0 w 2939143"/>
              <a:gd name="connsiteY0" fmla="*/ 36286 h 1079869"/>
              <a:gd name="connsiteX1" fmla="*/ 326572 w 2939143"/>
              <a:gd name="connsiteY1" fmla="*/ 635000 h 1079869"/>
              <a:gd name="connsiteX2" fmla="*/ 834572 w 2939143"/>
              <a:gd name="connsiteY2" fmla="*/ 1052286 h 1079869"/>
              <a:gd name="connsiteX3" fmla="*/ 1433286 w 2939143"/>
              <a:gd name="connsiteY3" fmla="*/ 925286 h 1079869"/>
              <a:gd name="connsiteX4" fmla="*/ 2939143 w 2939143"/>
              <a:gd name="connsiteY4" fmla="*/ 0 h 1079869"/>
              <a:gd name="connsiteX0" fmla="*/ 0 w 2939143"/>
              <a:gd name="connsiteY0" fmla="*/ 36286 h 1042410"/>
              <a:gd name="connsiteX1" fmla="*/ 326572 w 2939143"/>
              <a:gd name="connsiteY1" fmla="*/ 635000 h 1042410"/>
              <a:gd name="connsiteX2" fmla="*/ 707572 w 2939143"/>
              <a:gd name="connsiteY2" fmla="*/ 997857 h 1042410"/>
              <a:gd name="connsiteX3" fmla="*/ 1433286 w 2939143"/>
              <a:gd name="connsiteY3" fmla="*/ 925286 h 1042410"/>
              <a:gd name="connsiteX4" fmla="*/ 2939143 w 2939143"/>
              <a:gd name="connsiteY4" fmla="*/ 0 h 1042410"/>
              <a:gd name="connsiteX0" fmla="*/ 0 w 2939143"/>
              <a:gd name="connsiteY0" fmla="*/ 36286 h 1042410"/>
              <a:gd name="connsiteX1" fmla="*/ 326572 w 2939143"/>
              <a:gd name="connsiteY1" fmla="*/ 635000 h 1042410"/>
              <a:gd name="connsiteX2" fmla="*/ 707572 w 2939143"/>
              <a:gd name="connsiteY2" fmla="*/ 997857 h 1042410"/>
              <a:gd name="connsiteX3" fmla="*/ 1433286 w 2939143"/>
              <a:gd name="connsiteY3" fmla="*/ 925286 h 1042410"/>
              <a:gd name="connsiteX4" fmla="*/ 2939143 w 2939143"/>
              <a:gd name="connsiteY4" fmla="*/ 0 h 1042410"/>
              <a:gd name="connsiteX0" fmla="*/ 0 w 2939143"/>
              <a:gd name="connsiteY0" fmla="*/ 36286 h 1042410"/>
              <a:gd name="connsiteX1" fmla="*/ 326572 w 2939143"/>
              <a:gd name="connsiteY1" fmla="*/ 635000 h 1042410"/>
              <a:gd name="connsiteX2" fmla="*/ 707572 w 2939143"/>
              <a:gd name="connsiteY2" fmla="*/ 997857 h 1042410"/>
              <a:gd name="connsiteX3" fmla="*/ 1433286 w 2939143"/>
              <a:gd name="connsiteY3" fmla="*/ 925286 h 1042410"/>
              <a:gd name="connsiteX4" fmla="*/ 2939143 w 2939143"/>
              <a:gd name="connsiteY4" fmla="*/ 0 h 1042410"/>
              <a:gd name="connsiteX0" fmla="*/ 0 w 2939143"/>
              <a:gd name="connsiteY0" fmla="*/ 36286 h 1042410"/>
              <a:gd name="connsiteX1" fmla="*/ 326572 w 2939143"/>
              <a:gd name="connsiteY1" fmla="*/ 635000 h 1042410"/>
              <a:gd name="connsiteX2" fmla="*/ 707572 w 2939143"/>
              <a:gd name="connsiteY2" fmla="*/ 997857 h 1042410"/>
              <a:gd name="connsiteX3" fmla="*/ 1433286 w 2939143"/>
              <a:gd name="connsiteY3" fmla="*/ 925286 h 1042410"/>
              <a:gd name="connsiteX4" fmla="*/ 2939143 w 2939143"/>
              <a:gd name="connsiteY4" fmla="*/ 0 h 1042410"/>
              <a:gd name="connsiteX0" fmla="*/ 0 w 2939143"/>
              <a:gd name="connsiteY0" fmla="*/ 36286 h 1053927"/>
              <a:gd name="connsiteX1" fmla="*/ 326572 w 2939143"/>
              <a:gd name="connsiteY1" fmla="*/ 635000 h 1053927"/>
              <a:gd name="connsiteX2" fmla="*/ 798286 w 2939143"/>
              <a:gd name="connsiteY2" fmla="*/ 1016000 h 1053927"/>
              <a:gd name="connsiteX3" fmla="*/ 1433286 w 2939143"/>
              <a:gd name="connsiteY3" fmla="*/ 925286 h 1053927"/>
              <a:gd name="connsiteX4" fmla="*/ 2939143 w 2939143"/>
              <a:gd name="connsiteY4" fmla="*/ 0 h 1053927"/>
              <a:gd name="connsiteX0" fmla="*/ 0 w 2939143"/>
              <a:gd name="connsiteY0" fmla="*/ 36286 h 1031891"/>
              <a:gd name="connsiteX1" fmla="*/ 326572 w 2939143"/>
              <a:gd name="connsiteY1" fmla="*/ 635000 h 1031891"/>
              <a:gd name="connsiteX2" fmla="*/ 689429 w 2939143"/>
              <a:gd name="connsiteY2" fmla="*/ 979714 h 1031891"/>
              <a:gd name="connsiteX3" fmla="*/ 1433286 w 2939143"/>
              <a:gd name="connsiteY3" fmla="*/ 925286 h 1031891"/>
              <a:gd name="connsiteX4" fmla="*/ 2939143 w 2939143"/>
              <a:gd name="connsiteY4" fmla="*/ 0 h 1031891"/>
              <a:gd name="connsiteX0" fmla="*/ 0 w 2939143"/>
              <a:gd name="connsiteY0" fmla="*/ 36286 h 999239"/>
              <a:gd name="connsiteX1" fmla="*/ 326572 w 2939143"/>
              <a:gd name="connsiteY1" fmla="*/ 635000 h 999239"/>
              <a:gd name="connsiteX2" fmla="*/ 689429 w 2939143"/>
              <a:gd name="connsiteY2" fmla="*/ 979714 h 999239"/>
              <a:gd name="connsiteX3" fmla="*/ 1378857 w 2939143"/>
              <a:gd name="connsiteY3" fmla="*/ 852714 h 999239"/>
              <a:gd name="connsiteX4" fmla="*/ 2939143 w 2939143"/>
              <a:gd name="connsiteY4" fmla="*/ 0 h 999239"/>
              <a:gd name="connsiteX0" fmla="*/ 0 w 2775858"/>
              <a:gd name="connsiteY0" fmla="*/ 36286 h 999239"/>
              <a:gd name="connsiteX1" fmla="*/ 326572 w 2775858"/>
              <a:gd name="connsiteY1" fmla="*/ 635000 h 999239"/>
              <a:gd name="connsiteX2" fmla="*/ 689429 w 2775858"/>
              <a:gd name="connsiteY2" fmla="*/ 979714 h 999239"/>
              <a:gd name="connsiteX3" fmla="*/ 1378857 w 2775858"/>
              <a:gd name="connsiteY3" fmla="*/ 852714 h 999239"/>
              <a:gd name="connsiteX4" fmla="*/ 2775858 w 2775858"/>
              <a:gd name="connsiteY4" fmla="*/ 0 h 999239"/>
              <a:gd name="connsiteX0" fmla="*/ 0 w 2830286"/>
              <a:gd name="connsiteY0" fmla="*/ 0 h 961727"/>
              <a:gd name="connsiteX1" fmla="*/ 326572 w 2830286"/>
              <a:gd name="connsiteY1" fmla="*/ 598714 h 961727"/>
              <a:gd name="connsiteX2" fmla="*/ 689429 w 2830286"/>
              <a:gd name="connsiteY2" fmla="*/ 943428 h 961727"/>
              <a:gd name="connsiteX3" fmla="*/ 1378857 w 2830286"/>
              <a:gd name="connsiteY3" fmla="*/ 816428 h 961727"/>
              <a:gd name="connsiteX4" fmla="*/ 2830286 w 2830286"/>
              <a:gd name="connsiteY4" fmla="*/ 0 h 961727"/>
              <a:gd name="connsiteX0" fmla="*/ 0 w 2830286"/>
              <a:gd name="connsiteY0" fmla="*/ 0 h 967081"/>
              <a:gd name="connsiteX1" fmla="*/ 290287 w 2830286"/>
              <a:gd name="connsiteY1" fmla="*/ 526143 h 967081"/>
              <a:gd name="connsiteX2" fmla="*/ 689429 w 2830286"/>
              <a:gd name="connsiteY2" fmla="*/ 943428 h 967081"/>
              <a:gd name="connsiteX3" fmla="*/ 1378857 w 2830286"/>
              <a:gd name="connsiteY3" fmla="*/ 816428 h 967081"/>
              <a:gd name="connsiteX4" fmla="*/ 2830286 w 2830286"/>
              <a:gd name="connsiteY4" fmla="*/ 0 h 967081"/>
              <a:gd name="connsiteX0" fmla="*/ 0 w 2830286"/>
              <a:gd name="connsiteY0" fmla="*/ 0 h 1080965"/>
              <a:gd name="connsiteX1" fmla="*/ 290287 w 2830286"/>
              <a:gd name="connsiteY1" fmla="*/ 526143 h 1080965"/>
              <a:gd name="connsiteX2" fmla="*/ 816429 w 2830286"/>
              <a:gd name="connsiteY2" fmla="*/ 1070428 h 1080965"/>
              <a:gd name="connsiteX3" fmla="*/ 1378857 w 2830286"/>
              <a:gd name="connsiteY3" fmla="*/ 816428 h 1080965"/>
              <a:gd name="connsiteX4" fmla="*/ 2830286 w 2830286"/>
              <a:gd name="connsiteY4" fmla="*/ 0 h 1080965"/>
              <a:gd name="connsiteX0" fmla="*/ 0 w 2830286"/>
              <a:gd name="connsiteY0" fmla="*/ 0 h 1102176"/>
              <a:gd name="connsiteX1" fmla="*/ 290287 w 2830286"/>
              <a:gd name="connsiteY1" fmla="*/ 526143 h 1102176"/>
              <a:gd name="connsiteX2" fmla="*/ 816429 w 2830286"/>
              <a:gd name="connsiteY2" fmla="*/ 1070428 h 1102176"/>
              <a:gd name="connsiteX3" fmla="*/ 1487714 w 2830286"/>
              <a:gd name="connsiteY3" fmla="*/ 925286 h 1102176"/>
              <a:gd name="connsiteX4" fmla="*/ 2830286 w 2830286"/>
              <a:gd name="connsiteY4" fmla="*/ 0 h 1102176"/>
              <a:gd name="connsiteX0" fmla="*/ 0 w 2830286"/>
              <a:gd name="connsiteY0" fmla="*/ 0 h 1092686"/>
              <a:gd name="connsiteX1" fmla="*/ 290287 w 2830286"/>
              <a:gd name="connsiteY1" fmla="*/ 526143 h 1092686"/>
              <a:gd name="connsiteX2" fmla="*/ 816429 w 2830286"/>
              <a:gd name="connsiteY2" fmla="*/ 1070428 h 1092686"/>
              <a:gd name="connsiteX3" fmla="*/ 1469572 w 2830286"/>
              <a:gd name="connsiteY3" fmla="*/ 889000 h 1092686"/>
              <a:gd name="connsiteX4" fmla="*/ 2830286 w 2830286"/>
              <a:gd name="connsiteY4" fmla="*/ 0 h 1092686"/>
              <a:gd name="connsiteX0" fmla="*/ 0 w 2830286"/>
              <a:gd name="connsiteY0" fmla="*/ 0 h 1092686"/>
              <a:gd name="connsiteX1" fmla="*/ 290287 w 2830286"/>
              <a:gd name="connsiteY1" fmla="*/ 526143 h 1092686"/>
              <a:gd name="connsiteX2" fmla="*/ 816429 w 2830286"/>
              <a:gd name="connsiteY2" fmla="*/ 1070428 h 1092686"/>
              <a:gd name="connsiteX3" fmla="*/ 1469572 w 2830286"/>
              <a:gd name="connsiteY3" fmla="*/ 889000 h 1092686"/>
              <a:gd name="connsiteX4" fmla="*/ 2830286 w 2830286"/>
              <a:gd name="connsiteY4" fmla="*/ 0 h 1092686"/>
              <a:gd name="connsiteX0" fmla="*/ 0 w 2830286"/>
              <a:gd name="connsiteY0" fmla="*/ 0 h 1078900"/>
              <a:gd name="connsiteX1" fmla="*/ 290287 w 2830286"/>
              <a:gd name="connsiteY1" fmla="*/ 729434 h 1078900"/>
              <a:gd name="connsiteX2" fmla="*/ 816429 w 2830286"/>
              <a:gd name="connsiteY2" fmla="*/ 1070428 h 1078900"/>
              <a:gd name="connsiteX3" fmla="*/ 1469572 w 2830286"/>
              <a:gd name="connsiteY3" fmla="*/ 889000 h 1078900"/>
              <a:gd name="connsiteX4" fmla="*/ 2830286 w 2830286"/>
              <a:gd name="connsiteY4" fmla="*/ 0 h 1078900"/>
              <a:gd name="connsiteX0" fmla="*/ 0 w 2830286"/>
              <a:gd name="connsiteY0" fmla="*/ 0 h 1200812"/>
              <a:gd name="connsiteX1" fmla="*/ 290287 w 2830286"/>
              <a:gd name="connsiteY1" fmla="*/ 729434 h 1200812"/>
              <a:gd name="connsiteX2" fmla="*/ 816429 w 2830286"/>
              <a:gd name="connsiteY2" fmla="*/ 1197484 h 1200812"/>
              <a:gd name="connsiteX3" fmla="*/ 1469572 w 2830286"/>
              <a:gd name="connsiteY3" fmla="*/ 889000 h 1200812"/>
              <a:gd name="connsiteX4" fmla="*/ 2830286 w 2830286"/>
              <a:gd name="connsiteY4" fmla="*/ 0 h 1200812"/>
              <a:gd name="connsiteX0" fmla="*/ 0 w 2830286"/>
              <a:gd name="connsiteY0" fmla="*/ 0 h 1204732"/>
              <a:gd name="connsiteX1" fmla="*/ 290287 w 2830286"/>
              <a:gd name="connsiteY1" fmla="*/ 729434 h 1204732"/>
              <a:gd name="connsiteX2" fmla="*/ 816429 w 2830286"/>
              <a:gd name="connsiteY2" fmla="*/ 1197484 h 1204732"/>
              <a:gd name="connsiteX3" fmla="*/ 1487714 w 2830286"/>
              <a:gd name="connsiteY3" fmla="*/ 939822 h 1204732"/>
              <a:gd name="connsiteX4" fmla="*/ 2830286 w 2830286"/>
              <a:gd name="connsiteY4" fmla="*/ 0 h 1204732"/>
              <a:gd name="connsiteX0" fmla="*/ 0 w 2739572"/>
              <a:gd name="connsiteY0" fmla="*/ 76235 h 1281646"/>
              <a:gd name="connsiteX1" fmla="*/ 290287 w 2739572"/>
              <a:gd name="connsiteY1" fmla="*/ 805669 h 1281646"/>
              <a:gd name="connsiteX2" fmla="*/ 816429 w 2739572"/>
              <a:gd name="connsiteY2" fmla="*/ 1273719 h 1281646"/>
              <a:gd name="connsiteX3" fmla="*/ 1487714 w 2739572"/>
              <a:gd name="connsiteY3" fmla="*/ 1016057 h 1281646"/>
              <a:gd name="connsiteX4" fmla="*/ 2739572 w 2739572"/>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1646"/>
              <a:gd name="connsiteX1" fmla="*/ 235859 w 2685144"/>
              <a:gd name="connsiteY1" fmla="*/ 805669 h 1281646"/>
              <a:gd name="connsiteX2" fmla="*/ 762001 w 2685144"/>
              <a:gd name="connsiteY2" fmla="*/ 1273719 h 1281646"/>
              <a:gd name="connsiteX3" fmla="*/ 1433286 w 2685144"/>
              <a:gd name="connsiteY3" fmla="*/ 1016057 h 1281646"/>
              <a:gd name="connsiteX4" fmla="*/ 2685144 w 2685144"/>
              <a:gd name="connsiteY4" fmla="*/ 0 h 1281646"/>
              <a:gd name="connsiteX0" fmla="*/ 0 w 2685144"/>
              <a:gd name="connsiteY0" fmla="*/ 50823 h 1287663"/>
              <a:gd name="connsiteX1" fmla="*/ 235859 w 2685144"/>
              <a:gd name="connsiteY1" fmla="*/ 701048 h 1287663"/>
              <a:gd name="connsiteX2" fmla="*/ 762001 w 2685144"/>
              <a:gd name="connsiteY2" fmla="*/ 1273719 h 1287663"/>
              <a:gd name="connsiteX3" fmla="*/ 1433286 w 2685144"/>
              <a:gd name="connsiteY3" fmla="*/ 1016057 h 1287663"/>
              <a:gd name="connsiteX4" fmla="*/ 2685144 w 2685144"/>
              <a:gd name="connsiteY4" fmla="*/ 0 h 1287663"/>
              <a:gd name="connsiteX0" fmla="*/ 0 w 2759846"/>
              <a:gd name="connsiteY0" fmla="*/ 0 h 1289150"/>
              <a:gd name="connsiteX1" fmla="*/ 310561 w 2759846"/>
              <a:gd name="connsiteY1" fmla="*/ 702535 h 1289150"/>
              <a:gd name="connsiteX2" fmla="*/ 836703 w 2759846"/>
              <a:gd name="connsiteY2" fmla="*/ 1275206 h 1289150"/>
              <a:gd name="connsiteX3" fmla="*/ 1507988 w 2759846"/>
              <a:gd name="connsiteY3" fmla="*/ 1017544 h 1289150"/>
              <a:gd name="connsiteX4" fmla="*/ 2759846 w 2759846"/>
              <a:gd name="connsiteY4" fmla="*/ 1487 h 1289150"/>
              <a:gd name="connsiteX0" fmla="*/ 0 w 2759846"/>
              <a:gd name="connsiteY0" fmla="*/ 0 h 1289150"/>
              <a:gd name="connsiteX1" fmla="*/ 310561 w 2759846"/>
              <a:gd name="connsiteY1" fmla="*/ 702535 h 1289150"/>
              <a:gd name="connsiteX2" fmla="*/ 836703 w 2759846"/>
              <a:gd name="connsiteY2" fmla="*/ 1275206 h 1289150"/>
              <a:gd name="connsiteX3" fmla="*/ 1507988 w 2759846"/>
              <a:gd name="connsiteY3" fmla="*/ 1017544 h 1289150"/>
              <a:gd name="connsiteX4" fmla="*/ 2759846 w 2759846"/>
              <a:gd name="connsiteY4" fmla="*/ 1487 h 1289150"/>
              <a:gd name="connsiteX0" fmla="*/ 0 w 2759846"/>
              <a:gd name="connsiteY0" fmla="*/ 0 h 1287591"/>
              <a:gd name="connsiteX1" fmla="*/ 366587 w 2759846"/>
              <a:gd name="connsiteY1" fmla="*/ 728690 h 1287591"/>
              <a:gd name="connsiteX2" fmla="*/ 836703 w 2759846"/>
              <a:gd name="connsiteY2" fmla="*/ 1275206 h 1287591"/>
              <a:gd name="connsiteX3" fmla="*/ 1507988 w 2759846"/>
              <a:gd name="connsiteY3" fmla="*/ 1017544 h 1287591"/>
              <a:gd name="connsiteX4" fmla="*/ 2759846 w 2759846"/>
              <a:gd name="connsiteY4" fmla="*/ 1487 h 1287591"/>
              <a:gd name="connsiteX0" fmla="*/ 0 w 2853224"/>
              <a:gd name="connsiteY0" fmla="*/ 0 h 1286685"/>
              <a:gd name="connsiteX1" fmla="*/ 366587 w 2853224"/>
              <a:gd name="connsiteY1" fmla="*/ 728690 h 1286685"/>
              <a:gd name="connsiteX2" fmla="*/ 836703 w 2853224"/>
              <a:gd name="connsiteY2" fmla="*/ 1275206 h 1286685"/>
              <a:gd name="connsiteX3" fmla="*/ 1507988 w 2853224"/>
              <a:gd name="connsiteY3" fmla="*/ 1017544 h 1286685"/>
              <a:gd name="connsiteX4" fmla="*/ 2853224 w 2853224"/>
              <a:gd name="connsiteY4" fmla="*/ 79953 h 1286685"/>
              <a:gd name="connsiteX0" fmla="*/ 0 w 2853224"/>
              <a:gd name="connsiteY0" fmla="*/ 0 h 1279774"/>
              <a:gd name="connsiteX1" fmla="*/ 366587 w 2853224"/>
              <a:gd name="connsiteY1" fmla="*/ 728690 h 1279774"/>
              <a:gd name="connsiteX2" fmla="*/ 836703 w 2853224"/>
              <a:gd name="connsiteY2" fmla="*/ 1275206 h 1279774"/>
              <a:gd name="connsiteX3" fmla="*/ 1676067 w 2853224"/>
              <a:gd name="connsiteY3" fmla="*/ 939078 h 1279774"/>
              <a:gd name="connsiteX4" fmla="*/ 2853224 w 2853224"/>
              <a:gd name="connsiteY4" fmla="*/ 79953 h 1279774"/>
              <a:gd name="connsiteX0" fmla="*/ 0 w 2853224"/>
              <a:gd name="connsiteY0" fmla="*/ 0 h 1357140"/>
              <a:gd name="connsiteX1" fmla="*/ 366587 w 2853224"/>
              <a:gd name="connsiteY1" fmla="*/ 728690 h 1357140"/>
              <a:gd name="connsiteX2" fmla="*/ 892729 w 2853224"/>
              <a:gd name="connsiteY2" fmla="*/ 1353672 h 1357140"/>
              <a:gd name="connsiteX3" fmla="*/ 1676067 w 2853224"/>
              <a:gd name="connsiteY3" fmla="*/ 939078 h 1357140"/>
              <a:gd name="connsiteX4" fmla="*/ 2853224 w 2853224"/>
              <a:gd name="connsiteY4" fmla="*/ 79953 h 1357140"/>
              <a:gd name="connsiteX0" fmla="*/ 0 w 2853224"/>
              <a:gd name="connsiteY0" fmla="*/ 0 h 1367153"/>
              <a:gd name="connsiteX1" fmla="*/ 366587 w 2853224"/>
              <a:gd name="connsiteY1" fmla="*/ 728690 h 1367153"/>
              <a:gd name="connsiteX2" fmla="*/ 892729 w 2853224"/>
              <a:gd name="connsiteY2" fmla="*/ 1353672 h 1367153"/>
              <a:gd name="connsiteX3" fmla="*/ 1694743 w 2853224"/>
              <a:gd name="connsiteY3" fmla="*/ 1069854 h 1367153"/>
              <a:gd name="connsiteX4" fmla="*/ 2853224 w 2853224"/>
              <a:gd name="connsiteY4" fmla="*/ 79953 h 1367153"/>
              <a:gd name="connsiteX0" fmla="*/ 0 w 2890575"/>
              <a:gd name="connsiteY0" fmla="*/ 0 h 1366348"/>
              <a:gd name="connsiteX1" fmla="*/ 366587 w 2890575"/>
              <a:gd name="connsiteY1" fmla="*/ 728690 h 1366348"/>
              <a:gd name="connsiteX2" fmla="*/ 892729 w 2890575"/>
              <a:gd name="connsiteY2" fmla="*/ 1353672 h 1366348"/>
              <a:gd name="connsiteX3" fmla="*/ 1694743 w 2890575"/>
              <a:gd name="connsiteY3" fmla="*/ 1069854 h 1366348"/>
              <a:gd name="connsiteX4" fmla="*/ 2890575 w 2890575"/>
              <a:gd name="connsiteY4" fmla="*/ 158418 h 1366348"/>
              <a:gd name="connsiteX0" fmla="*/ 0 w 2853224"/>
              <a:gd name="connsiteY0" fmla="*/ 0 h 1444812"/>
              <a:gd name="connsiteX1" fmla="*/ 329236 w 2853224"/>
              <a:gd name="connsiteY1" fmla="*/ 807156 h 1444812"/>
              <a:gd name="connsiteX2" fmla="*/ 855378 w 2853224"/>
              <a:gd name="connsiteY2" fmla="*/ 1432138 h 1444812"/>
              <a:gd name="connsiteX3" fmla="*/ 1657392 w 2853224"/>
              <a:gd name="connsiteY3" fmla="*/ 1148320 h 1444812"/>
              <a:gd name="connsiteX4" fmla="*/ 2853224 w 2853224"/>
              <a:gd name="connsiteY4" fmla="*/ 236884 h 1444812"/>
              <a:gd name="connsiteX0" fmla="*/ 0 w 2853224"/>
              <a:gd name="connsiteY0" fmla="*/ 0 h 1444813"/>
              <a:gd name="connsiteX1" fmla="*/ 329236 w 2853224"/>
              <a:gd name="connsiteY1" fmla="*/ 807156 h 1444813"/>
              <a:gd name="connsiteX2" fmla="*/ 855378 w 2853224"/>
              <a:gd name="connsiteY2" fmla="*/ 1432138 h 1444813"/>
              <a:gd name="connsiteX3" fmla="*/ 1657392 w 2853224"/>
              <a:gd name="connsiteY3" fmla="*/ 1148320 h 1444813"/>
              <a:gd name="connsiteX4" fmla="*/ 2853224 w 2853224"/>
              <a:gd name="connsiteY4" fmla="*/ 236884 h 1444813"/>
              <a:gd name="connsiteX0" fmla="*/ 0 w 2853224"/>
              <a:gd name="connsiteY0" fmla="*/ 0 h 1444813"/>
              <a:gd name="connsiteX1" fmla="*/ 329236 w 2853224"/>
              <a:gd name="connsiteY1" fmla="*/ 807156 h 1444813"/>
              <a:gd name="connsiteX2" fmla="*/ 855378 w 2853224"/>
              <a:gd name="connsiteY2" fmla="*/ 1432138 h 1444813"/>
              <a:gd name="connsiteX3" fmla="*/ 1657392 w 2853224"/>
              <a:gd name="connsiteY3" fmla="*/ 1148320 h 1444813"/>
              <a:gd name="connsiteX4" fmla="*/ 2853224 w 2853224"/>
              <a:gd name="connsiteY4" fmla="*/ 236884 h 1444813"/>
              <a:gd name="connsiteX0" fmla="*/ 0 w 2853224"/>
              <a:gd name="connsiteY0" fmla="*/ 0 h 1444813"/>
              <a:gd name="connsiteX1" fmla="*/ 855378 w 2853224"/>
              <a:gd name="connsiteY1" fmla="*/ 1432138 h 1444813"/>
              <a:gd name="connsiteX2" fmla="*/ 1657392 w 2853224"/>
              <a:gd name="connsiteY2" fmla="*/ 1148320 h 1444813"/>
              <a:gd name="connsiteX3" fmla="*/ 2853224 w 2853224"/>
              <a:gd name="connsiteY3" fmla="*/ 236884 h 1444813"/>
              <a:gd name="connsiteX0" fmla="*/ 0 w 2853224"/>
              <a:gd name="connsiteY0" fmla="*/ 0 h 1440269"/>
              <a:gd name="connsiteX1" fmla="*/ 357369 w 2853224"/>
              <a:gd name="connsiteY1" fmla="*/ 894498 h 1440269"/>
              <a:gd name="connsiteX2" fmla="*/ 855378 w 2853224"/>
              <a:gd name="connsiteY2" fmla="*/ 1432138 h 1440269"/>
              <a:gd name="connsiteX3" fmla="*/ 1657392 w 2853224"/>
              <a:gd name="connsiteY3" fmla="*/ 1148320 h 1440269"/>
              <a:gd name="connsiteX4" fmla="*/ 2853224 w 2853224"/>
              <a:gd name="connsiteY4" fmla="*/ 236884 h 1440269"/>
              <a:gd name="connsiteX0" fmla="*/ 0 w 2853224"/>
              <a:gd name="connsiteY0" fmla="*/ 0 h 1440270"/>
              <a:gd name="connsiteX1" fmla="*/ 357369 w 2853224"/>
              <a:gd name="connsiteY1" fmla="*/ 894498 h 1440270"/>
              <a:gd name="connsiteX2" fmla="*/ 799352 w 2853224"/>
              <a:gd name="connsiteY2" fmla="*/ 1432138 h 1440270"/>
              <a:gd name="connsiteX3" fmla="*/ 1657392 w 2853224"/>
              <a:gd name="connsiteY3" fmla="*/ 1148320 h 1440270"/>
              <a:gd name="connsiteX4" fmla="*/ 2853224 w 2853224"/>
              <a:gd name="connsiteY4" fmla="*/ 236884 h 1440270"/>
              <a:gd name="connsiteX0" fmla="*/ 0 w 2853224"/>
              <a:gd name="connsiteY0" fmla="*/ 0 h 1440270"/>
              <a:gd name="connsiteX1" fmla="*/ 357369 w 2853224"/>
              <a:gd name="connsiteY1" fmla="*/ 894498 h 1440270"/>
              <a:gd name="connsiteX2" fmla="*/ 799352 w 2853224"/>
              <a:gd name="connsiteY2" fmla="*/ 1432138 h 1440270"/>
              <a:gd name="connsiteX3" fmla="*/ 1657392 w 2853224"/>
              <a:gd name="connsiteY3" fmla="*/ 1148320 h 1440270"/>
              <a:gd name="connsiteX4" fmla="*/ 2853224 w 2853224"/>
              <a:gd name="connsiteY4" fmla="*/ 236884 h 1440270"/>
              <a:gd name="connsiteX0" fmla="*/ 0 w 2927202"/>
              <a:gd name="connsiteY0" fmla="*/ 0 h 1440270"/>
              <a:gd name="connsiteX1" fmla="*/ 357369 w 2927202"/>
              <a:gd name="connsiteY1" fmla="*/ 894498 h 1440270"/>
              <a:gd name="connsiteX2" fmla="*/ 799352 w 2927202"/>
              <a:gd name="connsiteY2" fmla="*/ 1432138 h 1440270"/>
              <a:gd name="connsiteX3" fmla="*/ 1657392 w 2927202"/>
              <a:gd name="connsiteY3" fmla="*/ 1148320 h 1440270"/>
              <a:gd name="connsiteX4" fmla="*/ 2927202 w 2927202"/>
              <a:gd name="connsiteY4" fmla="*/ 271421 h 1440270"/>
              <a:gd name="connsiteX0" fmla="*/ 0 w 2927202"/>
              <a:gd name="connsiteY0" fmla="*/ 0 h 1434261"/>
              <a:gd name="connsiteX1" fmla="*/ 357369 w 2927202"/>
              <a:gd name="connsiteY1" fmla="*/ 894498 h 1434261"/>
              <a:gd name="connsiteX2" fmla="*/ 799352 w 2927202"/>
              <a:gd name="connsiteY2" fmla="*/ 1432138 h 1434261"/>
              <a:gd name="connsiteX3" fmla="*/ 1675277 w 2927202"/>
              <a:gd name="connsiteY3" fmla="*/ 1048100 h 1434261"/>
              <a:gd name="connsiteX4" fmla="*/ 2927202 w 2927202"/>
              <a:gd name="connsiteY4" fmla="*/ 271421 h 1434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7202" h="1434261">
                <a:moveTo>
                  <a:pt x="0" y="0"/>
                </a:moveTo>
                <a:cubicBezTo>
                  <a:pt x="65787" y="127287"/>
                  <a:pt x="202106" y="602445"/>
                  <a:pt x="357369" y="894498"/>
                </a:cubicBezTo>
                <a:cubicBezTo>
                  <a:pt x="512632" y="1186551"/>
                  <a:pt x="579701" y="1406538"/>
                  <a:pt x="799352" y="1432138"/>
                </a:cubicBezTo>
                <a:cubicBezTo>
                  <a:pt x="1019003" y="1457738"/>
                  <a:pt x="1332965" y="1247309"/>
                  <a:pt x="1675277" y="1048100"/>
                </a:cubicBezTo>
                <a:cubicBezTo>
                  <a:pt x="2017589" y="848891"/>
                  <a:pt x="2927202" y="271421"/>
                  <a:pt x="2927202" y="271421"/>
                </a:cubicBezTo>
              </a:path>
            </a:pathLst>
          </a:custGeom>
          <a:ln>
            <a:solidFill>
              <a:srgbClr val="1A6EC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solidFill>
                <a:srgbClr val="1A6EC6"/>
              </a:solidFill>
            </a:endParaRPr>
          </a:p>
        </p:txBody>
      </p:sp>
      <p:sp>
        <p:nvSpPr>
          <p:cNvPr id="24" name="Line 1031"/>
          <p:cNvSpPr>
            <a:spLocks noChangeShapeType="1"/>
          </p:cNvSpPr>
          <p:nvPr/>
        </p:nvSpPr>
        <p:spPr bwMode="auto">
          <a:xfrm flipV="1">
            <a:off x="3039227" y="2861537"/>
            <a:ext cx="0" cy="967998"/>
          </a:xfrm>
          <a:prstGeom prst="line">
            <a:avLst/>
          </a:prstGeom>
          <a:noFill/>
          <a:ln w="25400">
            <a:solidFill>
              <a:srgbClr val="FF0000"/>
            </a:solidFill>
            <a:round/>
            <a:headEnd type="none"/>
            <a:tailEnd type="none" w="med" len="med"/>
          </a:ln>
          <a:extLst>
            <a:ext uri="{909E8E84-426E-40dd-AFC4-6F175D3DCCD1}">
              <a14:hiddenFill xmlns:a14="http://schemas.microsoft.com/office/drawing/2010/main" xmlns="">
                <a:noFill/>
              </a14:hiddenFill>
            </a:ext>
          </a:extLst>
        </p:spPr>
        <p:txBody>
          <a:bodyPr wrap="none" anchor="ctr"/>
          <a:lstStyle/>
          <a:p>
            <a:endParaRPr lang="fr-FR"/>
          </a:p>
        </p:txBody>
      </p:sp>
      <p:sp>
        <p:nvSpPr>
          <p:cNvPr id="25" name="ZoneTexte 24"/>
          <p:cNvSpPr txBox="1"/>
          <p:nvPr/>
        </p:nvSpPr>
        <p:spPr>
          <a:xfrm>
            <a:off x="2812768" y="3829538"/>
            <a:ext cx="452918" cy="400110"/>
          </a:xfrm>
          <a:prstGeom prst="rect">
            <a:avLst/>
          </a:prstGeom>
          <a:noFill/>
        </p:spPr>
        <p:txBody>
          <a:bodyPr wrap="none" rtlCol="0">
            <a:spAutoFit/>
          </a:bodyPr>
          <a:lstStyle/>
          <a:p>
            <a:r>
              <a:rPr lang="fr-FR" sz="2000">
                <a:solidFill>
                  <a:srgbClr val="FF0000"/>
                </a:solidFill>
              </a:rPr>
              <a:t>q*</a:t>
            </a:r>
          </a:p>
        </p:txBody>
      </p:sp>
      <p:sp>
        <p:nvSpPr>
          <p:cNvPr id="26" name="ZoneTexte 25"/>
          <p:cNvSpPr txBox="1"/>
          <p:nvPr/>
        </p:nvSpPr>
        <p:spPr>
          <a:xfrm>
            <a:off x="3782010" y="3829538"/>
            <a:ext cx="2823484" cy="400110"/>
          </a:xfrm>
          <a:prstGeom prst="rect">
            <a:avLst/>
          </a:prstGeom>
          <a:noFill/>
        </p:spPr>
        <p:txBody>
          <a:bodyPr wrap="none" rtlCol="0">
            <a:spAutoFit/>
          </a:bodyPr>
          <a:lstStyle/>
          <a:p>
            <a:r>
              <a:rPr lang="fr-FR" sz="2000"/>
              <a:t>quantité par commande</a:t>
            </a:r>
          </a:p>
        </p:txBody>
      </p:sp>
      <p:sp>
        <p:nvSpPr>
          <p:cNvPr id="27" name="ZoneTexte 26"/>
          <p:cNvSpPr txBox="1"/>
          <p:nvPr/>
        </p:nvSpPr>
        <p:spPr>
          <a:xfrm>
            <a:off x="1108313" y="1694566"/>
            <a:ext cx="780657" cy="400110"/>
          </a:xfrm>
          <a:prstGeom prst="rect">
            <a:avLst/>
          </a:prstGeom>
          <a:noFill/>
        </p:spPr>
        <p:txBody>
          <a:bodyPr wrap="none" rtlCol="0">
            <a:spAutoFit/>
          </a:bodyPr>
          <a:lstStyle/>
          <a:p>
            <a:r>
              <a:rPr lang="fr-FR" sz="2000"/>
              <a:t>coûts</a:t>
            </a:r>
          </a:p>
        </p:txBody>
      </p:sp>
      <p:sp>
        <p:nvSpPr>
          <p:cNvPr id="28" name="ZoneTexte 27"/>
          <p:cNvSpPr txBox="1"/>
          <p:nvPr/>
        </p:nvSpPr>
        <p:spPr>
          <a:xfrm>
            <a:off x="5383887" y="3395674"/>
            <a:ext cx="2105514" cy="400110"/>
          </a:xfrm>
          <a:prstGeom prst="rect">
            <a:avLst/>
          </a:prstGeom>
          <a:noFill/>
        </p:spPr>
        <p:txBody>
          <a:bodyPr wrap="none" rtlCol="0">
            <a:spAutoFit/>
          </a:bodyPr>
          <a:lstStyle/>
          <a:p>
            <a:r>
              <a:rPr lang="fr-FR" sz="2000">
                <a:solidFill>
                  <a:srgbClr val="F76D00"/>
                </a:solidFill>
              </a:rPr>
              <a:t>coût d’acquisition</a:t>
            </a:r>
          </a:p>
        </p:txBody>
      </p:sp>
      <p:sp>
        <p:nvSpPr>
          <p:cNvPr id="29" name="ZoneTexte 28"/>
          <p:cNvSpPr txBox="1"/>
          <p:nvPr/>
        </p:nvSpPr>
        <p:spPr>
          <a:xfrm>
            <a:off x="2812768" y="2162940"/>
            <a:ext cx="1249060" cy="400110"/>
          </a:xfrm>
          <a:prstGeom prst="rect">
            <a:avLst/>
          </a:prstGeom>
          <a:noFill/>
        </p:spPr>
        <p:txBody>
          <a:bodyPr wrap="none" rtlCol="0">
            <a:spAutoFit/>
          </a:bodyPr>
          <a:lstStyle/>
          <a:p>
            <a:r>
              <a:rPr lang="fr-FR" sz="2000">
                <a:solidFill>
                  <a:srgbClr val="1A6EC6"/>
                </a:solidFill>
              </a:rPr>
              <a:t>coût total</a:t>
            </a:r>
          </a:p>
        </p:txBody>
      </p:sp>
      <p:sp>
        <p:nvSpPr>
          <p:cNvPr id="30" name="ZoneTexte 29"/>
          <p:cNvSpPr txBox="1"/>
          <p:nvPr/>
        </p:nvSpPr>
        <p:spPr>
          <a:xfrm>
            <a:off x="5478862" y="1986466"/>
            <a:ext cx="3032048" cy="400110"/>
          </a:xfrm>
          <a:prstGeom prst="rect">
            <a:avLst/>
          </a:prstGeom>
          <a:noFill/>
        </p:spPr>
        <p:txBody>
          <a:bodyPr wrap="none" rtlCol="0">
            <a:spAutoFit/>
          </a:bodyPr>
          <a:lstStyle/>
          <a:p>
            <a:r>
              <a:rPr lang="fr-FR" sz="2000">
                <a:solidFill>
                  <a:schemeClr val="accent6">
                    <a:lumMod val="75000"/>
                  </a:schemeClr>
                </a:solidFill>
              </a:rPr>
              <a:t>coût de détention du stock </a:t>
            </a:r>
          </a:p>
        </p:txBody>
      </p:sp>
    </p:spTree>
    <p:extLst>
      <p:ext uri="{BB962C8B-B14F-4D97-AF65-F5344CB8AC3E}">
        <p14:creationId xmlns:p14="http://schemas.microsoft.com/office/powerpoint/2010/main" val="179048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p:txBody>
          <a:bodyPr/>
          <a:lstStyle/>
          <a:p>
            <a:r>
              <a:rPr lang="fr-FR">
                <a:solidFill>
                  <a:schemeClr val="tx1">
                    <a:lumMod val="75000"/>
                    <a:lumOff val="25000"/>
                  </a:schemeClr>
                </a:solidFill>
                <a:cs typeface="Candara"/>
              </a:rPr>
              <a:t>Formule de Wilson [4]</a:t>
            </a:r>
            <a:endParaRPr lang="fr-FR">
              <a:latin typeface="Arial" charset="0"/>
              <a:cs typeface="ＭＳ Ｐゴシック" charset="0"/>
            </a:endParaRPr>
          </a:p>
        </p:txBody>
      </p:sp>
      <p:sp>
        <p:nvSpPr>
          <p:cNvPr id="7" name="Espace réservé du numéro de diapositive 6"/>
          <p:cNvSpPr>
            <a:spLocks noGrp="1"/>
          </p:cNvSpPr>
          <p:nvPr>
            <p:ph type="sldNum" sz="quarter" idx="10"/>
          </p:nvPr>
        </p:nvSpPr>
        <p:spPr/>
        <p:txBody>
          <a:bodyPr>
            <a:normAutofit fontScale="92500" lnSpcReduction="10000"/>
          </a:bodyPr>
          <a:lstStyle/>
          <a:p>
            <a:fld id="{F7B67468-3DD6-CA41-BD75-5A7705468539}" type="slidenum">
              <a:rPr lang="fr-FR" smtClean="0"/>
              <a:t>16</a:t>
            </a:fld>
            <a:endParaRPr lang="fr-FR"/>
          </a:p>
        </p:txBody>
      </p:sp>
      <p:sp>
        <p:nvSpPr>
          <p:cNvPr id="48130" name="Rectangle 3"/>
          <p:cNvSpPr>
            <a:spLocks noGrp="1" noChangeArrowheads="1"/>
          </p:cNvSpPr>
          <p:nvPr>
            <p:ph type="body" sz="quarter" idx="12"/>
          </p:nvPr>
        </p:nvSpPr>
        <p:spPr/>
        <p:txBody>
          <a:bodyPr>
            <a:normAutofit/>
          </a:bodyPr>
          <a:lstStyle/>
          <a:p>
            <a:r>
              <a:rPr lang="fr-FR">
                <a:cs typeface="Candara"/>
              </a:rPr>
              <a:t>Variables</a:t>
            </a:r>
          </a:p>
          <a:p>
            <a:pPr lvl="1" algn="just">
              <a:spcBef>
                <a:spcPts val="600"/>
              </a:spcBef>
            </a:pPr>
            <a:r>
              <a:rPr lang="fr-FR" b="1">
                <a:ea typeface="Times New Roman" charset="0"/>
                <a:cs typeface="Candara"/>
              </a:rPr>
              <a:t>S</a:t>
            </a:r>
            <a:r>
              <a:rPr lang="fr-FR">
                <a:ea typeface="Times New Roman" charset="0"/>
                <a:cs typeface="Candara"/>
              </a:rPr>
              <a:t> besoins à satisfaire dans l'année</a:t>
            </a:r>
          </a:p>
          <a:p>
            <a:pPr lvl="1" algn="just">
              <a:spcBef>
                <a:spcPts val="600"/>
              </a:spcBef>
            </a:pPr>
            <a:r>
              <a:rPr lang="fr-FR" b="1">
                <a:ea typeface="Times New Roman" charset="0"/>
                <a:cs typeface="Candara"/>
              </a:rPr>
              <a:t>u</a:t>
            </a:r>
            <a:r>
              <a:rPr lang="fr-FR">
                <a:ea typeface="Times New Roman" charset="0"/>
                <a:cs typeface="Candara"/>
              </a:rPr>
              <a:t> le prix unitaire de l'article</a:t>
            </a:r>
          </a:p>
          <a:p>
            <a:pPr lvl="1" algn="just">
              <a:spcBef>
                <a:spcPts val="600"/>
              </a:spcBef>
            </a:pPr>
            <a:r>
              <a:rPr lang="fr-FR" b="1" err="1">
                <a:ea typeface="Times New Roman" charset="0"/>
                <a:cs typeface="Candara"/>
              </a:rPr>
              <a:t>T</a:t>
            </a:r>
            <a:r>
              <a:rPr lang="fr-FR">
                <a:ea typeface="Times New Roman" charset="0"/>
                <a:cs typeface="Candara"/>
              </a:rPr>
              <a:t> le taux de détention/possession de l'article (pourcentage)</a:t>
            </a:r>
          </a:p>
          <a:p>
            <a:pPr lvl="1" algn="just">
              <a:spcBef>
                <a:spcPts val="600"/>
              </a:spcBef>
            </a:pPr>
            <a:r>
              <a:rPr lang="fr-FR" b="1">
                <a:ea typeface="Times New Roman" charset="0"/>
                <a:cs typeface="Candara"/>
              </a:rPr>
              <a:t>a</a:t>
            </a:r>
            <a:r>
              <a:rPr lang="fr-FR">
                <a:ea typeface="Times New Roman" charset="0"/>
                <a:cs typeface="Candara"/>
              </a:rPr>
              <a:t> le coût  d'acquisition</a:t>
            </a:r>
          </a:p>
          <a:p>
            <a:pPr lvl="1" algn="just">
              <a:spcBef>
                <a:spcPts val="600"/>
              </a:spcBef>
            </a:pPr>
            <a:r>
              <a:rPr lang="fr-FR" b="1">
                <a:ea typeface="Times New Roman" charset="0"/>
                <a:cs typeface="Candara"/>
              </a:rPr>
              <a:t>q</a:t>
            </a:r>
            <a:r>
              <a:rPr lang="fr-FR">
                <a:ea typeface="Times New Roman" charset="0"/>
                <a:cs typeface="Candara"/>
              </a:rPr>
              <a:t> la quantité par commande</a:t>
            </a:r>
          </a:p>
          <a:p>
            <a:pPr lvl="1" algn="just">
              <a:spcBef>
                <a:spcPts val="600"/>
              </a:spcBef>
            </a:pPr>
            <a:r>
              <a:rPr lang="fr-FR" b="1">
                <a:ea typeface="Times New Roman" charset="0"/>
                <a:cs typeface="Candara"/>
              </a:rPr>
              <a:t>n</a:t>
            </a:r>
            <a:r>
              <a:rPr lang="fr-FR">
                <a:ea typeface="Times New Roman" charset="0"/>
                <a:cs typeface="Candara"/>
              </a:rPr>
              <a:t> le nombre de commandes dans l'année (</a:t>
            </a:r>
            <a:r>
              <a:rPr lang="fr-FR" i="1">
                <a:ea typeface="Times New Roman" charset="0"/>
                <a:cs typeface="Candara"/>
              </a:rPr>
              <a:t>n = S/q</a:t>
            </a:r>
            <a:r>
              <a:rPr lang="fr-FR">
                <a:ea typeface="Times New Roman" charset="0"/>
                <a:cs typeface="Candara"/>
              </a:rPr>
              <a:t>)</a:t>
            </a:r>
          </a:p>
          <a:p>
            <a:pPr lvl="1" algn="just">
              <a:spcBef>
                <a:spcPts val="600"/>
              </a:spcBef>
            </a:pPr>
            <a:r>
              <a:rPr lang="fr-FR" b="1">
                <a:ea typeface="Times New Roman" charset="0"/>
                <a:cs typeface="Candara"/>
              </a:rPr>
              <a:t>q/2</a:t>
            </a:r>
            <a:r>
              <a:rPr lang="fr-FR">
                <a:ea typeface="Times New Roman" charset="0"/>
                <a:cs typeface="Candara"/>
              </a:rPr>
              <a:t> le stock moyen</a:t>
            </a:r>
          </a:p>
          <a:p>
            <a:pPr lvl="1" algn="just">
              <a:spcBef>
                <a:spcPts val="600"/>
              </a:spcBef>
            </a:pPr>
            <a:r>
              <a:rPr lang="fr-FR" b="1">
                <a:ea typeface="Times New Roman" charset="0"/>
                <a:cs typeface="Candara"/>
              </a:rPr>
              <a:t>Z</a:t>
            </a:r>
            <a:r>
              <a:rPr lang="fr-FR">
                <a:ea typeface="Times New Roman" charset="0"/>
                <a:cs typeface="Candara"/>
              </a:rPr>
              <a:t> le coût total</a:t>
            </a:r>
          </a:p>
        </p:txBody>
      </p:sp>
      <p:graphicFrame>
        <p:nvGraphicFramePr>
          <p:cNvPr id="2" name="Objet 1"/>
          <p:cNvGraphicFramePr>
            <a:graphicFrameLocks noChangeAspect="1"/>
          </p:cNvGraphicFramePr>
          <p:nvPr>
            <p:extLst>
              <p:ext uri="{D42A27DB-BD31-4B8C-83A1-F6EECF244321}">
                <p14:modId xmlns:p14="http://schemas.microsoft.com/office/powerpoint/2010/main" val="3804506295"/>
              </p:ext>
            </p:extLst>
          </p:nvPr>
        </p:nvGraphicFramePr>
        <p:xfrm>
          <a:off x="2857500" y="5084763"/>
          <a:ext cx="4235450" cy="1333500"/>
        </p:xfrm>
        <a:graphic>
          <a:graphicData uri="http://schemas.openxmlformats.org/presentationml/2006/ole">
            <mc:AlternateContent xmlns:mc="http://schemas.openxmlformats.org/markup-compatibility/2006">
              <mc:Choice xmlns:v="urn:schemas-microsoft-com:vml" Requires="v">
                <p:oleObj name="Équation" r:id="rId2" imgW="1180800" imgH="393480" progId="Equation.3">
                  <p:embed/>
                </p:oleObj>
              </mc:Choice>
              <mc:Fallback>
                <p:oleObj name="Équation" r:id="rId2" imgW="1180800" imgH="393480" progId="Equation.3">
                  <p:embed/>
                  <p:pic>
                    <p:nvPicPr>
                      <p:cNvPr id="2" name="Objet 1"/>
                      <p:cNvPicPr/>
                      <p:nvPr/>
                    </p:nvPicPr>
                    <p:blipFill>
                      <a:blip r:embed="rId3"/>
                      <a:stretch>
                        <a:fillRect/>
                      </a:stretch>
                    </p:blipFill>
                    <p:spPr>
                      <a:xfrm>
                        <a:off x="2857500" y="5084763"/>
                        <a:ext cx="4235450" cy="1333500"/>
                      </a:xfrm>
                      <a:prstGeom prst="rect">
                        <a:avLst/>
                      </a:prstGeom>
                    </p:spPr>
                  </p:pic>
                </p:oleObj>
              </mc:Fallback>
            </mc:AlternateContent>
          </a:graphicData>
        </a:graphic>
      </p:graphicFrame>
      <p:sp>
        <p:nvSpPr>
          <p:cNvPr id="5" name="ZoneTexte 4"/>
          <p:cNvSpPr txBox="1"/>
          <p:nvPr/>
        </p:nvSpPr>
        <p:spPr>
          <a:xfrm>
            <a:off x="7555337" y="5240976"/>
            <a:ext cx="996683" cy="461665"/>
          </a:xfrm>
          <a:prstGeom prst="rect">
            <a:avLst/>
          </a:prstGeom>
          <a:noFill/>
        </p:spPr>
        <p:txBody>
          <a:bodyPr wrap="none" rtlCol="0">
            <a:spAutoFit/>
          </a:bodyPr>
          <a:lstStyle/>
          <a:p>
            <a:r>
              <a:rPr lang="fr-FR" sz="2400"/>
              <a:t>Avec : </a:t>
            </a:r>
          </a:p>
        </p:txBody>
      </p:sp>
      <p:sp>
        <p:nvSpPr>
          <p:cNvPr id="3" name="Rectangle 2"/>
          <p:cNvSpPr/>
          <p:nvPr/>
        </p:nvSpPr>
        <p:spPr>
          <a:xfrm>
            <a:off x="3921338" y="5018349"/>
            <a:ext cx="648589" cy="1407209"/>
          </a:xfrm>
          <a:prstGeom prst="rect">
            <a:avLst/>
          </a:prstGeom>
          <a:noFill/>
          <a:ln w="19050" cmpd="sng">
            <a:solidFill>
              <a:srgbClr val="F76D00"/>
            </a:solidFill>
            <a:prstDash val="dash"/>
          </a:ln>
          <a:effectLst/>
          <a:scene3d>
            <a:camera prst="orthographicFront"/>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600"/>
          </a:p>
        </p:txBody>
      </p:sp>
      <p:sp>
        <p:nvSpPr>
          <p:cNvPr id="9" name="Rectangle 8"/>
          <p:cNvSpPr/>
          <p:nvPr/>
        </p:nvSpPr>
        <p:spPr>
          <a:xfrm>
            <a:off x="4966255" y="5018349"/>
            <a:ext cx="648589" cy="1407209"/>
          </a:xfrm>
          <a:prstGeom prst="rect">
            <a:avLst/>
          </a:prstGeom>
          <a:noFill/>
          <a:ln w="19050" cmpd="sng">
            <a:solidFill>
              <a:srgbClr val="1A6EC6"/>
            </a:solidFill>
            <a:prstDash val="dash"/>
          </a:ln>
          <a:effectLst/>
          <a:scene3d>
            <a:camera prst="orthographicFront"/>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600"/>
          </a:p>
        </p:txBody>
      </p:sp>
      <p:sp>
        <p:nvSpPr>
          <p:cNvPr id="10" name="Rectangle 9"/>
          <p:cNvSpPr/>
          <p:nvPr/>
        </p:nvSpPr>
        <p:spPr>
          <a:xfrm>
            <a:off x="5959679" y="4999037"/>
            <a:ext cx="1205611" cy="1407209"/>
          </a:xfrm>
          <a:prstGeom prst="rect">
            <a:avLst/>
          </a:prstGeom>
          <a:noFill/>
          <a:ln w="19050" cmpd="sng">
            <a:solidFill>
              <a:srgbClr val="FF05A4"/>
            </a:solidFill>
            <a:prstDash val="dash"/>
          </a:ln>
          <a:effectLst/>
          <a:scene3d>
            <a:camera prst="orthographicFront"/>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600"/>
          </a:p>
        </p:txBody>
      </p:sp>
      <p:sp>
        <p:nvSpPr>
          <p:cNvPr id="11" name="Rectangle 10"/>
          <p:cNvSpPr/>
          <p:nvPr/>
        </p:nvSpPr>
        <p:spPr>
          <a:xfrm>
            <a:off x="2947366" y="4999037"/>
            <a:ext cx="524080" cy="1407209"/>
          </a:xfrm>
          <a:prstGeom prst="rect">
            <a:avLst/>
          </a:prstGeom>
          <a:noFill/>
          <a:ln w="19050" cmpd="sng">
            <a:solidFill>
              <a:schemeClr val="accent3">
                <a:lumMod val="50000"/>
              </a:schemeClr>
            </a:solidFill>
            <a:prstDash val="dash"/>
          </a:ln>
          <a:effectLst/>
          <a:scene3d>
            <a:camera prst="orthographicFront"/>
            <a:lightRig rig="flat" dir="tl">
              <a:rot lat="0" lon="0" rev="6360000"/>
            </a:lightRig>
          </a:scene3d>
          <a:sp3d prstMaterial="fla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600"/>
          </a:p>
        </p:txBody>
      </p:sp>
      <p:sp>
        <p:nvSpPr>
          <p:cNvPr id="4" name="ZoneTexte 3"/>
          <p:cNvSpPr txBox="1"/>
          <p:nvPr/>
        </p:nvSpPr>
        <p:spPr>
          <a:xfrm>
            <a:off x="2771266" y="6446628"/>
            <a:ext cx="1012136" cy="338554"/>
          </a:xfrm>
          <a:prstGeom prst="rect">
            <a:avLst/>
          </a:prstGeom>
          <a:noFill/>
          <a:ln w="19050" cmpd="sng">
            <a:noFill/>
          </a:ln>
        </p:spPr>
        <p:txBody>
          <a:bodyPr wrap="none" rtlCol="0">
            <a:spAutoFit/>
          </a:bodyPr>
          <a:lstStyle/>
          <a:p>
            <a:pPr algn="r"/>
            <a:r>
              <a:rPr lang="fr-FR" sz="1600">
                <a:solidFill>
                  <a:schemeClr val="accent3">
                    <a:lumMod val="50000"/>
                  </a:schemeClr>
                </a:solidFill>
              </a:rPr>
              <a:t>Coût total</a:t>
            </a:r>
          </a:p>
        </p:txBody>
      </p:sp>
      <p:sp>
        <p:nvSpPr>
          <p:cNvPr id="13" name="ZoneTexte 12"/>
          <p:cNvSpPr txBox="1"/>
          <p:nvPr/>
        </p:nvSpPr>
        <p:spPr>
          <a:xfrm>
            <a:off x="3717922" y="4608342"/>
            <a:ext cx="1225785" cy="338554"/>
          </a:xfrm>
          <a:prstGeom prst="rect">
            <a:avLst/>
          </a:prstGeom>
          <a:noFill/>
          <a:ln w="19050" cmpd="sng">
            <a:noFill/>
          </a:ln>
        </p:spPr>
        <p:txBody>
          <a:bodyPr wrap="none" rtlCol="0">
            <a:spAutoFit/>
          </a:bodyPr>
          <a:lstStyle/>
          <a:p>
            <a:pPr algn="r"/>
            <a:r>
              <a:rPr lang="fr-FR" sz="1600">
                <a:solidFill>
                  <a:srgbClr val="F76D00"/>
                </a:solidFill>
              </a:rPr>
              <a:t>Coût d’achat</a:t>
            </a:r>
          </a:p>
        </p:txBody>
      </p:sp>
      <p:sp>
        <p:nvSpPr>
          <p:cNvPr id="14" name="ZoneTexte 13"/>
          <p:cNvSpPr txBox="1"/>
          <p:nvPr/>
        </p:nvSpPr>
        <p:spPr>
          <a:xfrm>
            <a:off x="4727212" y="6406246"/>
            <a:ext cx="1673342" cy="338554"/>
          </a:xfrm>
          <a:prstGeom prst="rect">
            <a:avLst/>
          </a:prstGeom>
          <a:noFill/>
          <a:ln w="19050" cmpd="sng">
            <a:noFill/>
          </a:ln>
        </p:spPr>
        <p:txBody>
          <a:bodyPr wrap="none" rtlCol="0">
            <a:spAutoFit/>
          </a:bodyPr>
          <a:lstStyle/>
          <a:p>
            <a:pPr algn="r"/>
            <a:r>
              <a:rPr lang="fr-FR" sz="1600">
                <a:solidFill>
                  <a:srgbClr val="1A6EC6"/>
                </a:solidFill>
              </a:rPr>
              <a:t>Coût d’acquisition</a:t>
            </a:r>
          </a:p>
        </p:txBody>
      </p:sp>
      <p:sp>
        <p:nvSpPr>
          <p:cNvPr id="15" name="ZoneTexte 14"/>
          <p:cNvSpPr txBox="1"/>
          <p:nvPr/>
        </p:nvSpPr>
        <p:spPr>
          <a:xfrm>
            <a:off x="5802828" y="4608342"/>
            <a:ext cx="1697516" cy="338554"/>
          </a:xfrm>
          <a:prstGeom prst="rect">
            <a:avLst/>
          </a:prstGeom>
          <a:noFill/>
          <a:ln w="19050" cmpd="sng">
            <a:noFill/>
          </a:ln>
        </p:spPr>
        <p:txBody>
          <a:bodyPr wrap="none" rtlCol="0">
            <a:spAutoFit/>
          </a:bodyPr>
          <a:lstStyle/>
          <a:p>
            <a:pPr algn="r"/>
            <a:r>
              <a:rPr lang="fr-FR" sz="1600">
                <a:solidFill>
                  <a:srgbClr val="FF05A4"/>
                </a:solidFill>
              </a:rPr>
              <a:t>Coût de détention</a:t>
            </a:r>
          </a:p>
        </p:txBody>
      </p:sp>
      <p:graphicFrame>
        <p:nvGraphicFramePr>
          <p:cNvPr id="12" name="Objet 11"/>
          <p:cNvGraphicFramePr>
            <a:graphicFrameLocks noChangeAspect="1"/>
          </p:cNvGraphicFramePr>
          <p:nvPr>
            <p:extLst>
              <p:ext uri="{D42A27DB-BD31-4B8C-83A1-F6EECF244321}">
                <p14:modId xmlns:p14="http://schemas.microsoft.com/office/powerpoint/2010/main" val="3174936234"/>
              </p:ext>
            </p:extLst>
          </p:nvPr>
        </p:nvGraphicFramePr>
        <p:xfrm>
          <a:off x="7908677" y="5703460"/>
          <a:ext cx="839788" cy="384175"/>
        </p:xfrm>
        <a:graphic>
          <a:graphicData uri="http://schemas.openxmlformats.org/presentationml/2006/ole">
            <mc:AlternateContent xmlns:mc="http://schemas.openxmlformats.org/markup-compatibility/2006">
              <mc:Choice xmlns:v="urn:schemas-microsoft-com:vml" Requires="v">
                <p:oleObj name="Équation" r:id="rId4" imgW="444240" imgH="203040" progId="Equation.3">
                  <p:embed/>
                </p:oleObj>
              </mc:Choice>
              <mc:Fallback>
                <p:oleObj name="Équation" r:id="rId4" imgW="444240" imgH="203040" progId="Equation.3">
                  <p:embed/>
                  <p:pic>
                    <p:nvPicPr>
                      <p:cNvPr id="12" name="Objet 11"/>
                      <p:cNvPicPr/>
                      <p:nvPr/>
                    </p:nvPicPr>
                    <p:blipFill>
                      <a:blip r:embed="rId5"/>
                      <a:stretch>
                        <a:fillRect/>
                      </a:stretch>
                    </p:blipFill>
                    <p:spPr>
                      <a:xfrm>
                        <a:off x="7908677" y="5703460"/>
                        <a:ext cx="839788" cy="384175"/>
                      </a:xfrm>
                      <a:prstGeom prst="rect">
                        <a:avLst/>
                      </a:prstGeom>
                    </p:spPr>
                  </p:pic>
                </p:oleObj>
              </mc:Fallback>
            </mc:AlternateContent>
          </a:graphicData>
        </a:graphic>
      </p:graphicFrame>
    </p:spTree>
    <p:extLst>
      <p:ext uri="{BB962C8B-B14F-4D97-AF65-F5344CB8AC3E}">
        <p14:creationId xmlns:p14="http://schemas.microsoft.com/office/powerpoint/2010/main" val="18892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animBg="1"/>
      <p:bldP spid="9" grpId="0" animBg="1"/>
      <p:bldP spid="10" grpId="0" animBg="1"/>
      <p:bldP spid="11" grpId="0" animBg="1"/>
      <p:bldP spid="4" grpId="0"/>
      <p:bldP spid="13" grpId="0"/>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p:txBody>
          <a:bodyPr/>
          <a:lstStyle/>
          <a:p>
            <a:r>
              <a:rPr lang="fr-FR">
                <a:solidFill>
                  <a:schemeClr val="tx1">
                    <a:lumMod val="75000"/>
                    <a:lumOff val="25000"/>
                  </a:schemeClr>
                </a:solidFill>
                <a:cs typeface="Candara"/>
              </a:rPr>
              <a:t>Formule de Wilson [5]</a:t>
            </a:r>
            <a:endParaRPr lang="fr-FR">
              <a:latin typeface="Arial" charset="0"/>
              <a:cs typeface="ＭＳ Ｐゴシック" charset="0"/>
            </a:endParaRPr>
          </a:p>
        </p:txBody>
      </p:sp>
      <p:sp>
        <p:nvSpPr>
          <p:cNvPr id="5" name="Espace réservé du numéro de diapositive 4"/>
          <p:cNvSpPr>
            <a:spLocks noGrp="1"/>
          </p:cNvSpPr>
          <p:nvPr>
            <p:ph type="sldNum" sz="quarter" idx="10"/>
          </p:nvPr>
        </p:nvSpPr>
        <p:spPr/>
        <p:txBody>
          <a:bodyPr>
            <a:normAutofit fontScale="92500" lnSpcReduction="10000"/>
          </a:bodyPr>
          <a:lstStyle/>
          <a:p>
            <a:fld id="{F7B67468-3DD6-CA41-BD75-5A7705468539}" type="slidenum">
              <a:rPr lang="fr-FR" smtClean="0"/>
              <a:t>17</a:t>
            </a:fld>
            <a:endParaRPr lang="fr-FR"/>
          </a:p>
        </p:txBody>
      </p:sp>
      <p:sp>
        <p:nvSpPr>
          <p:cNvPr id="49154" name="Rectangle 3"/>
          <p:cNvSpPr>
            <a:spLocks noGrp="1" noChangeArrowheads="1"/>
          </p:cNvSpPr>
          <p:nvPr>
            <p:ph type="body" sz="quarter" idx="12"/>
          </p:nvPr>
        </p:nvSpPr>
        <p:spPr>
          <a:xfrm>
            <a:off x="171546" y="1644668"/>
            <a:ext cx="4121950" cy="2655320"/>
          </a:xfrm>
        </p:spPr>
        <p:txBody>
          <a:bodyPr>
            <a:normAutofit fontScale="77500" lnSpcReduction="20000"/>
          </a:bodyPr>
          <a:lstStyle/>
          <a:p>
            <a:r>
              <a:rPr lang="fr-FR">
                <a:cs typeface="Candara"/>
              </a:rPr>
              <a:t>Optimisation du </a:t>
            </a:r>
            <a:r>
              <a:rPr lang="fr-FR" b="1">
                <a:cs typeface="Candara"/>
              </a:rPr>
              <a:t>nombre de commandes</a:t>
            </a:r>
          </a:p>
          <a:p>
            <a:pPr lvl="1" algn="just">
              <a:spcBef>
                <a:spcPts val="600"/>
              </a:spcBef>
            </a:pPr>
            <a:r>
              <a:rPr lang="fr-FR" i="1">
                <a:ea typeface="Times New Roman" charset="0"/>
                <a:cs typeface="Candara"/>
              </a:rPr>
              <a:t>Z = an + </a:t>
            </a:r>
            <a:r>
              <a:rPr lang="fr-FR" i="1" err="1">
                <a:ea typeface="Times New Roman" charset="0"/>
                <a:cs typeface="Candara"/>
              </a:rPr>
              <a:t>SuT</a:t>
            </a:r>
            <a:r>
              <a:rPr lang="fr-FR" i="1">
                <a:ea typeface="Times New Roman" charset="0"/>
                <a:cs typeface="Candara"/>
              </a:rPr>
              <a:t>/2n</a:t>
            </a:r>
          </a:p>
          <a:p>
            <a:pPr lvl="1" algn="just">
              <a:spcBef>
                <a:spcPts val="600"/>
              </a:spcBef>
            </a:pPr>
            <a:r>
              <a:rPr lang="fr-FR">
                <a:ea typeface="Times New Roman" charset="0"/>
                <a:cs typeface="Candara"/>
              </a:rPr>
              <a:t>On dérive par rapport à </a:t>
            </a:r>
            <a:r>
              <a:rPr lang="fr-FR" i="1">
                <a:ea typeface="Times New Roman" charset="0"/>
                <a:cs typeface="Candara"/>
              </a:rPr>
              <a:t>n</a:t>
            </a:r>
            <a:r>
              <a:rPr lang="fr-FR">
                <a:ea typeface="Times New Roman" charset="0"/>
                <a:cs typeface="Candara"/>
              </a:rPr>
              <a:t> (nombre de commandes)</a:t>
            </a:r>
          </a:p>
          <a:p>
            <a:pPr marL="365760" lvl="1" indent="0" algn="just">
              <a:spcBef>
                <a:spcPts val="600"/>
              </a:spcBef>
              <a:buNone/>
            </a:pPr>
            <a:endParaRPr lang="fr-FR">
              <a:cs typeface="Candara"/>
            </a:endParaRPr>
          </a:p>
          <a:p>
            <a:pPr algn="just">
              <a:spcBef>
                <a:spcPts val="600"/>
              </a:spcBef>
            </a:pPr>
            <a:r>
              <a:rPr lang="fr-FR">
                <a:cs typeface="Candara"/>
              </a:rPr>
              <a:t>Le minimum est atteint pour la dérivée nulle</a:t>
            </a:r>
          </a:p>
          <a:p>
            <a:pPr lvl="1" algn="just">
              <a:spcBef>
                <a:spcPts val="600"/>
              </a:spcBef>
            </a:pPr>
            <a:r>
              <a:rPr lang="fr-FR">
                <a:cs typeface="Candara"/>
              </a:rPr>
              <a:t>D'où le </a:t>
            </a:r>
            <a:r>
              <a:rPr lang="fr-FR" b="1">
                <a:cs typeface="Candara"/>
              </a:rPr>
              <a:t>nombre optimal de commandes </a:t>
            </a:r>
            <a:r>
              <a:rPr lang="fr-FR" b="1" i="1">
                <a:cs typeface="Candara"/>
              </a:rPr>
              <a:t>n*</a:t>
            </a:r>
          </a:p>
          <a:p>
            <a:pPr algn="just">
              <a:spcBef>
                <a:spcPts val="600"/>
              </a:spcBef>
            </a:pPr>
            <a:endParaRPr lang="fr-FR">
              <a:cs typeface="Candara"/>
            </a:endParaRPr>
          </a:p>
          <a:p>
            <a:pPr lvl="1" algn="just">
              <a:spcBef>
                <a:spcPts val="600"/>
              </a:spcBef>
            </a:pPr>
            <a:endParaRPr lang="fr-FR">
              <a:ea typeface="Times New Roman" charset="0"/>
              <a:cs typeface="Candara"/>
            </a:endParaRPr>
          </a:p>
        </p:txBody>
      </p:sp>
      <p:graphicFrame>
        <p:nvGraphicFramePr>
          <p:cNvPr id="49155" name="Object 2"/>
          <p:cNvGraphicFramePr>
            <a:graphicFrameLocks noChangeAspect="1"/>
          </p:cNvGraphicFramePr>
          <p:nvPr>
            <p:extLst>
              <p:ext uri="{D42A27DB-BD31-4B8C-83A1-F6EECF244321}">
                <p14:modId xmlns:p14="http://schemas.microsoft.com/office/powerpoint/2010/main" val="2036629181"/>
              </p:ext>
            </p:extLst>
          </p:nvPr>
        </p:nvGraphicFramePr>
        <p:xfrm>
          <a:off x="962500" y="4293536"/>
          <a:ext cx="3098800" cy="860425"/>
        </p:xfrm>
        <a:graphic>
          <a:graphicData uri="http://schemas.openxmlformats.org/presentationml/2006/ole">
            <mc:AlternateContent xmlns:mc="http://schemas.openxmlformats.org/markup-compatibility/2006">
              <mc:Choice xmlns:v="urn:schemas-microsoft-com:vml" Requires="v">
                <p:oleObj name="Equation" r:id="rId3" imgW="1548728" imgH="431613" progId="Equation.3">
                  <p:embed/>
                </p:oleObj>
              </mc:Choice>
              <mc:Fallback>
                <p:oleObj name="Equation" r:id="rId3" imgW="1548728" imgH="431613" progId="Equation.3">
                  <p:embed/>
                  <p:pic>
                    <p:nvPicPr>
                      <p:cNvPr id="4915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500" y="4293536"/>
                        <a:ext cx="3098800" cy="860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49156" name="Object 3"/>
          <p:cNvGraphicFramePr>
            <a:graphicFrameLocks noChangeAspect="1"/>
          </p:cNvGraphicFramePr>
          <p:nvPr>
            <p:extLst>
              <p:ext uri="{D42A27DB-BD31-4B8C-83A1-F6EECF244321}">
                <p14:modId xmlns:p14="http://schemas.microsoft.com/office/powerpoint/2010/main" val="1402495039"/>
              </p:ext>
            </p:extLst>
          </p:nvPr>
        </p:nvGraphicFramePr>
        <p:xfrm>
          <a:off x="1556665" y="5446731"/>
          <a:ext cx="1710190" cy="1027962"/>
        </p:xfrm>
        <a:graphic>
          <a:graphicData uri="http://schemas.openxmlformats.org/presentationml/2006/ole">
            <mc:AlternateContent xmlns:mc="http://schemas.openxmlformats.org/markup-compatibility/2006">
              <mc:Choice xmlns:v="urn:schemas-microsoft-com:vml" Requires="v">
                <p:oleObj name="…quation" r:id="rId5" imgW="736280" imgH="444307" progId="Equation.3">
                  <p:embed/>
                </p:oleObj>
              </mc:Choice>
              <mc:Fallback>
                <p:oleObj name="…quation" r:id="rId5" imgW="736280" imgH="444307" progId="Equation.3">
                  <p:embed/>
                  <p:pic>
                    <p:nvPicPr>
                      <p:cNvPr id="4915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6665" y="5446731"/>
                        <a:ext cx="1710190" cy="1027962"/>
                      </a:xfrm>
                      <a:prstGeom prst="rect">
                        <a:avLst/>
                      </a:prstGeom>
                      <a:noFill/>
                      <a:ln w="38100" cmpd="sng">
                        <a:solidFill>
                          <a:srgbClr val="F76D00"/>
                        </a:solidFill>
                      </a:ln>
                      <a:effectLst/>
                    </p:spPr>
                  </p:pic>
                </p:oleObj>
              </mc:Fallback>
            </mc:AlternateContent>
          </a:graphicData>
        </a:graphic>
      </p:graphicFrame>
      <p:sp>
        <p:nvSpPr>
          <p:cNvPr id="2" name="Rectangle 3">
            <a:extLst>
              <a:ext uri="{FF2B5EF4-FFF2-40B4-BE49-F238E27FC236}">
                <a16:creationId xmlns:a16="http://schemas.microsoft.com/office/drawing/2014/main" id="{A9D269AA-EB34-7145-C35E-3F99C9DC40B5}"/>
              </a:ext>
            </a:extLst>
          </p:cNvPr>
          <p:cNvSpPr txBox="1">
            <a:spLocks noChangeArrowheads="1"/>
          </p:cNvSpPr>
          <p:nvPr/>
        </p:nvSpPr>
        <p:spPr>
          <a:xfrm>
            <a:off x="4571999" y="1628776"/>
            <a:ext cx="4400455" cy="2671212"/>
          </a:xfrm>
          <a:prstGeom prst="rect">
            <a:avLst/>
          </a:prstGeom>
        </p:spPr>
        <p:txBody>
          <a:bodyPr vert="horz">
            <a:normAutofit fontScale="77500" lnSpcReduction="20000"/>
          </a:bodyPr>
          <a:lstStyle>
            <a:lvl1pPr marL="320040" indent="-320040" algn="l" rtl="0" eaLnBrk="1" latinLnBrk="0" hangingPunct="1">
              <a:spcBef>
                <a:spcPts val="700"/>
              </a:spcBef>
              <a:buClr>
                <a:schemeClr val="accent2"/>
              </a:buClr>
              <a:buSzPct val="80000"/>
              <a:buFont typeface="Wingdings" pitchFamily="2" charset="2"/>
              <a:buChar char="Ø"/>
              <a:defRPr kumimoji="0" sz="2400" kern="1200">
                <a:solidFill>
                  <a:schemeClr val="tx1"/>
                </a:solidFill>
                <a:latin typeface="+mn-lt"/>
                <a:ea typeface="Linux Biolinum G" pitchFamily="2" charset="0"/>
                <a:cs typeface="Linux Biolinum G" pitchFamily="2" charset="0"/>
              </a:defRPr>
            </a:lvl1pPr>
            <a:lvl2pPr marL="640080" indent="-274320" algn="l" rtl="0" eaLnBrk="1" latinLnBrk="0" hangingPunct="1">
              <a:spcBef>
                <a:spcPts val="550"/>
              </a:spcBef>
              <a:buClr>
                <a:schemeClr val="accent1"/>
              </a:buClr>
              <a:buSzPct val="70000"/>
              <a:buFont typeface="Wingdings 2"/>
              <a:buChar char=""/>
              <a:defRPr kumimoji="0" sz="2000" kern="1200">
                <a:solidFill>
                  <a:schemeClr val="tx1"/>
                </a:solidFill>
                <a:latin typeface="+mn-lt"/>
                <a:ea typeface="Linux Biolinum G" pitchFamily="2" charset="0"/>
                <a:cs typeface="Linux Biolinum G" pitchFamily="2" charset="0"/>
              </a:defRPr>
            </a:lvl2pPr>
            <a:lvl3pPr marL="914400" indent="-228600" algn="l" rtl="0" eaLnBrk="1" latinLnBrk="0" hangingPunct="1">
              <a:spcBef>
                <a:spcPts val="500"/>
              </a:spcBef>
              <a:buClr>
                <a:schemeClr val="accent2"/>
              </a:buClr>
              <a:buSzPct val="75000"/>
              <a:buFont typeface="Wingdings"/>
              <a:buChar char=""/>
              <a:defRPr kumimoji="0" sz="1800" kern="1200">
                <a:solidFill>
                  <a:schemeClr val="tx1"/>
                </a:solidFill>
                <a:latin typeface="+mn-lt"/>
                <a:ea typeface="Linux Biolinum G" pitchFamily="2" charset="0"/>
                <a:cs typeface="Linux Biolinum G" pitchFamily="2" charset="0"/>
              </a:defRPr>
            </a:lvl3pPr>
            <a:lvl4pPr marL="1371600" indent="-228600" algn="l" rtl="0" eaLnBrk="1" latinLnBrk="0" hangingPunct="1">
              <a:spcBef>
                <a:spcPts val="400"/>
              </a:spcBef>
              <a:buClr>
                <a:schemeClr val="accent3"/>
              </a:buClr>
              <a:buSzPct val="75000"/>
              <a:buFont typeface="Wingdings"/>
              <a:buChar char=""/>
              <a:defRPr kumimoji="0" sz="1600" kern="1200">
                <a:solidFill>
                  <a:schemeClr val="tx1"/>
                </a:solidFill>
                <a:latin typeface="+mn-lt"/>
                <a:ea typeface="Linux Biolinum G" pitchFamily="2" charset="0"/>
                <a:cs typeface="Linux Biolinum G" pitchFamily="2" charset="0"/>
              </a:defRPr>
            </a:lvl4pPr>
            <a:lvl5pPr marL="1828800" indent="-228600" algn="l" rtl="0" eaLnBrk="1" latinLnBrk="0" hangingPunct="1">
              <a:spcBef>
                <a:spcPts val="400"/>
              </a:spcBef>
              <a:buClr>
                <a:schemeClr val="accent4"/>
              </a:buClr>
              <a:buSzPct val="65000"/>
              <a:buFont typeface="Wingdings"/>
              <a:buChar char=""/>
              <a:defRPr kumimoji="0" sz="1600" kern="1200">
                <a:solidFill>
                  <a:schemeClr val="tx1"/>
                </a:solidFill>
                <a:latin typeface="+mn-lt"/>
                <a:ea typeface="Linux Biolinum G" pitchFamily="2" charset="0"/>
                <a:cs typeface="Linux Biolinum G" pitchFamily="2" charset="0"/>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fr-FR">
                <a:cs typeface="Candara"/>
              </a:rPr>
              <a:t>Optimisation de la </a:t>
            </a:r>
            <a:r>
              <a:rPr lang="fr-FR" b="1">
                <a:cs typeface="Candara"/>
              </a:rPr>
              <a:t>quantité à commander</a:t>
            </a:r>
          </a:p>
          <a:p>
            <a:pPr lvl="1" algn="just">
              <a:spcBef>
                <a:spcPts val="600"/>
              </a:spcBef>
            </a:pPr>
            <a:r>
              <a:rPr lang="fr-FR" i="1">
                <a:ea typeface="Times New Roman" charset="0"/>
                <a:cs typeface="Candara"/>
              </a:rPr>
              <a:t>Z = </a:t>
            </a:r>
            <a:r>
              <a:rPr lang="fr-FR" i="1" err="1">
                <a:ea typeface="Times New Roman" charset="0"/>
                <a:cs typeface="Candara"/>
              </a:rPr>
              <a:t>aS</a:t>
            </a:r>
            <a:r>
              <a:rPr lang="fr-FR" i="1">
                <a:ea typeface="Times New Roman" charset="0"/>
                <a:cs typeface="Candara"/>
              </a:rPr>
              <a:t>/q + </a:t>
            </a:r>
            <a:r>
              <a:rPr lang="fr-FR" i="1" err="1">
                <a:ea typeface="Times New Roman" charset="0"/>
                <a:cs typeface="Candara"/>
              </a:rPr>
              <a:t>quT</a:t>
            </a:r>
            <a:r>
              <a:rPr lang="fr-FR" i="1">
                <a:ea typeface="Times New Roman" charset="0"/>
                <a:cs typeface="Candara"/>
              </a:rPr>
              <a:t>/2</a:t>
            </a:r>
          </a:p>
          <a:p>
            <a:pPr lvl="1" algn="just">
              <a:spcBef>
                <a:spcPts val="600"/>
              </a:spcBef>
            </a:pPr>
            <a:r>
              <a:rPr lang="fr-FR">
                <a:ea typeface="Times New Roman" charset="0"/>
                <a:cs typeface="Candara"/>
              </a:rPr>
              <a:t>On dérive par rapport à q (quantité par commande)</a:t>
            </a:r>
          </a:p>
          <a:p>
            <a:pPr algn="just">
              <a:spcBef>
                <a:spcPts val="600"/>
              </a:spcBef>
            </a:pPr>
            <a:endParaRPr lang="fr-FR">
              <a:cs typeface="Candara"/>
            </a:endParaRPr>
          </a:p>
          <a:p>
            <a:pPr algn="just">
              <a:spcBef>
                <a:spcPts val="600"/>
              </a:spcBef>
            </a:pPr>
            <a:r>
              <a:rPr lang="fr-FR">
                <a:cs typeface="Candara"/>
              </a:rPr>
              <a:t>Le minimum est atteint pour la dérivée nulle</a:t>
            </a:r>
          </a:p>
          <a:p>
            <a:pPr lvl="1" algn="just">
              <a:spcBef>
                <a:spcPts val="600"/>
              </a:spcBef>
            </a:pPr>
            <a:r>
              <a:rPr lang="fr-FR">
                <a:cs typeface="Candara"/>
              </a:rPr>
              <a:t>D'où la </a:t>
            </a:r>
            <a:r>
              <a:rPr lang="fr-FR" b="1">
                <a:cs typeface="Candara"/>
              </a:rPr>
              <a:t>quantité optimale par commande </a:t>
            </a:r>
            <a:r>
              <a:rPr lang="fr-FR" b="1" i="1">
                <a:cs typeface="Candara"/>
              </a:rPr>
              <a:t>q*</a:t>
            </a:r>
          </a:p>
          <a:p>
            <a:pPr algn="just">
              <a:spcBef>
                <a:spcPts val="600"/>
              </a:spcBef>
            </a:pPr>
            <a:endParaRPr lang="fr-FR">
              <a:cs typeface="Candara"/>
            </a:endParaRPr>
          </a:p>
          <a:p>
            <a:pPr lvl="1" algn="just">
              <a:spcBef>
                <a:spcPts val="600"/>
              </a:spcBef>
            </a:pPr>
            <a:endParaRPr lang="fr-FR">
              <a:ea typeface="Times New Roman" charset="0"/>
              <a:cs typeface="Candara"/>
            </a:endParaRPr>
          </a:p>
        </p:txBody>
      </p:sp>
      <p:graphicFrame>
        <p:nvGraphicFramePr>
          <p:cNvPr id="3" name="Object 2">
            <a:extLst>
              <a:ext uri="{FF2B5EF4-FFF2-40B4-BE49-F238E27FC236}">
                <a16:creationId xmlns:a16="http://schemas.microsoft.com/office/drawing/2014/main" id="{18079C27-7E76-00B7-E48A-1BD3B96D4D80}"/>
              </a:ext>
            </a:extLst>
          </p:cNvPr>
          <p:cNvGraphicFramePr>
            <a:graphicFrameLocks noChangeAspect="1"/>
          </p:cNvGraphicFramePr>
          <p:nvPr>
            <p:extLst>
              <p:ext uri="{D42A27DB-BD31-4B8C-83A1-F6EECF244321}">
                <p14:modId xmlns:p14="http://schemas.microsoft.com/office/powerpoint/2010/main" val="426024847"/>
              </p:ext>
            </p:extLst>
          </p:nvPr>
        </p:nvGraphicFramePr>
        <p:xfrm>
          <a:off x="5093374" y="4233211"/>
          <a:ext cx="3197225" cy="920750"/>
        </p:xfrm>
        <a:graphic>
          <a:graphicData uri="http://schemas.openxmlformats.org/presentationml/2006/ole">
            <mc:AlternateContent xmlns:mc="http://schemas.openxmlformats.org/markup-compatibility/2006">
              <mc:Choice xmlns:v="urn:schemas-microsoft-com:vml" Requires="v">
                <p:oleObj name="Équation" r:id="rId7" imgW="1587240" imgH="457200" progId="Equation.3">
                  <p:embed/>
                </p:oleObj>
              </mc:Choice>
              <mc:Fallback>
                <p:oleObj name="Équation" r:id="rId7" imgW="1587240" imgH="457200" progId="Equation.3">
                  <p:embed/>
                  <p:pic>
                    <p:nvPicPr>
                      <p:cNvPr id="3" name="Object 2">
                        <a:extLst>
                          <a:ext uri="{FF2B5EF4-FFF2-40B4-BE49-F238E27FC236}">
                            <a16:creationId xmlns:a16="http://schemas.microsoft.com/office/drawing/2014/main" id="{18079C27-7E76-00B7-E48A-1BD3B96D4D80}"/>
                          </a:ext>
                        </a:extLst>
                      </p:cNvPr>
                      <p:cNvPicPr>
                        <a:picLocks noChangeAspect="1" noChangeArrowheads="1"/>
                      </p:cNvPicPr>
                      <p:nvPr/>
                    </p:nvPicPr>
                    <p:blipFill>
                      <a:blip r:embed="rId8"/>
                      <a:srcRect/>
                      <a:stretch>
                        <a:fillRect/>
                      </a:stretch>
                    </p:blipFill>
                    <p:spPr bwMode="auto">
                      <a:xfrm>
                        <a:off x="5093374" y="4233211"/>
                        <a:ext cx="3197225" cy="920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4" name="Object 3">
            <a:extLst>
              <a:ext uri="{FF2B5EF4-FFF2-40B4-BE49-F238E27FC236}">
                <a16:creationId xmlns:a16="http://schemas.microsoft.com/office/drawing/2014/main" id="{8A078E60-0F33-E47B-6742-65E3362D57C2}"/>
              </a:ext>
            </a:extLst>
          </p:cNvPr>
          <p:cNvGraphicFramePr>
            <a:graphicFrameLocks noChangeAspect="1"/>
          </p:cNvGraphicFramePr>
          <p:nvPr>
            <p:extLst>
              <p:ext uri="{D42A27DB-BD31-4B8C-83A1-F6EECF244321}">
                <p14:modId xmlns:p14="http://schemas.microsoft.com/office/powerpoint/2010/main" val="3174901376"/>
              </p:ext>
            </p:extLst>
          </p:nvPr>
        </p:nvGraphicFramePr>
        <p:xfrm>
          <a:off x="5548123" y="5361680"/>
          <a:ext cx="1814187" cy="1113014"/>
        </p:xfrm>
        <a:graphic>
          <a:graphicData uri="http://schemas.openxmlformats.org/presentationml/2006/ole">
            <mc:AlternateContent xmlns:mc="http://schemas.openxmlformats.org/markup-compatibility/2006">
              <mc:Choice xmlns:v="urn:schemas-microsoft-com:vml" Requires="v">
                <p:oleObj name="…quation" r:id="rId9" imgW="723586" imgH="444307" progId="Equation.3">
                  <p:embed/>
                </p:oleObj>
              </mc:Choice>
              <mc:Fallback>
                <p:oleObj name="…quation" r:id="rId9" imgW="723586" imgH="444307" progId="Equation.3">
                  <p:embed/>
                  <p:pic>
                    <p:nvPicPr>
                      <p:cNvPr id="4" name="Object 3">
                        <a:extLst>
                          <a:ext uri="{FF2B5EF4-FFF2-40B4-BE49-F238E27FC236}">
                            <a16:creationId xmlns:a16="http://schemas.microsoft.com/office/drawing/2014/main" id="{8A078E60-0F33-E47B-6742-65E3362D57C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48123" y="5361680"/>
                        <a:ext cx="1814187" cy="1113014"/>
                      </a:xfrm>
                      <a:prstGeom prst="rect">
                        <a:avLst/>
                      </a:prstGeom>
                      <a:noFill/>
                      <a:ln w="38100" cmpd="sng">
                        <a:solidFill>
                          <a:srgbClr val="F76D00"/>
                        </a:solidFill>
                      </a:ln>
                      <a:effectLst/>
                    </p:spPr>
                  </p:pic>
                </p:oleObj>
              </mc:Fallback>
            </mc:AlternateContent>
          </a:graphicData>
        </a:graphic>
      </p:graphicFrame>
      <p:cxnSp>
        <p:nvCxnSpPr>
          <p:cNvPr id="7" name="Connecteur droit 6">
            <a:extLst>
              <a:ext uri="{FF2B5EF4-FFF2-40B4-BE49-F238E27FC236}">
                <a16:creationId xmlns:a16="http://schemas.microsoft.com/office/drawing/2014/main" id="{2DFB31BF-D90C-FF3B-915B-0936340DD3F2}"/>
              </a:ext>
            </a:extLst>
          </p:cNvPr>
          <p:cNvCxnSpPr/>
          <p:nvPr/>
        </p:nvCxnSpPr>
        <p:spPr>
          <a:xfrm>
            <a:off x="4436985" y="1644668"/>
            <a:ext cx="0" cy="497968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574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p:txBody>
          <a:bodyPr/>
          <a:lstStyle/>
          <a:p>
            <a:r>
              <a:rPr lang="fr-FR">
                <a:solidFill>
                  <a:schemeClr val="tx1">
                    <a:lumMod val="75000"/>
                    <a:lumOff val="25000"/>
                  </a:schemeClr>
                </a:solidFill>
                <a:cs typeface="Candara"/>
              </a:rPr>
              <a:t>Formule de Wilson [7]</a:t>
            </a:r>
            <a:endParaRPr lang="fr-FR">
              <a:latin typeface="Arial" charset="0"/>
              <a:cs typeface="ＭＳ Ｐゴシック" charset="0"/>
            </a:endParaRPr>
          </a:p>
        </p:txBody>
      </p:sp>
      <p:sp>
        <p:nvSpPr>
          <p:cNvPr id="5" name="Espace réservé du numéro de diapositive 4"/>
          <p:cNvSpPr>
            <a:spLocks noGrp="1"/>
          </p:cNvSpPr>
          <p:nvPr>
            <p:ph type="sldNum" sz="quarter" idx="10"/>
          </p:nvPr>
        </p:nvSpPr>
        <p:spPr/>
        <p:txBody>
          <a:bodyPr>
            <a:normAutofit fontScale="92500" lnSpcReduction="10000"/>
          </a:bodyPr>
          <a:lstStyle/>
          <a:p>
            <a:fld id="{F7B67468-3DD6-CA41-BD75-5A7705468539}" type="slidenum">
              <a:rPr lang="fr-FR" smtClean="0"/>
              <a:t>18</a:t>
            </a:fld>
            <a:endParaRPr lang="fr-FR"/>
          </a:p>
        </p:txBody>
      </p:sp>
      <p:sp>
        <p:nvSpPr>
          <p:cNvPr id="51202" name="Rectangle 3"/>
          <p:cNvSpPr>
            <a:spLocks noGrp="1" noChangeArrowheads="1"/>
          </p:cNvSpPr>
          <p:nvPr>
            <p:ph type="body" sz="quarter" idx="12"/>
          </p:nvPr>
        </p:nvSpPr>
        <p:spPr/>
        <p:txBody>
          <a:bodyPr>
            <a:normAutofit/>
          </a:bodyPr>
          <a:lstStyle/>
          <a:p>
            <a:r>
              <a:rPr lang="fr-FR">
                <a:cs typeface="Candara"/>
              </a:rPr>
              <a:t>Sensibilité</a:t>
            </a:r>
          </a:p>
          <a:p>
            <a:pPr lvl="1"/>
            <a:r>
              <a:rPr lang="fr-FR">
                <a:cs typeface="Candara"/>
              </a:rPr>
              <a:t>Les hypothèses sont très restrictives et surtout les paramètres de coûts d'acquisition et de possession sont difficiles à obtenir</a:t>
            </a:r>
          </a:p>
          <a:p>
            <a:pPr marL="274320" lvl="1"/>
            <a:endParaRPr lang="fr-FR" sz="2400">
              <a:cs typeface="Candara"/>
            </a:endParaRPr>
          </a:p>
          <a:p>
            <a:r>
              <a:rPr lang="fr-FR">
                <a:cs typeface="Candara"/>
              </a:rPr>
              <a:t>Formule de Wilson très robuste…</a:t>
            </a:r>
          </a:p>
          <a:p>
            <a:pPr lvl="1"/>
            <a:r>
              <a:rPr lang="fr-FR">
                <a:cs typeface="Candara"/>
              </a:rPr>
              <a:t>Si erreur du simple au double dans le coût d'acquisition, alors variation de 40% de </a:t>
            </a:r>
            <a:r>
              <a:rPr lang="fr-FR" i="1">
                <a:cs typeface="Candara"/>
              </a:rPr>
              <a:t>q*</a:t>
            </a:r>
            <a:r>
              <a:rPr lang="fr-FR">
                <a:cs typeface="Candara"/>
              </a:rPr>
              <a:t> mais seulement 6% sur le coût total</a:t>
            </a:r>
          </a:p>
          <a:p>
            <a:pPr lvl="1"/>
            <a:r>
              <a:rPr lang="fr-FR">
                <a:cs typeface="Candara"/>
              </a:rPr>
              <a:t>Si erreur de 10% sur </a:t>
            </a:r>
            <a:r>
              <a:rPr lang="fr-FR" i="1">
                <a:cs typeface="Candara"/>
              </a:rPr>
              <a:t>q*</a:t>
            </a:r>
            <a:r>
              <a:rPr lang="fr-FR">
                <a:cs typeface="Candara"/>
              </a:rPr>
              <a:t>, variation de 0,5% sur le coût total</a:t>
            </a:r>
          </a:p>
          <a:p>
            <a:pPr lvl="1"/>
            <a:r>
              <a:rPr lang="fr-FR">
                <a:cs typeface="Candara"/>
              </a:rPr>
              <a:t>On peut arrondir les résultats obtenus</a:t>
            </a:r>
          </a:p>
          <a:p>
            <a:pPr lvl="1"/>
            <a:endParaRPr lang="fr-FR">
              <a:cs typeface="Candara"/>
            </a:endParaRPr>
          </a:p>
          <a:p>
            <a:r>
              <a:rPr lang="fr-FR">
                <a:cs typeface="Candara"/>
              </a:rPr>
              <a:t>Résultat amusant</a:t>
            </a:r>
          </a:p>
          <a:p>
            <a:pPr lvl="1"/>
            <a:r>
              <a:rPr lang="fr-FR">
                <a:cs typeface="Candara"/>
              </a:rPr>
              <a:t>Pour </a:t>
            </a:r>
            <a:r>
              <a:rPr lang="fr-FR" i="1">
                <a:cs typeface="Candara"/>
              </a:rPr>
              <a:t>q = q*</a:t>
            </a:r>
            <a:r>
              <a:rPr lang="fr-FR">
                <a:cs typeface="Candara"/>
              </a:rPr>
              <a:t>, </a:t>
            </a:r>
            <a:r>
              <a:rPr lang="fr-FR" i="1">
                <a:cs typeface="Candara"/>
              </a:rPr>
              <a:t>Coût d’acquisition = Coût de possession</a:t>
            </a:r>
          </a:p>
          <a:p>
            <a:pPr lvl="1"/>
            <a:endParaRPr lang="fr-FR">
              <a:cs typeface="Candara"/>
            </a:endParaRPr>
          </a:p>
        </p:txBody>
      </p:sp>
    </p:spTree>
    <p:extLst>
      <p:ext uri="{BB962C8B-B14F-4D97-AF65-F5344CB8AC3E}">
        <p14:creationId xmlns:p14="http://schemas.microsoft.com/office/powerpoint/2010/main" val="408702708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odèle">
  <a:themeElements>
    <a:clrScheme name="Personnalisé 1">
      <a:dk1>
        <a:sysClr val="windowText" lastClr="000000"/>
      </a:dk1>
      <a:lt1>
        <a:sysClr val="window" lastClr="FFFFFF"/>
      </a:lt1>
      <a:dk2>
        <a:srgbClr val="3F3F3F"/>
      </a:dk2>
      <a:lt2>
        <a:srgbClr val="ACCBF9"/>
      </a:lt2>
      <a:accent1>
        <a:srgbClr val="4A66AC"/>
      </a:accent1>
      <a:accent2>
        <a:srgbClr val="009FD6"/>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é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7ECC45F97EE964EBF38F3CDEDDA274D" ma:contentTypeVersion="10" ma:contentTypeDescription="Crée un document." ma:contentTypeScope="" ma:versionID="9db058d87249ae6564cbcf53f81dc811">
  <xsd:schema xmlns:xsd="http://www.w3.org/2001/XMLSchema" xmlns:xs="http://www.w3.org/2001/XMLSchema" xmlns:p="http://schemas.microsoft.com/office/2006/metadata/properties" xmlns:ns3="2a30e46a-1c03-417d-96f1-c1577894ed2d" xmlns:ns4="dfc58d87-09ae-4be7-a933-e88e3225bbff" targetNamespace="http://schemas.microsoft.com/office/2006/metadata/properties" ma:root="true" ma:fieldsID="54005f9245084b6f07f4471ebd720f6b" ns3:_="" ns4:_="">
    <xsd:import namespace="2a30e46a-1c03-417d-96f1-c1577894ed2d"/>
    <xsd:import namespace="dfc58d87-09ae-4be7-a933-e88e3225bbf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4:SharedWithUsers" minOccurs="0"/>
                <xsd:element ref="ns4:SharedWithDetails" minOccurs="0"/>
                <xsd:element ref="ns4:SharingHintHash"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30e46a-1c03-417d-96f1-c1577894ed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c58d87-09ae-4be7-a933-e88e3225bbff" elementFormDefault="qualified">
    <xsd:import namespace="http://schemas.microsoft.com/office/2006/documentManagement/types"/>
    <xsd:import namespace="http://schemas.microsoft.com/office/infopath/2007/PartnerControls"/>
    <xsd:element name="SharedWithUsers" ma:index="13"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Partagé avec détails" ma:internalName="SharedWithDetails" ma:readOnly="true">
      <xsd:simpleType>
        <xsd:restriction base="dms:Note">
          <xsd:maxLength value="255"/>
        </xsd:restriction>
      </xsd:simpleType>
    </xsd:element>
    <xsd:element name="SharingHintHash" ma:index="15"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3ABC8B-8B5A-48B2-9DCF-96ECF7B735BA}">
  <ds:schemaRefs>
    <ds:schemaRef ds:uri="2a30e46a-1c03-417d-96f1-c1577894ed2d"/>
    <ds:schemaRef ds:uri="dfc58d87-09ae-4be7-a933-e88e3225bbf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F6F2083-C132-439C-92C5-9FF9D5490C7D}">
  <ds:schemaRefs>
    <ds:schemaRef ds:uri="http://schemas.microsoft.com/sharepoint/v3/contenttype/forms"/>
  </ds:schemaRefs>
</ds:datastoreItem>
</file>

<file path=customXml/itemProps3.xml><?xml version="1.0" encoding="utf-8"?>
<ds:datastoreItem xmlns:ds="http://schemas.openxmlformats.org/officeDocument/2006/customXml" ds:itemID="{3BFE0AC9-1E02-474D-A484-EAB85675A3DC}">
  <ds:schemaRefs>
    <ds:schemaRef ds:uri="2a30e46a-1c03-417d-96f1-c1577894ed2d"/>
    <ds:schemaRef ds:uri="dfc58d87-09ae-4be7-a933-e88e3225bb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18</Slides>
  <Notes>14</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Modèle</vt:lpstr>
      <vt:lpstr>OSP</vt:lpstr>
      <vt:lpstr>Les stocks</vt:lpstr>
      <vt:lpstr>Principes</vt:lpstr>
      <vt:lpstr>Principes</vt:lpstr>
      <vt:lpstr>Fonction STOCK</vt:lpstr>
      <vt:lpstr>Stock – A/I</vt:lpstr>
      <vt:lpstr>Le niveau des stocks</vt:lpstr>
      <vt:lpstr>Le niveau des stocks</vt:lpstr>
      <vt:lpstr>Le niveau des stocks</vt:lpstr>
      <vt:lpstr>Variation du stock</vt:lpstr>
      <vt:lpstr>Le coût des stocks</vt:lpstr>
      <vt:lpstr>Quantités économiques</vt:lpstr>
      <vt:lpstr>Formule de Wilson [1]</vt:lpstr>
      <vt:lpstr>Formule de Wilson [2]</vt:lpstr>
      <vt:lpstr>Formule de Wilson [3]</vt:lpstr>
      <vt:lpstr>Formule de Wilson [4]</vt:lpstr>
      <vt:lpstr>Formule de Wilson [5]</vt:lpstr>
      <vt:lpstr>Formule de Wilson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de production - OGI</dc:title>
  <dc:creator>Laura LAGUNA SALVADO</dc:creator>
  <cp:revision>1</cp:revision>
  <dcterms:created xsi:type="dcterms:W3CDTF">2020-10-09T13:48:16Z</dcterms:created>
  <dcterms:modified xsi:type="dcterms:W3CDTF">2024-10-24T07:54:27Z</dcterms:modified>
</cp:coreProperties>
</file>